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63">
          <p15:clr>
            <a:srgbClr val="A4A3A4"/>
          </p15:clr>
        </p15:guide>
        <p15:guide id="2" orient="horz" pos="4212">
          <p15:clr>
            <a:srgbClr val="A4A3A4"/>
          </p15:clr>
        </p15:guide>
        <p15:guide id="3" orient="horz" pos="3887">
          <p15:clr>
            <a:srgbClr val="A4A3A4"/>
          </p15:clr>
        </p15:guide>
        <p15:guide id="4" pos="3943">
          <p15:clr>
            <a:srgbClr val="A4A3A4"/>
          </p15:clr>
        </p15:guide>
        <p15:guide id="5" pos="2279">
          <p15:clr>
            <a:srgbClr val="A4A3A4"/>
          </p15:clr>
        </p15:guide>
        <p15:guide id="6" pos="545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0013"/>
    <a:srgbClr val="DDB8C6"/>
    <a:srgbClr val="E6BDC1"/>
    <a:srgbClr val="DCC5DB"/>
    <a:srgbClr val="D6B7D0"/>
    <a:srgbClr val="C8AFCE"/>
    <a:srgbClr val="AF70A5"/>
    <a:srgbClr val="CEAECB"/>
    <a:srgbClr val="CFBED9"/>
    <a:srgbClr val="819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C2B970-1E2C-D5A3-F16E-5F0DF457B275}" v="3" dt="2022-07-25T12:54:18.14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25" autoAdjust="0"/>
    <p:restoredTop sz="95238" autoAdjust="0"/>
  </p:normalViewPr>
  <p:slideViewPr>
    <p:cSldViewPr snapToGrid="0" snapToObjects="1">
      <p:cViewPr varScale="1">
        <p:scale>
          <a:sx n="110" d="100"/>
          <a:sy n="110" d="100"/>
        </p:scale>
        <p:origin x="912" y="96"/>
      </p:cViewPr>
      <p:guideLst>
        <p:guide orient="horz" pos="463"/>
        <p:guide orient="horz" pos="4212"/>
        <p:guide orient="horz" pos="3887"/>
        <p:guide pos="3943"/>
        <p:guide pos="2279"/>
        <p:guide pos="545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57" d="100"/>
          <a:sy n="57" d="100"/>
        </p:scale>
        <p:origin x="2405" y="67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5/10/relationships/revisionInfo" Target="revisionInfo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1C0EDC-3B04-4D43-AC98-A606493C474D}" type="datetimeFigureOut">
              <a:rPr lang="en-US" sz="1000" smtClean="0">
                <a:latin typeface="Arial" pitchFamily="34" charset="0"/>
                <a:cs typeface="Arial" pitchFamily="34" charset="0"/>
              </a:rPr>
              <a:pPr/>
              <a:t>4/30/2026</a:t>
            </a:fld>
            <a:endParaRPr lang="en-US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r>
              <a:rPr lang="en-US" sz="800" cap="all" dirty="0">
                <a:solidFill>
                  <a:srgbClr val="939598"/>
                </a:solidFill>
                <a:latin typeface="Arial" pitchFamily="34" charset="0"/>
                <a:cs typeface="Arial" pitchFamily="34" charset="0"/>
              </a:rPr>
              <a:t>2011 LENOVO CONFIDENTIAL. All rights reserved.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F3538-DD9D-4F25-8311-592750C50641}" type="slidenum">
              <a:rPr lang="en-US" sz="800" smtClean="0">
                <a:latin typeface="Arial" pitchFamily="34" charset="0"/>
                <a:cs typeface="Arial" pitchFamily="34" charset="0"/>
              </a:rPr>
              <a:pPr/>
              <a:t>‹#›</a:t>
            </a:fld>
            <a:endParaRPr lang="en-US" sz="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91550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fld id="{F23CF275-28B3-497F-9AED-85D5F023BA5C}" type="datetimeFigureOut">
              <a:rPr lang="en-US" smtClean="0"/>
              <a:pPr/>
              <a:t>4/30/2026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z="800" cap="all" dirty="0">
                <a:solidFill>
                  <a:srgbClr val="939598"/>
                </a:solidFill>
              </a:rPr>
              <a:t>2011 LENOVO CONFIDENTIAL. All rights reserved.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latin typeface="Arial" pitchFamily="34" charset="0"/>
                <a:cs typeface="Arial" pitchFamily="34" charset="0"/>
              </a:defRPr>
            </a:lvl1pPr>
          </a:lstStyle>
          <a:p>
            <a:fld id="{4AED87EB-65D7-4500-873C-410831173A8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3136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jpe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7.jpe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F66F013C-4673-4598-B729-A71D9DC33D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65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887607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0490B93F-C25A-476B-A1B0-5F566C015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7659"/>
            <a:ext cx="9912096" cy="3269709"/>
          </a:xfrm>
          <a:prstGeom prst="rect">
            <a:avLst/>
          </a:prstGeom>
        </p:spPr>
        <p:txBody>
          <a:bodyPr wrap="square"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B6BD304-FAC7-4023-9B54-8984F7387559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FBBDE3D-E4E2-42E5-9F26-00C1500EFD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2" name="Freeform 5">
            <a:extLst>
              <a:ext uri="{FF2B5EF4-FFF2-40B4-BE49-F238E27FC236}">
                <a16:creationId xmlns:a16="http://schemas.microsoft.com/office/drawing/2014/main" id="{B3FDD5DD-E6F7-480C-BC0C-F6AC555BF174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45767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0A3FDCC7-BA62-4365-BA68-B2059C6747E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80270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  Description automatically generated">
            <a:extLst>
              <a:ext uri="{FF2B5EF4-FFF2-40B4-BE49-F238E27FC236}">
                <a16:creationId xmlns:a16="http://schemas.microsoft.com/office/drawing/2014/main" id="{3A0DD018-EAF2-48F3-ABFD-828A5E37FEA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sp>
        <p:nvSpPr>
          <p:cNvPr id="56" name="Title 16"/>
          <p:cNvSpPr>
            <a:spLocks noGrp="1"/>
          </p:cNvSpPr>
          <p:nvPr userDrawn="1">
            <p:ph type="title" hasCustomPrompt="1"/>
          </p:nvPr>
        </p:nvSpPr>
        <p:spPr bwMode="gray">
          <a:xfrm>
            <a:off x="750334" y="1524000"/>
            <a:ext cx="9912096" cy="3273368"/>
          </a:xfrm>
          <a:prstGeom prst="rect">
            <a:avLst/>
          </a:prstGeom>
        </p:spPr>
        <p:txBody>
          <a:bodyPr lIns="0" tIns="0" rIns="121899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8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 here</a:t>
            </a:r>
          </a:p>
        </p:txBody>
      </p:sp>
      <p:sp>
        <p:nvSpPr>
          <p:cNvPr id="55" name="Subtitle 2"/>
          <p:cNvSpPr>
            <a:spLocks noGrp="1"/>
          </p:cNvSpPr>
          <p:nvPr userDrawn="1">
            <p:ph type="subTitle" idx="1" hasCustomPrompt="1"/>
          </p:nvPr>
        </p:nvSpPr>
        <p:spPr bwMode="gray">
          <a:xfrm>
            <a:off x="760414" y="5046115"/>
            <a:ext cx="9912096" cy="356616"/>
          </a:xfrm>
          <a:prstGeom prst="rect">
            <a:avLst/>
          </a:prstGeom>
        </p:spPr>
        <p:txBody>
          <a:bodyPr lIns="0" tIns="0" rIns="0" bIns="0" anchor="t" anchorCtr="0"/>
          <a:lstStyle>
            <a:lvl1pPr marL="0" indent="0" algn="l" defTabSz="12189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600" b="0" kern="1200" cap="none" spc="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Date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178D7C6-5801-6B30-A6A7-963788E95D85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149589" y="2542923"/>
            <a:ext cx="3058160" cy="1020314"/>
            <a:chOff x="547688" y="952500"/>
            <a:chExt cx="12190413" cy="406717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69E9C34A-28EF-207E-149B-9EBED2862D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6" name="Freeform 5">
            <a:extLst>
              <a:ext uri="{FF2B5EF4-FFF2-40B4-BE49-F238E27FC236}">
                <a16:creationId xmlns:a16="http://schemas.microsoft.com/office/drawing/2014/main" id="{C002511A-253F-7F55-6C4F-3D51611D3CBF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750334" y="762000"/>
            <a:ext cx="3941064" cy="312470"/>
          </a:xfrm>
          <a:custGeom>
            <a:avLst/>
            <a:gdLst>
              <a:gd name="T0" fmla="*/ 557 w 2065"/>
              <a:gd name="T1" fmla="*/ 102 h 161"/>
              <a:gd name="T2" fmla="*/ 510 w 2065"/>
              <a:gd name="T3" fmla="*/ 76 h 161"/>
              <a:gd name="T4" fmla="*/ 583 w 2065"/>
              <a:gd name="T5" fmla="*/ 36 h 161"/>
              <a:gd name="T6" fmla="*/ 641 w 2065"/>
              <a:gd name="T7" fmla="*/ 34 h 161"/>
              <a:gd name="T8" fmla="*/ 2038 w 2065"/>
              <a:gd name="T9" fmla="*/ 1 h 161"/>
              <a:gd name="T10" fmla="*/ 706 w 2065"/>
              <a:gd name="T11" fmla="*/ 59 h 161"/>
              <a:gd name="T12" fmla="*/ 733 w 2065"/>
              <a:gd name="T13" fmla="*/ 100 h 161"/>
              <a:gd name="T14" fmla="*/ 1999 w 2065"/>
              <a:gd name="T15" fmla="*/ 132 h 161"/>
              <a:gd name="T16" fmla="*/ 760 w 2065"/>
              <a:gd name="T17" fmla="*/ 84 h 161"/>
              <a:gd name="T18" fmla="*/ 787 w 2065"/>
              <a:gd name="T19" fmla="*/ 93 h 161"/>
              <a:gd name="T20" fmla="*/ 828 w 2065"/>
              <a:gd name="T21" fmla="*/ 76 h 161"/>
              <a:gd name="T22" fmla="*/ 133 w 2065"/>
              <a:gd name="T23" fmla="*/ 36 h 161"/>
              <a:gd name="T24" fmla="*/ 166 w 2065"/>
              <a:gd name="T25" fmla="*/ 78 h 161"/>
              <a:gd name="T26" fmla="*/ 225 w 2065"/>
              <a:gd name="T27" fmla="*/ 132 h 161"/>
              <a:gd name="T28" fmla="*/ 32 w 2065"/>
              <a:gd name="T29" fmla="*/ 40 h 161"/>
              <a:gd name="T30" fmla="*/ 5 w 2065"/>
              <a:gd name="T31" fmla="*/ 43 h 161"/>
              <a:gd name="T32" fmla="*/ 0 w 2065"/>
              <a:gd name="T33" fmla="*/ 114 h 161"/>
              <a:gd name="T34" fmla="*/ 266 w 2065"/>
              <a:gd name="T35" fmla="*/ 43 h 161"/>
              <a:gd name="T36" fmla="*/ 258 w 2065"/>
              <a:gd name="T37" fmla="*/ 104 h 161"/>
              <a:gd name="T38" fmla="*/ 347 w 2065"/>
              <a:gd name="T39" fmla="*/ 76 h 161"/>
              <a:gd name="T40" fmla="*/ 285 w 2065"/>
              <a:gd name="T41" fmla="*/ 103 h 161"/>
              <a:gd name="T42" fmla="*/ 429 w 2065"/>
              <a:gd name="T43" fmla="*/ 36 h 161"/>
              <a:gd name="T44" fmla="*/ 479 w 2065"/>
              <a:gd name="T45" fmla="*/ 128 h 161"/>
              <a:gd name="T46" fmla="*/ 479 w 2065"/>
              <a:gd name="T47" fmla="*/ 36 h 161"/>
              <a:gd name="T48" fmla="*/ 354 w 2065"/>
              <a:gd name="T49" fmla="*/ 132 h 161"/>
              <a:gd name="T50" fmla="*/ 382 w 2065"/>
              <a:gd name="T51" fmla="*/ 55 h 161"/>
              <a:gd name="T52" fmla="*/ 1387 w 2065"/>
              <a:gd name="T53" fmla="*/ 84 h 161"/>
              <a:gd name="T54" fmla="*/ 1335 w 2065"/>
              <a:gd name="T55" fmla="*/ 58 h 161"/>
              <a:gd name="T56" fmla="*/ 1834 w 2065"/>
              <a:gd name="T57" fmla="*/ 132 h 161"/>
              <a:gd name="T58" fmla="*/ 1748 w 2065"/>
              <a:gd name="T59" fmla="*/ 34 h 161"/>
              <a:gd name="T60" fmla="*/ 1748 w 2065"/>
              <a:gd name="T61" fmla="*/ 34 h 161"/>
              <a:gd name="T62" fmla="*/ 1773 w 2065"/>
              <a:gd name="T63" fmla="*/ 84 h 161"/>
              <a:gd name="T64" fmla="*/ 1465 w 2065"/>
              <a:gd name="T65" fmla="*/ 109 h 161"/>
              <a:gd name="T66" fmla="*/ 1480 w 2065"/>
              <a:gd name="T67" fmla="*/ 148 h 161"/>
              <a:gd name="T68" fmla="*/ 1442 w 2065"/>
              <a:gd name="T69" fmla="*/ 102 h 161"/>
              <a:gd name="T70" fmla="*/ 1675 w 2065"/>
              <a:gd name="T71" fmla="*/ 37 h 161"/>
              <a:gd name="T72" fmla="*/ 1655 w 2065"/>
              <a:gd name="T73" fmla="*/ 7 h 161"/>
              <a:gd name="T74" fmla="*/ 1648 w 2065"/>
              <a:gd name="T75" fmla="*/ 132 h 161"/>
              <a:gd name="T76" fmla="*/ 1526 w 2065"/>
              <a:gd name="T77" fmla="*/ 36 h 161"/>
              <a:gd name="T78" fmla="*/ 1528 w 2065"/>
              <a:gd name="T79" fmla="*/ 161 h 161"/>
              <a:gd name="T80" fmla="*/ 980 w 2065"/>
              <a:gd name="T81" fmla="*/ 49 h 161"/>
              <a:gd name="T82" fmla="*/ 997 w 2065"/>
              <a:gd name="T83" fmla="*/ 59 h 161"/>
              <a:gd name="T84" fmla="*/ 1250 w 2065"/>
              <a:gd name="T85" fmla="*/ 132 h 161"/>
              <a:gd name="T86" fmla="*/ 1075 w 2065"/>
              <a:gd name="T87" fmla="*/ 49 h 161"/>
              <a:gd name="T88" fmla="*/ 1092 w 2065"/>
              <a:gd name="T89" fmla="*/ 59 h 161"/>
              <a:gd name="T90" fmla="*/ 910 w 2065"/>
              <a:gd name="T91" fmla="*/ 111 h 161"/>
              <a:gd name="T92" fmla="*/ 909 w 2065"/>
              <a:gd name="T93" fmla="*/ 34 h 161"/>
              <a:gd name="T94" fmla="*/ 910 w 2065"/>
              <a:gd name="T95" fmla="*/ 111 h 161"/>
              <a:gd name="T96" fmla="*/ 1962 w 2065"/>
              <a:gd name="T97" fmla="*/ 77 h 161"/>
              <a:gd name="T98" fmla="*/ 1962 w 2065"/>
              <a:gd name="T99" fmla="*/ 132 h 161"/>
              <a:gd name="T100" fmla="*/ 1941 w 2065"/>
              <a:gd name="T101" fmla="*/ 115 h 161"/>
              <a:gd name="T102" fmla="*/ 1193 w 2065"/>
              <a:gd name="T103" fmla="*/ 34 h 161"/>
              <a:gd name="T104" fmla="*/ 1193 w 2065"/>
              <a:gd name="T105" fmla="*/ 34 h 161"/>
              <a:gd name="T106" fmla="*/ 1218 w 2065"/>
              <a:gd name="T107" fmla="*/ 84 h 16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2065" h="161">
                <a:moveTo>
                  <a:pt x="530" y="34"/>
                </a:moveTo>
                <a:cubicBezTo>
                  <a:pt x="502" y="34"/>
                  <a:pt x="483" y="57"/>
                  <a:pt x="483" y="84"/>
                </a:cubicBezTo>
                <a:cubicBezTo>
                  <a:pt x="483" y="84"/>
                  <a:pt x="483" y="84"/>
                  <a:pt x="483" y="84"/>
                </a:cubicBezTo>
                <a:cubicBezTo>
                  <a:pt x="483" y="114"/>
                  <a:pt x="504" y="134"/>
                  <a:pt x="533" y="134"/>
                </a:cubicBezTo>
                <a:cubicBezTo>
                  <a:pt x="551" y="134"/>
                  <a:pt x="563" y="127"/>
                  <a:pt x="572" y="116"/>
                </a:cubicBezTo>
                <a:cubicBezTo>
                  <a:pt x="557" y="102"/>
                  <a:pt x="557" y="102"/>
                  <a:pt x="557" y="102"/>
                </a:cubicBezTo>
                <a:cubicBezTo>
                  <a:pt x="549" y="109"/>
                  <a:pt x="543" y="112"/>
                  <a:pt x="533" y="112"/>
                </a:cubicBezTo>
                <a:cubicBezTo>
                  <a:pt x="521" y="112"/>
                  <a:pt x="513" y="106"/>
                  <a:pt x="510" y="93"/>
                </a:cubicBezTo>
                <a:cubicBezTo>
                  <a:pt x="577" y="93"/>
                  <a:pt x="577" y="93"/>
                  <a:pt x="577" y="93"/>
                </a:cubicBezTo>
                <a:cubicBezTo>
                  <a:pt x="577" y="91"/>
                  <a:pt x="577" y="88"/>
                  <a:pt x="577" y="86"/>
                </a:cubicBezTo>
                <a:cubicBezTo>
                  <a:pt x="577" y="59"/>
                  <a:pt x="563" y="34"/>
                  <a:pt x="530" y="34"/>
                </a:cubicBezTo>
                <a:close/>
                <a:moveTo>
                  <a:pt x="510" y="76"/>
                </a:moveTo>
                <a:cubicBezTo>
                  <a:pt x="512" y="64"/>
                  <a:pt x="519" y="56"/>
                  <a:pt x="530" y="56"/>
                </a:cubicBezTo>
                <a:cubicBezTo>
                  <a:pt x="542" y="56"/>
                  <a:pt x="549" y="64"/>
                  <a:pt x="551" y="76"/>
                </a:cubicBezTo>
                <a:lnTo>
                  <a:pt x="510" y="76"/>
                </a:lnTo>
                <a:close/>
                <a:moveTo>
                  <a:pt x="610" y="55"/>
                </a:moveTo>
                <a:cubicBezTo>
                  <a:pt x="610" y="36"/>
                  <a:pt x="610" y="36"/>
                  <a:pt x="610" y="36"/>
                </a:cubicBezTo>
                <a:cubicBezTo>
                  <a:pt x="583" y="36"/>
                  <a:pt x="583" y="36"/>
                  <a:pt x="583" y="36"/>
                </a:cubicBezTo>
                <a:cubicBezTo>
                  <a:pt x="583" y="132"/>
                  <a:pt x="583" y="132"/>
                  <a:pt x="583" y="132"/>
                </a:cubicBezTo>
                <a:cubicBezTo>
                  <a:pt x="610" y="132"/>
                  <a:pt x="610" y="132"/>
                  <a:pt x="610" y="132"/>
                </a:cubicBezTo>
                <a:cubicBezTo>
                  <a:pt x="610" y="97"/>
                  <a:pt x="610" y="97"/>
                  <a:pt x="610" y="97"/>
                </a:cubicBezTo>
                <a:cubicBezTo>
                  <a:pt x="610" y="74"/>
                  <a:pt x="621" y="63"/>
                  <a:pt x="640" y="63"/>
                </a:cubicBezTo>
                <a:cubicBezTo>
                  <a:pt x="641" y="63"/>
                  <a:pt x="641" y="63"/>
                  <a:pt x="641" y="63"/>
                </a:cubicBezTo>
                <a:cubicBezTo>
                  <a:pt x="641" y="34"/>
                  <a:pt x="641" y="34"/>
                  <a:pt x="641" y="34"/>
                </a:cubicBezTo>
                <a:cubicBezTo>
                  <a:pt x="625" y="33"/>
                  <a:pt x="616" y="42"/>
                  <a:pt x="610" y="55"/>
                </a:cubicBezTo>
                <a:close/>
                <a:moveTo>
                  <a:pt x="2038" y="1"/>
                </a:moveTo>
                <a:cubicBezTo>
                  <a:pt x="2038" y="132"/>
                  <a:pt x="2038" y="132"/>
                  <a:pt x="2038" y="132"/>
                </a:cubicBezTo>
                <a:cubicBezTo>
                  <a:pt x="2065" y="132"/>
                  <a:pt x="2065" y="132"/>
                  <a:pt x="2065" y="132"/>
                </a:cubicBezTo>
                <a:cubicBezTo>
                  <a:pt x="2065" y="1"/>
                  <a:pt x="2065" y="1"/>
                  <a:pt x="2065" y="1"/>
                </a:cubicBezTo>
                <a:lnTo>
                  <a:pt x="2038" y="1"/>
                </a:lnTo>
                <a:close/>
                <a:moveTo>
                  <a:pt x="733" y="11"/>
                </a:moveTo>
                <a:cubicBezTo>
                  <a:pt x="706" y="11"/>
                  <a:pt x="706" y="11"/>
                  <a:pt x="706" y="11"/>
                </a:cubicBezTo>
                <a:cubicBezTo>
                  <a:pt x="706" y="36"/>
                  <a:pt x="706" y="36"/>
                  <a:pt x="706" y="36"/>
                </a:cubicBezTo>
                <a:cubicBezTo>
                  <a:pt x="694" y="36"/>
                  <a:pt x="694" y="36"/>
                  <a:pt x="694" y="36"/>
                </a:cubicBezTo>
                <a:cubicBezTo>
                  <a:pt x="694" y="59"/>
                  <a:pt x="694" y="59"/>
                  <a:pt x="694" y="59"/>
                </a:cubicBezTo>
                <a:cubicBezTo>
                  <a:pt x="706" y="59"/>
                  <a:pt x="706" y="59"/>
                  <a:pt x="706" y="59"/>
                </a:cubicBezTo>
                <a:cubicBezTo>
                  <a:pt x="706" y="105"/>
                  <a:pt x="706" y="105"/>
                  <a:pt x="706" y="105"/>
                </a:cubicBezTo>
                <a:cubicBezTo>
                  <a:pt x="706" y="127"/>
                  <a:pt x="717" y="134"/>
                  <a:pt x="734" y="134"/>
                </a:cubicBezTo>
                <a:cubicBezTo>
                  <a:pt x="743" y="134"/>
                  <a:pt x="750" y="132"/>
                  <a:pt x="755" y="128"/>
                </a:cubicBezTo>
                <a:cubicBezTo>
                  <a:pt x="755" y="106"/>
                  <a:pt x="755" y="106"/>
                  <a:pt x="755" y="106"/>
                </a:cubicBezTo>
                <a:cubicBezTo>
                  <a:pt x="752" y="108"/>
                  <a:pt x="747" y="110"/>
                  <a:pt x="742" y="110"/>
                </a:cubicBezTo>
                <a:cubicBezTo>
                  <a:pt x="736" y="110"/>
                  <a:pt x="733" y="107"/>
                  <a:pt x="733" y="100"/>
                </a:cubicBezTo>
                <a:cubicBezTo>
                  <a:pt x="733" y="59"/>
                  <a:pt x="733" y="59"/>
                  <a:pt x="733" y="59"/>
                </a:cubicBezTo>
                <a:cubicBezTo>
                  <a:pt x="756" y="59"/>
                  <a:pt x="756" y="59"/>
                  <a:pt x="756" y="59"/>
                </a:cubicBezTo>
                <a:cubicBezTo>
                  <a:pt x="756" y="36"/>
                  <a:pt x="756" y="36"/>
                  <a:pt x="756" y="36"/>
                </a:cubicBezTo>
                <a:cubicBezTo>
                  <a:pt x="733" y="36"/>
                  <a:pt x="733" y="36"/>
                  <a:pt x="733" y="36"/>
                </a:cubicBezTo>
                <a:lnTo>
                  <a:pt x="733" y="11"/>
                </a:lnTo>
                <a:close/>
                <a:moveTo>
                  <a:pt x="1999" y="132"/>
                </a:moveTo>
                <a:cubicBezTo>
                  <a:pt x="2027" y="132"/>
                  <a:pt x="2027" y="132"/>
                  <a:pt x="2027" y="132"/>
                </a:cubicBezTo>
                <a:cubicBezTo>
                  <a:pt x="2027" y="1"/>
                  <a:pt x="2027" y="1"/>
                  <a:pt x="2027" y="1"/>
                </a:cubicBezTo>
                <a:cubicBezTo>
                  <a:pt x="1999" y="1"/>
                  <a:pt x="1999" y="1"/>
                  <a:pt x="1999" y="1"/>
                </a:cubicBezTo>
                <a:lnTo>
                  <a:pt x="1999" y="132"/>
                </a:lnTo>
                <a:close/>
                <a:moveTo>
                  <a:pt x="807" y="34"/>
                </a:moveTo>
                <a:cubicBezTo>
                  <a:pt x="779" y="34"/>
                  <a:pt x="760" y="57"/>
                  <a:pt x="760" y="84"/>
                </a:cubicBezTo>
                <a:cubicBezTo>
                  <a:pt x="760" y="84"/>
                  <a:pt x="760" y="84"/>
                  <a:pt x="760" y="84"/>
                </a:cubicBezTo>
                <a:cubicBezTo>
                  <a:pt x="760" y="114"/>
                  <a:pt x="781" y="134"/>
                  <a:pt x="810" y="134"/>
                </a:cubicBezTo>
                <a:cubicBezTo>
                  <a:pt x="827" y="134"/>
                  <a:pt x="840" y="127"/>
                  <a:pt x="849" y="116"/>
                </a:cubicBezTo>
                <a:cubicBezTo>
                  <a:pt x="834" y="102"/>
                  <a:pt x="834" y="102"/>
                  <a:pt x="834" y="102"/>
                </a:cubicBezTo>
                <a:cubicBezTo>
                  <a:pt x="826" y="109"/>
                  <a:pt x="820" y="112"/>
                  <a:pt x="810" y="112"/>
                </a:cubicBezTo>
                <a:cubicBezTo>
                  <a:pt x="798" y="112"/>
                  <a:pt x="790" y="106"/>
                  <a:pt x="787" y="93"/>
                </a:cubicBezTo>
                <a:cubicBezTo>
                  <a:pt x="854" y="93"/>
                  <a:pt x="854" y="93"/>
                  <a:pt x="854" y="93"/>
                </a:cubicBezTo>
                <a:cubicBezTo>
                  <a:pt x="854" y="91"/>
                  <a:pt x="854" y="88"/>
                  <a:pt x="854" y="86"/>
                </a:cubicBezTo>
                <a:cubicBezTo>
                  <a:pt x="854" y="59"/>
                  <a:pt x="839" y="34"/>
                  <a:pt x="807" y="34"/>
                </a:cubicBezTo>
                <a:close/>
                <a:moveTo>
                  <a:pt x="787" y="76"/>
                </a:moveTo>
                <a:cubicBezTo>
                  <a:pt x="789" y="64"/>
                  <a:pt x="796" y="56"/>
                  <a:pt x="807" y="56"/>
                </a:cubicBezTo>
                <a:cubicBezTo>
                  <a:pt x="819" y="56"/>
                  <a:pt x="826" y="64"/>
                  <a:pt x="828" y="76"/>
                </a:cubicBezTo>
                <a:lnTo>
                  <a:pt x="787" y="76"/>
                </a:lnTo>
                <a:close/>
                <a:moveTo>
                  <a:pt x="220" y="34"/>
                </a:moveTo>
                <a:cubicBezTo>
                  <a:pt x="207" y="34"/>
                  <a:pt x="197" y="39"/>
                  <a:pt x="189" y="49"/>
                </a:cubicBezTo>
                <a:cubicBezTo>
                  <a:pt x="184" y="40"/>
                  <a:pt x="174" y="34"/>
                  <a:pt x="161" y="34"/>
                </a:cubicBezTo>
                <a:cubicBezTo>
                  <a:pt x="148" y="34"/>
                  <a:pt x="139" y="41"/>
                  <a:pt x="133" y="50"/>
                </a:cubicBezTo>
                <a:cubicBezTo>
                  <a:pt x="133" y="36"/>
                  <a:pt x="133" y="36"/>
                  <a:pt x="133" y="36"/>
                </a:cubicBezTo>
                <a:cubicBezTo>
                  <a:pt x="106" y="36"/>
                  <a:pt x="106" y="36"/>
                  <a:pt x="106" y="36"/>
                </a:cubicBezTo>
                <a:cubicBezTo>
                  <a:pt x="106" y="132"/>
                  <a:pt x="106" y="132"/>
                  <a:pt x="106" y="132"/>
                </a:cubicBezTo>
                <a:cubicBezTo>
                  <a:pt x="133" y="132"/>
                  <a:pt x="133" y="132"/>
                  <a:pt x="133" y="132"/>
                </a:cubicBezTo>
                <a:cubicBezTo>
                  <a:pt x="133" y="78"/>
                  <a:pt x="133" y="78"/>
                  <a:pt x="133" y="78"/>
                </a:cubicBezTo>
                <a:cubicBezTo>
                  <a:pt x="133" y="65"/>
                  <a:pt x="139" y="59"/>
                  <a:pt x="150" y="59"/>
                </a:cubicBezTo>
                <a:cubicBezTo>
                  <a:pt x="160" y="59"/>
                  <a:pt x="166" y="65"/>
                  <a:pt x="166" y="78"/>
                </a:cubicBezTo>
                <a:cubicBezTo>
                  <a:pt x="166" y="132"/>
                  <a:pt x="166" y="132"/>
                  <a:pt x="166" y="132"/>
                </a:cubicBezTo>
                <a:cubicBezTo>
                  <a:pt x="193" y="132"/>
                  <a:pt x="193" y="132"/>
                  <a:pt x="193" y="132"/>
                </a:cubicBezTo>
                <a:cubicBezTo>
                  <a:pt x="193" y="78"/>
                  <a:pt x="193" y="78"/>
                  <a:pt x="193" y="78"/>
                </a:cubicBezTo>
                <a:cubicBezTo>
                  <a:pt x="193" y="65"/>
                  <a:pt x="199" y="59"/>
                  <a:pt x="209" y="59"/>
                </a:cubicBezTo>
                <a:cubicBezTo>
                  <a:pt x="220" y="59"/>
                  <a:pt x="225" y="65"/>
                  <a:pt x="225" y="78"/>
                </a:cubicBezTo>
                <a:cubicBezTo>
                  <a:pt x="225" y="132"/>
                  <a:pt x="225" y="132"/>
                  <a:pt x="225" y="132"/>
                </a:cubicBezTo>
                <a:cubicBezTo>
                  <a:pt x="253" y="132"/>
                  <a:pt x="253" y="132"/>
                  <a:pt x="253" y="132"/>
                </a:cubicBezTo>
                <a:cubicBezTo>
                  <a:pt x="253" y="69"/>
                  <a:pt x="253" y="69"/>
                  <a:pt x="253" y="69"/>
                </a:cubicBezTo>
                <a:cubicBezTo>
                  <a:pt x="253" y="46"/>
                  <a:pt x="240" y="34"/>
                  <a:pt x="220" y="34"/>
                </a:cubicBezTo>
                <a:close/>
                <a:moveTo>
                  <a:pt x="59" y="57"/>
                </a:moveTo>
                <a:cubicBezTo>
                  <a:pt x="38" y="51"/>
                  <a:pt x="32" y="49"/>
                  <a:pt x="32" y="40"/>
                </a:cubicBezTo>
                <a:cubicBezTo>
                  <a:pt x="32" y="40"/>
                  <a:pt x="32" y="40"/>
                  <a:pt x="32" y="40"/>
                </a:cubicBezTo>
                <a:cubicBezTo>
                  <a:pt x="32" y="34"/>
                  <a:pt x="38" y="29"/>
                  <a:pt x="48" y="29"/>
                </a:cubicBezTo>
                <a:cubicBezTo>
                  <a:pt x="59" y="29"/>
                  <a:pt x="70" y="34"/>
                  <a:pt x="81" y="41"/>
                </a:cubicBezTo>
                <a:cubicBezTo>
                  <a:pt x="95" y="21"/>
                  <a:pt x="95" y="21"/>
                  <a:pt x="95" y="21"/>
                </a:cubicBezTo>
                <a:cubicBezTo>
                  <a:pt x="83" y="10"/>
                  <a:pt x="67" y="5"/>
                  <a:pt x="49" y="5"/>
                </a:cubicBezTo>
                <a:cubicBezTo>
                  <a:pt x="23" y="5"/>
                  <a:pt x="5" y="20"/>
                  <a:pt x="5" y="43"/>
                </a:cubicBezTo>
                <a:cubicBezTo>
                  <a:pt x="5" y="43"/>
                  <a:pt x="5" y="43"/>
                  <a:pt x="5" y="43"/>
                </a:cubicBezTo>
                <a:cubicBezTo>
                  <a:pt x="5" y="68"/>
                  <a:pt x="21" y="75"/>
                  <a:pt x="46" y="81"/>
                </a:cubicBezTo>
                <a:cubicBezTo>
                  <a:pt x="67" y="87"/>
                  <a:pt x="72" y="90"/>
                  <a:pt x="72" y="97"/>
                </a:cubicBezTo>
                <a:cubicBezTo>
                  <a:pt x="72" y="98"/>
                  <a:pt x="72" y="98"/>
                  <a:pt x="72" y="98"/>
                </a:cubicBezTo>
                <a:cubicBezTo>
                  <a:pt x="72" y="105"/>
                  <a:pt x="65" y="109"/>
                  <a:pt x="54" y="109"/>
                </a:cubicBezTo>
                <a:cubicBezTo>
                  <a:pt x="39" y="109"/>
                  <a:pt x="27" y="104"/>
                  <a:pt x="16" y="94"/>
                </a:cubicBezTo>
                <a:cubicBezTo>
                  <a:pt x="0" y="114"/>
                  <a:pt x="0" y="114"/>
                  <a:pt x="0" y="114"/>
                </a:cubicBezTo>
                <a:cubicBezTo>
                  <a:pt x="15" y="127"/>
                  <a:pt x="34" y="134"/>
                  <a:pt x="53" y="134"/>
                </a:cubicBezTo>
                <a:cubicBezTo>
                  <a:pt x="80" y="134"/>
                  <a:pt x="99" y="120"/>
                  <a:pt x="99" y="95"/>
                </a:cubicBezTo>
                <a:cubicBezTo>
                  <a:pt x="99" y="95"/>
                  <a:pt x="99" y="95"/>
                  <a:pt x="99" y="95"/>
                </a:cubicBezTo>
                <a:cubicBezTo>
                  <a:pt x="99" y="73"/>
                  <a:pt x="85" y="63"/>
                  <a:pt x="59" y="57"/>
                </a:cubicBezTo>
                <a:close/>
                <a:moveTo>
                  <a:pt x="304" y="35"/>
                </a:moveTo>
                <a:cubicBezTo>
                  <a:pt x="287" y="35"/>
                  <a:pt x="277" y="38"/>
                  <a:pt x="266" y="43"/>
                </a:cubicBezTo>
                <a:cubicBezTo>
                  <a:pt x="273" y="63"/>
                  <a:pt x="273" y="63"/>
                  <a:pt x="273" y="63"/>
                </a:cubicBezTo>
                <a:cubicBezTo>
                  <a:pt x="282" y="60"/>
                  <a:pt x="289" y="58"/>
                  <a:pt x="300" y="58"/>
                </a:cubicBezTo>
                <a:cubicBezTo>
                  <a:pt x="313" y="58"/>
                  <a:pt x="320" y="64"/>
                  <a:pt x="320" y="76"/>
                </a:cubicBezTo>
                <a:cubicBezTo>
                  <a:pt x="320" y="77"/>
                  <a:pt x="320" y="77"/>
                  <a:pt x="320" y="77"/>
                </a:cubicBezTo>
                <a:cubicBezTo>
                  <a:pt x="314" y="75"/>
                  <a:pt x="307" y="73"/>
                  <a:pt x="297" y="73"/>
                </a:cubicBezTo>
                <a:cubicBezTo>
                  <a:pt x="274" y="73"/>
                  <a:pt x="258" y="83"/>
                  <a:pt x="258" y="104"/>
                </a:cubicBezTo>
                <a:cubicBezTo>
                  <a:pt x="258" y="104"/>
                  <a:pt x="258" y="104"/>
                  <a:pt x="258" y="104"/>
                </a:cubicBezTo>
                <a:cubicBezTo>
                  <a:pt x="258" y="123"/>
                  <a:pt x="273" y="134"/>
                  <a:pt x="291" y="134"/>
                </a:cubicBezTo>
                <a:cubicBezTo>
                  <a:pt x="304" y="134"/>
                  <a:pt x="314" y="129"/>
                  <a:pt x="320" y="122"/>
                </a:cubicBezTo>
                <a:cubicBezTo>
                  <a:pt x="320" y="132"/>
                  <a:pt x="320" y="132"/>
                  <a:pt x="320" y="132"/>
                </a:cubicBezTo>
                <a:cubicBezTo>
                  <a:pt x="347" y="132"/>
                  <a:pt x="347" y="132"/>
                  <a:pt x="347" y="132"/>
                </a:cubicBezTo>
                <a:cubicBezTo>
                  <a:pt x="347" y="76"/>
                  <a:pt x="347" y="76"/>
                  <a:pt x="347" y="76"/>
                </a:cubicBezTo>
                <a:cubicBezTo>
                  <a:pt x="347" y="63"/>
                  <a:pt x="343" y="53"/>
                  <a:pt x="336" y="46"/>
                </a:cubicBezTo>
                <a:cubicBezTo>
                  <a:pt x="329" y="39"/>
                  <a:pt x="319" y="35"/>
                  <a:pt x="304" y="35"/>
                </a:cubicBezTo>
                <a:close/>
                <a:moveTo>
                  <a:pt x="321" y="98"/>
                </a:moveTo>
                <a:cubicBezTo>
                  <a:pt x="321" y="108"/>
                  <a:pt x="312" y="115"/>
                  <a:pt x="299" y="115"/>
                </a:cubicBezTo>
                <a:cubicBezTo>
                  <a:pt x="291" y="115"/>
                  <a:pt x="285" y="111"/>
                  <a:pt x="285" y="103"/>
                </a:cubicBezTo>
                <a:cubicBezTo>
                  <a:pt x="285" y="103"/>
                  <a:pt x="285" y="103"/>
                  <a:pt x="285" y="103"/>
                </a:cubicBezTo>
                <a:cubicBezTo>
                  <a:pt x="285" y="94"/>
                  <a:pt x="292" y="90"/>
                  <a:pt x="303" y="90"/>
                </a:cubicBezTo>
                <a:cubicBezTo>
                  <a:pt x="310" y="90"/>
                  <a:pt x="316" y="91"/>
                  <a:pt x="321" y="93"/>
                </a:cubicBezTo>
                <a:lnTo>
                  <a:pt x="321" y="98"/>
                </a:lnTo>
                <a:close/>
                <a:moveTo>
                  <a:pt x="457" y="11"/>
                </a:moveTo>
                <a:cubicBezTo>
                  <a:pt x="429" y="11"/>
                  <a:pt x="429" y="11"/>
                  <a:pt x="429" y="11"/>
                </a:cubicBezTo>
                <a:cubicBezTo>
                  <a:pt x="429" y="36"/>
                  <a:pt x="429" y="36"/>
                  <a:pt x="429" y="36"/>
                </a:cubicBezTo>
                <a:cubicBezTo>
                  <a:pt x="418" y="36"/>
                  <a:pt x="418" y="36"/>
                  <a:pt x="418" y="36"/>
                </a:cubicBezTo>
                <a:cubicBezTo>
                  <a:pt x="418" y="59"/>
                  <a:pt x="418" y="59"/>
                  <a:pt x="418" y="59"/>
                </a:cubicBezTo>
                <a:cubicBezTo>
                  <a:pt x="429" y="59"/>
                  <a:pt x="429" y="59"/>
                  <a:pt x="429" y="59"/>
                </a:cubicBezTo>
                <a:cubicBezTo>
                  <a:pt x="429" y="105"/>
                  <a:pt x="429" y="105"/>
                  <a:pt x="429" y="105"/>
                </a:cubicBezTo>
                <a:cubicBezTo>
                  <a:pt x="429" y="127"/>
                  <a:pt x="441" y="134"/>
                  <a:pt x="457" y="134"/>
                </a:cubicBezTo>
                <a:cubicBezTo>
                  <a:pt x="466" y="134"/>
                  <a:pt x="473" y="132"/>
                  <a:pt x="479" y="128"/>
                </a:cubicBezTo>
                <a:cubicBezTo>
                  <a:pt x="479" y="106"/>
                  <a:pt x="479" y="106"/>
                  <a:pt x="479" y="106"/>
                </a:cubicBezTo>
                <a:cubicBezTo>
                  <a:pt x="475" y="108"/>
                  <a:pt x="470" y="110"/>
                  <a:pt x="465" y="110"/>
                </a:cubicBezTo>
                <a:cubicBezTo>
                  <a:pt x="459" y="110"/>
                  <a:pt x="457" y="107"/>
                  <a:pt x="457" y="100"/>
                </a:cubicBezTo>
                <a:cubicBezTo>
                  <a:pt x="457" y="59"/>
                  <a:pt x="457" y="59"/>
                  <a:pt x="457" y="59"/>
                </a:cubicBezTo>
                <a:cubicBezTo>
                  <a:pt x="479" y="59"/>
                  <a:pt x="479" y="59"/>
                  <a:pt x="479" y="59"/>
                </a:cubicBezTo>
                <a:cubicBezTo>
                  <a:pt x="479" y="36"/>
                  <a:pt x="479" y="36"/>
                  <a:pt x="479" y="36"/>
                </a:cubicBezTo>
                <a:cubicBezTo>
                  <a:pt x="457" y="36"/>
                  <a:pt x="457" y="36"/>
                  <a:pt x="457" y="36"/>
                </a:cubicBezTo>
                <a:lnTo>
                  <a:pt x="457" y="11"/>
                </a:lnTo>
                <a:close/>
                <a:moveTo>
                  <a:pt x="382" y="55"/>
                </a:moveTo>
                <a:cubicBezTo>
                  <a:pt x="382" y="36"/>
                  <a:pt x="382" y="36"/>
                  <a:pt x="382" y="36"/>
                </a:cubicBezTo>
                <a:cubicBezTo>
                  <a:pt x="354" y="36"/>
                  <a:pt x="354" y="36"/>
                  <a:pt x="354" y="36"/>
                </a:cubicBezTo>
                <a:cubicBezTo>
                  <a:pt x="354" y="132"/>
                  <a:pt x="354" y="132"/>
                  <a:pt x="354" y="132"/>
                </a:cubicBezTo>
                <a:cubicBezTo>
                  <a:pt x="382" y="132"/>
                  <a:pt x="382" y="132"/>
                  <a:pt x="382" y="132"/>
                </a:cubicBezTo>
                <a:cubicBezTo>
                  <a:pt x="382" y="97"/>
                  <a:pt x="382" y="97"/>
                  <a:pt x="382" y="97"/>
                </a:cubicBezTo>
                <a:cubicBezTo>
                  <a:pt x="382" y="74"/>
                  <a:pt x="393" y="63"/>
                  <a:pt x="411" y="63"/>
                </a:cubicBezTo>
                <a:cubicBezTo>
                  <a:pt x="412" y="63"/>
                  <a:pt x="412" y="63"/>
                  <a:pt x="412" y="63"/>
                </a:cubicBezTo>
                <a:cubicBezTo>
                  <a:pt x="412" y="34"/>
                  <a:pt x="412" y="34"/>
                  <a:pt x="412" y="34"/>
                </a:cubicBezTo>
                <a:cubicBezTo>
                  <a:pt x="396" y="33"/>
                  <a:pt x="387" y="42"/>
                  <a:pt x="382" y="55"/>
                </a:cubicBezTo>
                <a:close/>
                <a:moveTo>
                  <a:pt x="1335" y="34"/>
                </a:moveTo>
                <a:cubicBezTo>
                  <a:pt x="1305" y="34"/>
                  <a:pt x="1283" y="56"/>
                  <a:pt x="1283" y="84"/>
                </a:cubicBezTo>
                <a:cubicBezTo>
                  <a:pt x="1283" y="84"/>
                  <a:pt x="1283" y="84"/>
                  <a:pt x="1283" y="84"/>
                </a:cubicBezTo>
                <a:cubicBezTo>
                  <a:pt x="1283" y="112"/>
                  <a:pt x="1305" y="134"/>
                  <a:pt x="1335" y="134"/>
                </a:cubicBezTo>
                <a:cubicBezTo>
                  <a:pt x="1365" y="134"/>
                  <a:pt x="1387" y="112"/>
                  <a:pt x="1387" y="84"/>
                </a:cubicBezTo>
                <a:cubicBezTo>
                  <a:pt x="1387" y="84"/>
                  <a:pt x="1387" y="84"/>
                  <a:pt x="1387" y="84"/>
                </a:cubicBezTo>
                <a:cubicBezTo>
                  <a:pt x="1387" y="56"/>
                  <a:pt x="1365" y="34"/>
                  <a:pt x="1335" y="34"/>
                </a:cubicBezTo>
                <a:close/>
                <a:moveTo>
                  <a:pt x="1360" y="84"/>
                </a:moveTo>
                <a:cubicBezTo>
                  <a:pt x="1360" y="99"/>
                  <a:pt x="1351" y="111"/>
                  <a:pt x="1335" y="111"/>
                </a:cubicBezTo>
                <a:cubicBezTo>
                  <a:pt x="1320" y="111"/>
                  <a:pt x="1310" y="98"/>
                  <a:pt x="1310" y="84"/>
                </a:cubicBezTo>
                <a:cubicBezTo>
                  <a:pt x="1310" y="84"/>
                  <a:pt x="1310" y="84"/>
                  <a:pt x="1310" y="84"/>
                </a:cubicBezTo>
                <a:cubicBezTo>
                  <a:pt x="1310" y="70"/>
                  <a:pt x="1319" y="58"/>
                  <a:pt x="1335" y="58"/>
                </a:cubicBezTo>
                <a:cubicBezTo>
                  <a:pt x="1350" y="58"/>
                  <a:pt x="1360" y="70"/>
                  <a:pt x="1360" y="84"/>
                </a:cubicBezTo>
                <a:close/>
                <a:moveTo>
                  <a:pt x="1834" y="55"/>
                </a:moveTo>
                <a:cubicBezTo>
                  <a:pt x="1834" y="36"/>
                  <a:pt x="1834" y="36"/>
                  <a:pt x="1834" y="36"/>
                </a:cubicBezTo>
                <a:cubicBezTo>
                  <a:pt x="1807" y="36"/>
                  <a:pt x="1807" y="36"/>
                  <a:pt x="1807" y="36"/>
                </a:cubicBezTo>
                <a:cubicBezTo>
                  <a:pt x="1807" y="132"/>
                  <a:pt x="1807" y="132"/>
                  <a:pt x="1807" y="132"/>
                </a:cubicBezTo>
                <a:cubicBezTo>
                  <a:pt x="1834" y="132"/>
                  <a:pt x="1834" y="132"/>
                  <a:pt x="1834" y="132"/>
                </a:cubicBezTo>
                <a:cubicBezTo>
                  <a:pt x="1834" y="97"/>
                  <a:pt x="1834" y="97"/>
                  <a:pt x="1834" y="97"/>
                </a:cubicBezTo>
                <a:cubicBezTo>
                  <a:pt x="1834" y="74"/>
                  <a:pt x="1845" y="63"/>
                  <a:pt x="1863" y="63"/>
                </a:cubicBezTo>
                <a:cubicBezTo>
                  <a:pt x="1865" y="63"/>
                  <a:pt x="1865" y="63"/>
                  <a:pt x="1865" y="63"/>
                </a:cubicBezTo>
                <a:cubicBezTo>
                  <a:pt x="1865" y="34"/>
                  <a:pt x="1865" y="34"/>
                  <a:pt x="1865" y="34"/>
                </a:cubicBezTo>
                <a:cubicBezTo>
                  <a:pt x="1848" y="33"/>
                  <a:pt x="1839" y="42"/>
                  <a:pt x="1834" y="55"/>
                </a:cubicBezTo>
                <a:close/>
                <a:moveTo>
                  <a:pt x="1748" y="34"/>
                </a:moveTo>
                <a:cubicBezTo>
                  <a:pt x="1718" y="34"/>
                  <a:pt x="1696" y="56"/>
                  <a:pt x="1696" y="84"/>
                </a:cubicBezTo>
                <a:cubicBezTo>
                  <a:pt x="1696" y="84"/>
                  <a:pt x="1696" y="84"/>
                  <a:pt x="1696" y="84"/>
                </a:cubicBezTo>
                <a:cubicBezTo>
                  <a:pt x="1696" y="112"/>
                  <a:pt x="1718" y="134"/>
                  <a:pt x="1748" y="134"/>
                </a:cubicBezTo>
                <a:cubicBezTo>
                  <a:pt x="1778" y="134"/>
                  <a:pt x="1800" y="112"/>
                  <a:pt x="1800" y="84"/>
                </a:cubicBezTo>
                <a:cubicBezTo>
                  <a:pt x="1800" y="84"/>
                  <a:pt x="1800" y="84"/>
                  <a:pt x="1800" y="84"/>
                </a:cubicBezTo>
                <a:cubicBezTo>
                  <a:pt x="1800" y="56"/>
                  <a:pt x="1778" y="34"/>
                  <a:pt x="1748" y="34"/>
                </a:cubicBezTo>
                <a:close/>
                <a:moveTo>
                  <a:pt x="1773" y="84"/>
                </a:moveTo>
                <a:cubicBezTo>
                  <a:pt x="1773" y="99"/>
                  <a:pt x="1764" y="111"/>
                  <a:pt x="1748" y="111"/>
                </a:cubicBezTo>
                <a:cubicBezTo>
                  <a:pt x="1733" y="111"/>
                  <a:pt x="1723" y="98"/>
                  <a:pt x="1723" y="84"/>
                </a:cubicBezTo>
                <a:cubicBezTo>
                  <a:pt x="1723" y="84"/>
                  <a:pt x="1723" y="84"/>
                  <a:pt x="1723" y="84"/>
                </a:cubicBezTo>
                <a:cubicBezTo>
                  <a:pt x="1723" y="70"/>
                  <a:pt x="1732" y="58"/>
                  <a:pt x="1748" y="58"/>
                </a:cubicBezTo>
                <a:cubicBezTo>
                  <a:pt x="1763" y="58"/>
                  <a:pt x="1773" y="70"/>
                  <a:pt x="1773" y="84"/>
                </a:cubicBezTo>
                <a:close/>
                <a:moveTo>
                  <a:pt x="1465" y="48"/>
                </a:moveTo>
                <a:cubicBezTo>
                  <a:pt x="1458" y="40"/>
                  <a:pt x="1449" y="34"/>
                  <a:pt x="1434" y="34"/>
                </a:cubicBezTo>
                <a:cubicBezTo>
                  <a:pt x="1412" y="34"/>
                  <a:pt x="1391" y="50"/>
                  <a:pt x="1391" y="79"/>
                </a:cubicBezTo>
                <a:cubicBezTo>
                  <a:pt x="1391" y="79"/>
                  <a:pt x="1391" y="79"/>
                  <a:pt x="1391" y="79"/>
                </a:cubicBezTo>
                <a:cubicBezTo>
                  <a:pt x="1391" y="108"/>
                  <a:pt x="1412" y="124"/>
                  <a:pt x="1434" y="124"/>
                </a:cubicBezTo>
                <a:cubicBezTo>
                  <a:pt x="1448" y="124"/>
                  <a:pt x="1457" y="118"/>
                  <a:pt x="1465" y="109"/>
                </a:cubicBezTo>
                <a:cubicBezTo>
                  <a:pt x="1465" y="113"/>
                  <a:pt x="1465" y="113"/>
                  <a:pt x="1465" y="113"/>
                </a:cubicBezTo>
                <a:cubicBezTo>
                  <a:pt x="1465" y="130"/>
                  <a:pt x="1457" y="139"/>
                  <a:pt x="1438" y="139"/>
                </a:cubicBezTo>
                <a:cubicBezTo>
                  <a:pt x="1425" y="139"/>
                  <a:pt x="1415" y="136"/>
                  <a:pt x="1405" y="131"/>
                </a:cubicBezTo>
                <a:cubicBezTo>
                  <a:pt x="1396" y="151"/>
                  <a:pt x="1396" y="151"/>
                  <a:pt x="1396" y="151"/>
                </a:cubicBezTo>
                <a:cubicBezTo>
                  <a:pt x="1408" y="158"/>
                  <a:pt x="1423" y="161"/>
                  <a:pt x="1439" y="161"/>
                </a:cubicBezTo>
                <a:cubicBezTo>
                  <a:pt x="1457" y="161"/>
                  <a:pt x="1471" y="157"/>
                  <a:pt x="1480" y="148"/>
                </a:cubicBezTo>
                <a:cubicBezTo>
                  <a:pt x="1488" y="140"/>
                  <a:pt x="1492" y="128"/>
                  <a:pt x="1492" y="110"/>
                </a:cubicBezTo>
                <a:cubicBezTo>
                  <a:pt x="1492" y="36"/>
                  <a:pt x="1492" y="36"/>
                  <a:pt x="1492" y="36"/>
                </a:cubicBezTo>
                <a:cubicBezTo>
                  <a:pt x="1465" y="36"/>
                  <a:pt x="1465" y="36"/>
                  <a:pt x="1465" y="36"/>
                </a:cubicBezTo>
                <a:lnTo>
                  <a:pt x="1465" y="48"/>
                </a:lnTo>
                <a:close/>
                <a:moveTo>
                  <a:pt x="1465" y="79"/>
                </a:moveTo>
                <a:cubicBezTo>
                  <a:pt x="1465" y="92"/>
                  <a:pt x="1455" y="102"/>
                  <a:pt x="1442" y="102"/>
                </a:cubicBezTo>
                <a:cubicBezTo>
                  <a:pt x="1429" y="102"/>
                  <a:pt x="1419" y="93"/>
                  <a:pt x="1419" y="79"/>
                </a:cubicBezTo>
                <a:cubicBezTo>
                  <a:pt x="1419" y="79"/>
                  <a:pt x="1419" y="79"/>
                  <a:pt x="1419" y="79"/>
                </a:cubicBezTo>
                <a:cubicBezTo>
                  <a:pt x="1419" y="66"/>
                  <a:pt x="1429" y="57"/>
                  <a:pt x="1442" y="57"/>
                </a:cubicBezTo>
                <a:cubicBezTo>
                  <a:pt x="1455" y="57"/>
                  <a:pt x="1465" y="66"/>
                  <a:pt x="1465" y="79"/>
                </a:cubicBezTo>
                <a:close/>
                <a:moveTo>
                  <a:pt x="1697" y="37"/>
                </a:moveTo>
                <a:cubicBezTo>
                  <a:pt x="1675" y="37"/>
                  <a:pt x="1675" y="37"/>
                  <a:pt x="1675" y="37"/>
                </a:cubicBezTo>
                <a:cubicBezTo>
                  <a:pt x="1675" y="33"/>
                  <a:pt x="1675" y="33"/>
                  <a:pt x="1675" y="33"/>
                </a:cubicBezTo>
                <a:cubicBezTo>
                  <a:pt x="1675" y="26"/>
                  <a:pt x="1678" y="23"/>
                  <a:pt x="1684" y="23"/>
                </a:cubicBezTo>
                <a:cubicBezTo>
                  <a:pt x="1689" y="23"/>
                  <a:pt x="1693" y="24"/>
                  <a:pt x="1697" y="25"/>
                </a:cubicBezTo>
                <a:cubicBezTo>
                  <a:pt x="1697" y="2"/>
                  <a:pt x="1697" y="2"/>
                  <a:pt x="1697" y="2"/>
                </a:cubicBezTo>
                <a:cubicBezTo>
                  <a:pt x="1692" y="1"/>
                  <a:pt x="1686" y="0"/>
                  <a:pt x="1677" y="0"/>
                </a:cubicBezTo>
                <a:cubicBezTo>
                  <a:pt x="1668" y="0"/>
                  <a:pt x="1660" y="2"/>
                  <a:pt x="1655" y="7"/>
                </a:cubicBezTo>
                <a:cubicBezTo>
                  <a:pt x="1650" y="12"/>
                  <a:pt x="1648" y="20"/>
                  <a:pt x="1648" y="31"/>
                </a:cubicBezTo>
                <a:cubicBezTo>
                  <a:pt x="1648" y="37"/>
                  <a:pt x="1648" y="37"/>
                  <a:pt x="1648" y="37"/>
                </a:cubicBezTo>
                <a:cubicBezTo>
                  <a:pt x="1636" y="37"/>
                  <a:pt x="1636" y="37"/>
                  <a:pt x="1636" y="37"/>
                </a:cubicBezTo>
                <a:cubicBezTo>
                  <a:pt x="1636" y="59"/>
                  <a:pt x="1636" y="59"/>
                  <a:pt x="1636" y="59"/>
                </a:cubicBezTo>
                <a:cubicBezTo>
                  <a:pt x="1648" y="59"/>
                  <a:pt x="1648" y="59"/>
                  <a:pt x="1648" y="59"/>
                </a:cubicBezTo>
                <a:cubicBezTo>
                  <a:pt x="1648" y="132"/>
                  <a:pt x="1648" y="132"/>
                  <a:pt x="1648" y="132"/>
                </a:cubicBezTo>
                <a:cubicBezTo>
                  <a:pt x="1675" y="132"/>
                  <a:pt x="1675" y="132"/>
                  <a:pt x="1675" y="132"/>
                </a:cubicBezTo>
                <a:cubicBezTo>
                  <a:pt x="1675" y="59"/>
                  <a:pt x="1675" y="59"/>
                  <a:pt x="1675" y="59"/>
                </a:cubicBezTo>
                <a:cubicBezTo>
                  <a:pt x="1697" y="59"/>
                  <a:pt x="1697" y="59"/>
                  <a:pt x="1697" y="59"/>
                </a:cubicBezTo>
                <a:lnTo>
                  <a:pt x="1697" y="37"/>
                </a:lnTo>
                <a:close/>
                <a:moveTo>
                  <a:pt x="1548" y="101"/>
                </a:moveTo>
                <a:cubicBezTo>
                  <a:pt x="1526" y="36"/>
                  <a:pt x="1526" y="36"/>
                  <a:pt x="1526" y="36"/>
                </a:cubicBezTo>
                <a:cubicBezTo>
                  <a:pt x="1497" y="36"/>
                  <a:pt x="1497" y="36"/>
                  <a:pt x="1497" y="36"/>
                </a:cubicBezTo>
                <a:cubicBezTo>
                  <a:pt x="1535" y="132"/>
                  <a:pt x="1535" y="132"/>
                  <a:pt x="1535" y="132"/>
                </a:cubicBezTo>
                <a:cubicBezTo>
                  <a:pt x="1532" y="137"/>
                  <a:pt x="1530" y="139"/>
                  <a:pt x="1525" y="139"/>
                </a:cubicBezTo>
                <a:cubicBezTo>
                  <a:pt x="1521" y="139"/>
                  <a:pt x="1517" y="137"/>
                  <a:pt x="1513" y="135"/>
                </a:cubicBezTo>
                <a:cubicBezTo>
                  <a:pt x="1504" y="155"/>
                  <a:pt x="1504" y="155"/>
                  <a:pt x="1504" y="155"/>
                </a:cubicBezTo>
                <a:cubicBezTo>
                  <a:pt x="1511" y="159"/>
                  <a:pt x="1519" y="161"/>
                  <a:pt x="1528" y="161"/>
                </a:cubicBezTo>
                <a:cubicBezTo>
                  <a:pt x="1545" y="161"/>
                  <a:pt x="1553" y="154"/>
                  <a:pt x="1560" y="134"/>
                </a:cubicBezTo>
                <a:cubicBezTo>
                  <a:pt x="1597" y="36"/>
                  <a:pt x="1597" y="36"/>
                  <a:pt x="1597" y="36"/>
                </a:cubicBezTo>
                <a:cubicBezTo>
                  <a:pt x="1569" y="36"/>
                  <a:pt x="1569" y="36"/>
                  <a:pt x="1569" y="36"/>
                </a:cubicBezTo>
                <a:lnTo>
                  <a:pt x="1548" y="101"/>
                </a:lnTo>
                <a:close/>
                <a:moveTo>
                  <a:pt x="1008" y="34"/>
                </a:moveTo>
                <a:cubicBezTo>
                  <a:pt x="994" y="34"/>
                  <a:pt x="986" y="41"/>
                  <a:pt x="980" y="49"/>
                </a:cubicBezTo>
                <a:cubicBezTo>
                  <a:pt x="980" y="1"/>
                  <a:pt x="980" y="1"/>
                  <a:pt x="980" y="1"/>
                </a:cubicBezTo>
                <a:cubicBezTo>
                  <a:pt x="952" y="1"/>
                  <a:pt x="952" y="1"/>
                  <a:pt x="952" y="1"/>
                </a:cubicBezTo>
                <a:cubicBezTo>
                  <a:pt x="952" y="132"/>
                  <a:pt x="952" y="132"/>
                  <a:pt x="952" y="132"/>
                </a:cubicBezTo>
                <a:cubicBezTo>
                  <a:pt x="980" y="132"/>
                  <a:pt x="980" y="132"/>
                  <a:pt x="980" y="132"/>
                </a:cubicBezTo>
                <a:cubicBezTo>
                  <a:pt x="980" y="78"/>
                  <a:pt x="980" y="78"/>
                  <a:pt x="980" y="78"/>
                </a:cubicBezTo>
                <a:cubicBezTo>
                  <a:pt x="980" y="65"/>
                  <a:pt x="986" y="59"/>
                  <a:pt x="997" y="59"/>
                </a:cubicBezTo>
                <a:cubicBezTo>
                  <a:pt x="1007" y="59"/>
                  <a:pt x="1013" y="65"/>
                  <a:pt x="1013" y="78"/>
                </a:cubicBezTo>
                <a:cubicBezTo>
                  <a:pt x="1013" y="132"/>
                  <a:pt x="1013" y="132"/>
                  <a:pt x="1013" y="132"/>
                </a:cubicBezTo>
                <a:cubicBezTo>
                  <a:pt x="1040" y="132"/>
                  <a:pt x="1040" y="132"/>
                  <a:pt x="1040" y="132"/>
                </a:cubicBezTo>
                <a:cubicBezTo>
                  <a:pt x="1040" y="70"/>
                  <a:pt x="1040" y="70"/>
                  <a:pt x="1040" y="70"/>
                </a:cubicBezTo>
                <a:cubicBezTo>
                  <a:pt x="1040" y="48"/>
                  <a:pt x="1028" y="34"/>
                  <a:pt x="1008" y="34"/>
                </a:cubicBezTo>
                <a:close/>
                <a:moveTo>
                  <a:pt x="1250" y="132"/>
                </a:moveTo>
                <a:cubicBezTo>
                  <a:pt x="1278" y="132"/>
                  <a:pt x="1278" y="132"/>
                  <a:pt x="1278" y="132"/>
                </a:cubicBezTo>
                <a:cubicBezTo>
                  <a:pt x="1278" y="1"/>
                  <a:pt x="1278" y="1"/>
                  <a:pt x="1278" y="1"/>
                </a:cubicBezTo>
                <a:cubicBezTo>
                  <a:pt x="1250" y="1"/>
                  <a:pt x="1250" y="1"/>
                  <a:pt x="1250" y="1"/>
                </a:cubicBezTo>
                <a:lnTo>
                  <a:pt x="1250" y="132"/>
                </a:lnTo>
                <a:close/>
                <a:moveTo>
                  <a:pt x="1103" y="34"/>
                </a:moveTo>
                <a:cubicBezTo>
                  <a:pt x="1089" y="34"/>
                  <a:pt x="1081" y="41"/>
                  <a:pt x="1075" y="49"/>
                </a:cubicBezTo>
                <a:cubicBezTo>
                  <a:pt x="1075" y="36"/>
                  <a:pt x="1075" y="36"/>
                  <a:pt x="1075" y="36"/>
                </a:cubicBezTo>
                <a:cubicBezTo>
                  <a:pt x="1047" y="36"/>
                  <a:pt x="1047" y="36"/>
                  <a:pt x="1047" y="36"/>
                </a:cubicBezTo>
                <a:cubicBezTo>
                  <a:pt x="1047" y="132"/>
                  <a:pt x="1047" y="132"/>
                  <a:pt x="1047" y="132"/>
                </a:cubicBezTo>
                <a:cubicBezTo>
                  <a:pt x="1075" y="132"/>
                  <a:pt x="1075" y="132"/>
                  <a:pt x="1075" y="132"/>
                </a:cubicBezTo>
                <a:cubicBezTo>
                  <a:pt x="1075" y="78"/>
                  <a:pt x="1075" y="78"/>
                  <a:pt x="1075" y="78"/>
                </a:cubicBezTo>
                <a:cubicBezTo>
                  <a:pt x="1075" y="65"/>
                  <a:pt x="1081" y="59"/>
                  <a:pt x="1092" y="59"/>
                </a:cubicBezTo>
                <a:cubicBezTo>
                  <a:pt x="1102" y="59"/>
                  <a:pt x="1108" y="65"/>
                  <a:pt x="1108" y="78"/>
                </a:cubicBezTo>
                <a:cubicBezTo>
                  <a:pt x="1108" y="132"/>
                  <a:pt x="1108" y="132"/>
                  <a:pt x="1108" y="132"/>
                </a:cubicBezTo>
                <a:cubicBezTo>
                  <a:pt x="1135" y="132"/>
                  <a:pt x="1135" y="132"/>
                  <a:pt x="1135" y="132"/>
                </a:cubicBezTo>
                <a:cubicBezTo>
                  <a:pt x="1135" y="70"/>
                  <a:pt x="1135" y="70"/>
                  <a:pt x="1135" y="70"/>
                </a:cubicBezTo>
                <a:cubicBezTo>
                  <a:pt x="1135" y="48"/>
                  <a:pt x="1123" y="34"/>
                  <a:pt x="1103" y="34"/>
                </a:cubicBezTo>
                <a:close/>
                <a:moveTo>
                  <a:pt x="910" y="111"/>
                </a:moveTo>
                <a:cubicBezTo>
                  <a:pt x="895" y="111"/>
                  <a:pt x="885" y="99"/>
                  <a:pt x="885" y="84"/>
                </a:cubicBezTo>
                <a:cubicBezTo>
                  <a:pt x="885" y="84"/>
                  <a:pt x="885" y="84"/>
                  <a:pt x="885" y="84"/>
                </a:cubicBezTo>
                <a:cubicBezTo>
                  <a:pt x="885" y="70"/>
                  <a:pt x="895" y="58"/>
                  <a:pt x="909" y="58"/>
                </a:cubicBezTo>
                <a:cubicBezTo>
                  <a:pt x="918" y="58"/>
                  <a:pt x="925" y="62"/>
                  <a:pt x="931" y="68"/>
                </a:cubicBezTo>
                <a:cubicBezTo>
                  <a:pt x="947" y="50"/>
                  <a:pt x="947" y="50"/>
                  <a:pt x="947" y="50"/>
                </a:cubicBezTo>
                <a:cubicBezTo>
                  <a:pt x="938" y="40"/>
                  <a:pt x="927" y="34"/>
                  <a:pt x="909" y="34"/>
                </a:cubicBezTo>
                <a:cubicBezTo>
                  <a:pt x="880" y="34"/>
                  <a:pt x="859" y="57"/>
                  <a:pt x="859" y="84"/>
                </a:cubicBezTo>
                <a:cubicBezTo>
                  <a:pt x="859" y="84"/>
                  <a:pt x="859" y="84"/>
                  <a:pt x="859" y="84"/>
                </a:cubicBezTo>
                <a:cubicBezTo>
                  <a:pt x="859" y="112"/>
                  <a:pt x="880" y="134"/>
                  <a:pt x="909" y="134"/>
                </a:cubicBezTo>
                <a:cubicBezTo>
                  <a:pt x="928" y="134"/>
                  <a:pt x="939" y="127"/>
                  <a:pt x="948" y="117"/>
                </a:cubicBezTo>
                <a:cubicBezTo>
                  <a:pt x="932" y="100"/>
                  <a:pt x="932" y="100"/>
                  <a:pt x="932" y="100"/>
                </a:cubicBezTo>
                <a:cubicBezTo>
                  <a:pt x="925" y="107"/>
                  <a:pt x="919" y="111"/>
                  <a:pt x="910" y="111"/>
                </a:cubicBezTo>
                <a:close/>
                <a:moveTo>
                  <a:pt x="1945" y="35"/>
                </a:moveTo>
                <a:cubicBezTo>
                  <a:pt x="1929" y="35"/>
                  <a:pt x="1918" y="38"/>
                  <a:pt x="1908" y="42"/>
                </a:cubicBezTo>
                <a:cubicBezTo>
                  <a:pt x="1915" y="63"/>
                  <a:pt x="1915" y="63"/>
                  <a:pt x="1915" y="63"/>
                </a:cubicBezTo>
                <a:cubicBezTo>
                  <a:pt x="1923" y="60"/>
                  <a:pt x="1931" y="58"/>
                  <a:pt x="1941" y="58"/>
                </a:cubicBezTo>
                <a:cubicBezTo>
                  <a:pt x="1955" y="58"/>
                  <a:pt x="1962" y="64"/>
                  <a:pt x="1962" y="76"/>
                </a:cubicBezTo>
                <a:cubicBezTo>
                  <a:pt x="1962" y="77"/>
                  <a:pt x="1962" y="77"/>
                  <a:pt x="1962" y="77"/>
                </a:cubicBezTo>
                <a:cubicBezTo>
                  <a:pt x="1955" y="75"/>
                  <a:pt x="1948" y="73"/>
                  <a:pt x="1938" y="73"/>
                </a:cubicBezTo>
                <a:cubicBezTo>
                  <a:pt x="1915" y="73"/>
                  <a:pt x="1899" y="83"/>
                  <a:pt x="1899" y="104"/>
                </a:cubicBezTo>
                <a:cubicBezTo>
                  <a:pt x="1899" y="104"/>
                  <a:pt x="1899" y="104"/>
                  <a:pt x="1899" y="104"/>
                </a:cubicBezTo>
                <a:cubicBezTo>
                  <a:pt x="1899" y="123"/>
                  <a:pt x="1914" y="134"/>
                  <a:pt x="1932" y="134"/>
                </a:cubicBezTo>
                <a:cubicBezTo>
                  <a:pt x="1946" y="134"/>
                  <a:pt x="1955" y="129"/>
                  <a:pt x="1962" y="122"/>
                </a:cubicBezTo>
                <a:cubicBezTo>
                  <a:pt x="1962" y="132"/>
                  <a:pt x="1962" y="132"/>
                  <a:pt x="1962" y="132"/>
                </a:cubicBezTo>
                <a:cubicBezTo>
                  <a:pt x="1988" y="132"/>
                  <a:pt x="1988" y="132"/>
                  <a:pt x="1988" y="132"/>
                </a:cubicBezTo>
                <a:cubicBezTo>
                  <a:pt x="1988" y="76"/>
                  <a:pt x="1988" y="76"/>
                  <a:pt x="1988" y="76"/>
                </a:cubicBezTo>
                <a:cubicBezTo>
                  <a:pt x="1988" y="63"/>
                  <a:pt x="1985" y="53"/>
                  <a:pt x="1978" y="46"/>
                </a:cubicBezTo>
                <a:cubicBezTo>
                  <a:pt x="1971" y="39"/>
                  <a:pt x="1960" y="35"/>
                  <a:pt x="1945" y="35"/>
                </a:cubicBezTo>
                <a:close/>
                <a:moveTo>
                  <a:pt x="1962" y="98"/>
                </a:moveTo>
                <a:cubicBezTo>
                  <a:pt x="1962" y="108"/>
                  <a:pt x="1953" y="115"/>
                  <a:pt x="1941" y="115"/>
                </a:cubicBezTo>
                <a:cubicBezTo>
                  <a:pt x="1932" y="115"/>
                  <a:pt x="1926" y="111"/>
                  <a:pt x="1926" y="103"/>
                </a:cubicBezTo>
                <a:cubicBezTo>
                  <a:pt x="1926" y="103"/>
                  <a:pt x="1926" y="103"/>
                  <a:pt x="1926" y="103"/>
                </a:cubicBezTo>
                <a:cubicBezTo>
                  <a:pt x="1926" y="94"/>
                  <a:pt x="1933" y="90"/>
                  <a:pt x="1945" y="90"/>
                </a:cubicBezTo>
                <a:cubicBezTo>
                  <a:pt x="1951" y="90"/>
                  <a:pt x="1957" y="91"/>
                  <a:pt x="1962" y="93"/>
                </a:cubicBezTo>
                <a:lnTo>
                  <a:pt x="1962" y="98"/>
                </a:lnTo>
                <a:close/>
                <a:moveTo>
                  <a:pt x="1193" y="34"/>
                </a:moveTo>
                <a:cubicBezTo>
                  <a:pt x="1163" y="34"/>
                  <a:pt x="1141" y="56"/>
                  <a:pt x="1141" y="84"/>
                </a:cubicBezTo>
                <a:cubicBezTo>
                  <a:pt x="1141" y="84"/>
                  <a:pt x="1141" y="84"/>
                  <a:pt x="1141" y="84"/>
                </a:cubicBezTo>
                <a:cubicBezTo>
                  <a:pt x="1141" y="112"/>
                  <a:pt x="1163" y="134"/>
                  <a:pt x="1193" y="134"/>
                </a:cubicBezTo>
                <a:cubicBezTo>
                  <a:pt x="1223" y="134"/>
                  <a:pt x="1245" y="112"/>
                  <a:pt x="1245" y="84"/>
                </a:cubicBezTo>
                <a:cubicBezTo>
                  <a:pt x="1245" y="84"/>
                  <a:pt x="1245" y="84"/>
                  <a:pt x="1245" y="84"/>
                </a:cubicBezTo>
                <a:cubicBezTo>
                  <a:pt x="1245" y="56"/>
                  <a:pt x="1223" y="34"/>
                  <a:pt x="1193" y="34"/>
                </a:cubicBezTo>
                <a:close/>
                <a:moveTo>
                  <a:pt x="1218" y="84"/>
                </a:moveTo>
                <a:cubicBezTo>
                  <a:pt x="1218" y="99"/>
                  <a:pt x="1209" y="111"/>
                  <a:pt x="1193" y="111"/>
                </a:cubicBezTo>
                <a:cubicBezTo>
                  <a:pt x="1178" y="111"/>
                  <a:pt x="1168" y="98"/>
                  <a:pt x="1168" y="84"/>
                </a:cubicBezTo>
                <a:cubicBezTo>
                  <a:pt x="1168" y="84"/>
                  <a:pt x="1168" y="84"/>
                  <a:pt x="1168" y="84"/>
                </a:cubicBezTo>
                <a:cubicBezTo>
                  <a:pt x="1168" y="70"/>
                  <a:pt x="1177" y="58"/>
                  <a:pt x="1193" y="58"/>
                </a:cubicBezTo>
                <a:cubicBezTo>
                  <a:pt x="1208" y="58"/>
                  <a:pt x="1218" y="70"/>
                  <a:pt x="1218" y="8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80187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C08B439B-E84A-4380-B725-5C2E2A357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D813522-5B75-F893-0706-7E3AB7106A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00"/>
          <a:stretch/>
        </p:blipFill>
        <p:spPr>
          <a:xfrm flipH="1">
            <a:off x="7616825" y="34"/>
            <a:ext cx="4572000" cy="685796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866921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White_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D5C4C27E-C20F-40CB-85CF-27223BC9C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4" name="Picture 3" descr="A person in a white dress  Description automatically generated with low confidence">
            <a:extLst>
              <a:ext uri="{FF2B5EF4-FFF2-40B4-BE49-F238E27FC236}">
                <a16:creationId xmlns:a16="http://schemas.microsoft.com/office/drawing/2014/main" id="{1852C0BD-7572-C8B3-D29B-44B7409BB2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6E4C2BE-620B-6B7D-1426-F9CB0B9DB68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C002FA1-87AB-10E7-DF14-BCD2904245D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3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7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accent4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3" y="4328649"/>
            <a:ext cx="6263640" cy="327013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C22F89-ADF9-0A52-8877-914CA372E2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327803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BCB70D7F-DA6D-4CCD-81E9-90248EF641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71"/>
            <a:ext cx="12188825" cy="68579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E412EDD-C562-F92D-41A2-18849B2F30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616825" y="35"/>
            <a:ext cx="4572000" cy="685792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381990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_Black_Al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Background pattern  Description automatically generated">
            <a:extLst>
              <a:ext uri="{FF2B5EF4-FFF2-40B4-BE49-F238E27FC236}">
                <a16:creationId xmlns:a16="http://schemas.microsoft.com/office/drawing/2014/main" id="{D2ED0643-8C31-4A20-AE73-693EFF6654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35"/>
            <a:ext cx="12188825" cy="6857929"/>
          </a:xfrm>
          <a:prstGeom prst="rect">
            <a:avLst/>
          </a:prstGeom>
        </p:spPr>
      </p:pic>
      <p:pic>
        <p:nvPicPr>
          <p:cNvPr id="28" name="Picture 27" descr="A picture containing tree, plant  Description automatically generated">
            <a:extLst>
              <a:ext uri="{FF2B5EF4-FFF2-40B4-BE49-F238E27FC236}">
                <a16:creationId xmlns:a16="http://schemas.microsoft.com/office/drawing/2014/main" id="{9C99B980-13C4-5E34-911C-94CDEEA606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6825" y="0"/>
            <a:ext cx="4572000" cy="685800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C498D60-2F6C-6ADE-BB9A-D957660E073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8414641-DA5A-BDF2-889C-1430A63E35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750334" y="1549491"/>
            <a:ext cx="6263640" cy="2405203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60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 hasCustomPrompt="1"/>
          </p:nvPr>
        </p:nvSpPr>
        <p:spPr bwMode="white">
          <a:xfrm>
            <a:off x="750334" y="4328649"/>
            <a:ext cx="6263640" cy="327013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500" spc="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here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1CC465-FDF1-C0A2-5A83-FB03B2F0F4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309067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A0C0A2-1C95-CF60-15E7-57B445A899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95853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D3A8838-C4DB-A234-AE13-77FD359114A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7C46987-CA04-04BE-C5FA-56E293EEB9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45D89D-54AB-A7D6-4141-95E6B3C369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0322121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5B6443-4299-282C-565B-68E5F97027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633483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Only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296FD5-38BC-1E97-5513-17F333DF59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1153D81-7548-F581-513D-B7CD48FD363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C2984EA1-BF8F-D5A5-11B3-9FD6DD75D1A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226057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8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71048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C5559F-D4D6-DA53-A720-07C2A2D68F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141638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8880"/>
            <a:ext cx="10667999" cy="4787120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190EFC-69A6-D92C-008E-75B891AE7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573FE22-DB46-2221-24B6-EA9CED934BF8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44D8FA39-BBC5-4239-E23A-6A96E07DBCB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0975778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Subtitle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8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27BD319-CE6A-C56C-FAF4-F7D3C4B20C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47933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Subtitle Cont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749389"/>
            <a:ext cx="10671049" cy="4346612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0" hasCustomPrompt="1"/>
          </p:nvPr>
        </p:nvSpPr>
        <p:spPr bwMode="gray">
          <a:xfrm>
            <a:off x="760412" y="931563"/>
            <a:ext cx="10671048" cy="26161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buNone/>
              <a:defRPr sz="2000" b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F390D5-FAC3-3E07-D977-2FACDFA7E8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E1D901D-347E-CD3C-E49E-6240407331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D379CA7-ADA1-DB35-B963-28B950F90E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594537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2FE5186-E704-46DB-A234-0339427F829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7351327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069004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Content Placeholder 2"/>
          <p:cNvSpPr>
            <a:spLocks noGrp="1"/>
          </p:cNvSpPr>
          <p:nvPr>
            <p:ph sz="half" idx="14"/>
          </p:nvPr>
        </p:nvSpPr>
        <p:spPr bwMode="gray">
          <a:xfrm>
            <a:off x="6339311" y="1307593"/>
            <a:ext cx="506577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432C778-5728-8296-7A9A-58D2F0D4654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A9787-DD7C-7130-A8DF-4C258B1FA48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D52F52-4191-E70A-A15D-3F4D0CF0AA2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99921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3188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61C74C-45BE-3DE8-0DFD-4B97D814F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563597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lumn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3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 bwMode="gray">
          <a:xfrm>
            <a:off x="4377258" y="1307593"/>
            <a:ext cx="3342271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 bwMode="gray">
          <a:xfrm>
            <a:off x="8015815" y="1307593"/>
            <a:ext cx="3415646" cy="4788407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B227283-6F61-7A48-A890-A6560B0C46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5B243C2-75F5-6AC0-1833-76F42C53A2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A92B045-EC23-B30D-E716-8FEBB279E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9591086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/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3"/>
            <a:ext cx="5723515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F3C117-A202-AC1A-30DA-A95049B267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45591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/Imag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5723515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sz="half" idx="1"/>
          </p:nvPr>
        </p:nvSpPr>
        <p:spPr bwMode="gray">
          <a:xfrm>
            <a:off x="760412" y="1307592"/>
            <a:ext cx="5723515" cy="4919589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856413" y="0"/>
            <a:ext cx="5332411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4EA4AC3-3E83-652D-5977-C213932004B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C692C7-AF24-D9BB-14D5-5012A21698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7E7426-E0FB-DA60-E1E0-A41FD9009F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2496215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4061791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tx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C9E4313D-4BB5-4FBE-BED7-2E337B7C6B9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11669529" y="6400800"/>
            <a:ext cx="438912" cy="155448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501264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 + Statemen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FF9FB968-F2A9-4C72-AC3C-DC44BBB699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061791" y="0"/>
            <a:ext cx="8127034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BB9C095A-1012-467F-9C44-B19F964C00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48640" y="849535"/>
            <a:ext cx="3513151" cy="1926795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Font typeface="Arial" panose="020B0604020202020204" pitchFamily="34" charset="0"/>
              <a:buNone/>
              <a:defRPr sz="4600" b="1" strike="noStrike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Photo plus</a:t>
            </a:r>
            <a:br>
              <a:rPr lang="en-US" dirty="0"/>
            </a:br>
            <a:r>
              <a:rPr lang="en-US" dirty="0"/>
              <a:t>statement</a:t>
            </a:r>
            <a:br>
              <a:rPr lang="en-US" dirty="0"/>
            </a:br>
            <a:r>
              <a:rPr lang="en-US" dirty="0"/>
              <a:t>layout</a:t>
            </a:r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20B0D42B-CBC4-443F-B475-39C1A11F88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8641" y="2943638"/>
            <a:ext cx="3513150" cy="164161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2400" baseline="0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  <a:lvl3pPr marL="1218986" indent="0">
              <a:buNone/>
              <a:defRPr/>
            </a:lvl3pPr>
            <a:lvl4pPr marL="1828480" indent="0">
              <a:buNone/>
              <a:defRPr/>
            </a:lvl4pPr>
            <a:lvl5pPr marL="2437973" indent="0">
              <a:buNone/>
              <a:defRPr/>
            </a:lvl5pPr>
          </a:lstStyle>
          <a:p>
            <a:pPr lvl="0"/>
            <a:r>
              <a:rPr lang="en-US" dirty="0"/>
              <a:t>Subtitle goes here</a:t>
            </a:r>
          </a:p>
        </p:txBody>
      </p:sp>
    </p:spTree>
    <p:extLst>
      <p:ext uri="{BB962C8B-B14F-4D97-AF65-F5344CB8AC3E}">
        <p14:creationId xmlns:p14="http://schemas.microsoft.com/office/powerpoint/2010/main" val="2827794520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413" y="1757774"/>
            <a:ext cx="10668000" cy="3342453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800" b="1">
                <a:solidFill>
                  <a:schemeClr val="bg1"/>
                </a:solidFill>
              </a:defRPr>
            </a:lvl1pPr>
            <a:lvl2pPr marL="609494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7820295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8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tx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8" cy="406265"/>
          </a:xfrm>
          <a:prstGeom prst="rect">
            <a:avLst/>
          </a:prstGeom>
        </p:spPr>
        <p:txBody>
          <a:bodyPr lIns="0">
            <a:sp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tx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15315-0D5A-DC09-BF8B-37391016484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037CD95-D004-2B21-4A36-C02C76A5C015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F5A598"/>
              </a:gs>
              <a:gs pos="47000">
                <a:srgbClr val="D2ADC9"/>
              </a:gs>
              <a:gs pos="77000">
                <a:srgbClr val="E6BDC1"/>
              </a:gs>
              <a:gs pos="9000">
                <a:srgbClr val="A7B6D3"/>
              </a:gs>
            </a:gsLst>
            <a:lin ang="13500000" scaled="1"/>
          </a:gra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7478010D-01FF-497C-41EB-76A4E063D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C7C4737E-BF88-7B2F-7399-008A3E052A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38601657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Black">
    <p:bg>
      <p:bgPr>
        <a:solidFill>
          <a:srgbClr val="1E01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12096" cy="27638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1209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CB189A2-A5C7-0BFE-DC45-2B6C62F67C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F584051D-228D-60EF-D68E-4B4E925E17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5C380F-7235-3AB0-03FD-9418F9E88CA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302BD98-6DAE-1743-EC0B-3BD86F2E6E9E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gradFill>
            <a:gsLst>
              <a:gs pos="100000">
                <a:srgbClr val="391262"/>
              </a:gs>
              <a:gs pos="26000">
                <a:srgbClr val="64131E"/>
              </a:gs>
              <a:gs pos="0">
                <a:srgbClr val="831B22"/>
              </a:gs>
              <a:gs pos="66000">
                <a:srgbClr val="4D144A"/>
              </a:gs>
            </a:gsLst>
            <a:lin ang="13500000" scaled="1"/>
          </a:gra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427A43A-50DD-D6E1-5FBF-AC4CB78705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10BB8F0C-C9B6-64D7-DD2C-3BDDA0FDE7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006540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Layout_Color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07"/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758827" y="1812555"/>
            <a:ext cx="9907586" cy="2759445"/>
          </a:xfrm>
          <a:prstGeom prst="rect">
            <a:avLst/>
          </a:prstGeom>
        </p:spPr>
        <p:txBody>
          <a:bodyPr lIns="0" anchor="t">
            <a:norm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4400" b="1" spc="-150">
                <a:solidFill>
                  <a:schemeClr val="bg1"/>
                </a:solidFill>
              </a:defRPr>
            </a:lvl1pPr>
            <a:lvl2pPr marL="341313" indent="0" algn="ctr">
              <a:buNone/>
              <a:defRPr>
                <a:solidFill>
                  <a:schemeClr val="bg1"/>
                </a:solidFill>
              </a:defRPr>
            </a:lvl2pPr>
            <a:lvl3pPr marL="679450" indent="0" algn="ctr">
              <a:buNone/>
              <a:defRPr>
                <a:solidFill>
                  <a:schemeClr val="bg1"/>
                </a:solidFill>
              </a:defRPr>
            </a:lvl3pPr>
            <a:lvl4pPr marL="966787" indent="0" algn="ctr">
              <a:buNone/>
              <a:defRPr>
                <a:solidFill>
                  <a:schemeClr val="bg1"/>
                </a:solidFill>
              </a:defRPr>
            </a:lvl4pPr>
            <a:lvl5pPr marL="1146175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7" name="Text Placeholder 110"/>
          <p:cNvSpPr>
            <a:spLocks noGrp="1"/>
          </p:cNvSpPr>
          <p:nvPr>
            <p:ph type="body" sz="quarter" idx="19" hasCustomPrompt="1"/>
          </p:nvPr>
        </p:nvSpPr>
        <p:spPr>
          <a:xfrm>
            <a:off x="758826" y="5045445"/>
            <a:ext cx="9907587" cy="406265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 algn="l">
              <a:lnSpc>
                <a:spcPct val="85000"/>
              </a:lnSpc>
              <a:spcBef>
                <a:spcPts val="0"/>
              </a:spcBef>
              <a:buNone/>
              <a:defRPr sz="2400" b="1" spc="-150" baseline="0">
                <a:solidFill>
                  <a:schemeClr val="bg1"/>
                </a:solidFill>
              </a:defRPr>
            </a:lvl1pPr>
            <a:lvl2pPr marL="341313" indent="0">
              <a:buNone/>
              <a:defRPr/>
            </a:lvl2pPr>
            <a:lvl3pPr marL="679450" indent="0">
              <a:buNone/>
              <a:defRPr/>
            </a:lvl3pPr>
            <a:lvl4pPr marL="966787" indent="0">
              <a:buNone/>
              <a:defRPr/>
            </a:lvl4pPr>
            <a:lvl5pPr marL="1146175" indent="0">
              <a:buNone/>
              <a:defRPr/>
            </a:lvl5pPr>
          </a:lstStyle>
          <a:p>
            <a:pPr lvl="0"/>
            <a:r>
              <a:rPr lang="en-US" dirty="0"/>
              <a:t>Click to edit quote source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18A1024-2417-9AB8-1B11-FFC8E666406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EF2F641-C50E-7EF9-174F-C814CE79B1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A179E8-3325-1689-7216-8DD26DF9516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897E0CA-E9A9-E0E3-3CBF-4638AF7AEA37}"/>
              </a:ext>
            </a:extLst>
          </p:cNvPr>
          <p:cNvGrpSpPr/>
          <p:nvPr userDrawn="1"/>
        </p:nvGrpSpPr>
        <p:grpSpPr>
          <a:xfrm>
            <a:off x="758826" y="788987"/>
            <a:ext cx="990600" cy="735013"/>
            <a:chOff x="657226" y="398463"/>
            <a:chExt cx="990600" cy="735013"/>
          </a:xfrm>
          <a:solidFill>
            <a:schemeClr val="bg1"/>
          </a:solidFill>
        </p:grpSpPr>
        <p:sp>
          <p:nvSpPr>
            <p:cNvPr id="35" name="Freeform 5">
              <a:extLst>
                <a:ext uri="{FF2B5EF4-FFF2-40B4-BE49-F238E27FC236}">
                  <a16:creationId xmlns:a16="http://schemas.microsoft.com/office/drawing/2014/main" id="{7EEF4626-4306-CF44-30F2-238CF5A9D2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7226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6">
              <a:extLst>
                <a:ext uri="{FF2B5EF4-FFF2-40B4-BE49-F238E27FC236}">
                  <a16:creationId xmlns:a16="http://schemas.microsoft.com/office/drawing/2014/main" id="{6E76F828-F318-AE96-8117-C054CA893D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95388" y="398463"/>
              <a:ext cx="452438" cy="735013"/>
            </a:xfrm>
            <a:custGeom>
              <a:avLst/>
              <a:gdLst>
                <a:gd name="T0" fmla="*/ 0 w 452"/>
                <a:gd name="T1" fmla="*/ 428 h 736"/>
                <a:gd name="T2" fmla="*/ 422 w 452"/>
                <a:gd name="T3" fmla="*/ 0 h 736"/>
                <a:gd name="T4" fmla="*/ 452 w 452"/>
                <a:gd name="T5" fmla="*/ 144 h 736"/>
                <a:gd name="T6" fmla="*/ 228 w 452"/>
                <a:gd name="T7" fmla="*/ 370 h 736"/>
                <a:gd name="T8" fmla="*/ 370 w 452"/>
                <a:gd name="T9" fmla="*/ 370 h 736"/>
                <a:gd name="T10" fmla="*/ 370 w 452"/>
                <a:gd name="T11" fmla="*/ 736 h 736"/>
                <a:gd name="T12" fmla="*/ 0 w 452"/>
                <a:gd name="T13" fmla="*/ 736 h 736"/>
                <a:gd name="T14" fmla="*/ 0 w 452"/>
                <a:gd name="T15" fmla="*/ 428 h 7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52" h="736">
                  <a:moveTo>
                    <a:pt x="0" y="428"/>
                  </a:moveTo>
                  <a:cubicBezTo>
                    <a:pt x="0" y="126"/>
                    <a:pt x="151" y="5"/>
                    <a:pt x="422" y="0"/>
                  </a:cubicBezTo>
                  <a:cubicBezTo>
                    <a:pt x="452" y="144"/>
                    <a:pt x="452" y="144"/>
                    <a:pt x="452" y="144"/>
                  </a:cubicBezTo>
                  <a:cubicBezTo>
                    <a:pt x="294" y="160"/>
                    <a:pt x="217" y="240"/>
                    <a:pt x="228" y="370"/>
                  </a:cubicBezTo>
                  <a:cubicBezTo>
                    <a:pt x="370" y="370"/>
                    <a:pt x="370" y="370"/>
                    <a:pt x="370" y="370"/>
                  </a:cubicBezTo>
                  <a:cubicBezTo>
                    <a:pt x="370" y="736"/>
                    <a:pt x="370" y="736"/>
                    <a:pt x="370" y="736"/>
                  </a:cubicBezTo>
                  <a:cubicBezTo>
                    <a:pt x="0" y="736"/>
                    <a:pt x="0" y="736"/>
                    <a:pt x="0" y="736"/>
                  </a:cubicBezTo>
                  <a:lnTo>
                    <a:pt x="0" y="42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31717141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/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2" y="1307593"/>
            <a:ext cx="4572001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10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2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FBC96C-E04F-90E6-1BBE-C65ECD6E5C1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055685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/ Product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6094412" cy="685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8"/>
          </p:nvPr>
        </p:nvSpPr>
        <p:spPr bwMode="gray">
          <a:xfrm>
            <a:off x="6856414" y="1307592"/>
            <a:ext cx="4572000" cy="4788408"/>
          </a:xfrm>
          <a:prstGeom prst="rect">
            <a:avLst/>
          </a:prstGeom>
        </p:spPr>
        <p:txBody>
          <a:bodyPr lIns="0" tIns="0" rIns="0" bIns="0"/>
          <a:lstStyle>
            <a:lvl1pPr marL="171450" indent="-171450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609493" indent="-228560">
              <a:lnSpc>
                <a:spcPct val="90000"/>
              </a:lnSpc>
              <a:spcBef>
                <a:spcPts val="500"/>
              </a:spcBef>
              <a:buClrTx/>
              <a:buFont typeface="Arial" pitchFamily="34" charset="0"/>
              <a:buChar char="–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2pPr>
            <a:lvl3pPr marL="835938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3pPr>
            <a:lvl4pPr marL="1147033" indent="-156606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4pPr>
            <a:lvl5pPr marL="1445431" indent="-150258">
              <a:lnSpc>
                <a:spcPct val="90000"/>
              </a:lnSpc>
              <a:spcBef>
                <a:spcPts val="500"/>
              </a:spcBef>
              <a:buClrTx/>
              <a:buFont typeface="Arial" panose="020B0604020202020204" pitchFamily="34" charset="0"/>
              <a:buChar char="-"/>
              <a:defRPr sz="180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6856413" y="442528"/>
            <a:ext cx="4572001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7B1794D-FA0C-402F-EB44-A50D8C3D4FE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37DE7D4-E216-9606-EAAF-1A8B5AF40F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A84DA8-2577-7EF4-6122-06E4DEEB80AF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97037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71049" cy="41857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4000"/>
            <a:ext cx="10668000" cy="4572000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E9C038-E754-006F-B382-D714EB9495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57661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rt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8"/>
          <p:cNvSpPr>
            <a:spLocks noGrp="1"/>
          </p:cNvSpPr>
          <p:nvPr>
            <p:ph type="title" hasCustomPrompt="1"/>
          </p:nvPr>
        </p:nvSpPr>
        <p:spPr bwMode="gray">
          <a:xfrm>
            <a:off x="760412" y="442528"/>
            <a:ext cx="10668001" cy="418576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marL="0" algn="l" defTabSz="1218987" rtl="0" eaLnBrk="1" latinLnBrk="0" hangingPunct="1">
              <a:lnSpc>
                <a:spcPct val="85000"/>
              </a:lnSpc>
              <a:spcBef>
                <a:spcPct val="0"/>
              </a:spcBef>
              <a:buNone/>
              <a:tabLst>
                <a:tab pos="1218987" algn="l"/>
              </a:tabLst>
              <a:defRPr lang="en-US" sz="3200" b="1" kern="1200" cap="none" spc="-150" baseline="0" dirty="0">
                <a:solidFill>
                  <a:schemeClr val="bg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10" hasCustomPrompt="1"/>
          </p:nvPr>
        </p:nvSpPr>
        <p:spPr bwMode="gray">
          <a:xfrm>
            <a:off x="760414" y="1523999"/>
            <a:ext cx="10668000" cy="4572001"/>
          </a:xfrm>
          <a:prstGeom prst="rect">
            <a:avLst/>
          </a:prstGeom>
        </p:spPr>
        <p:txBody>
          <a:bodyPr lIns="121899" tIns="853291" rIns="121899" bIns="60949" anchor="ctr" anchorCtr="0"/>
          <a:lstStyle>
            <a:lvl1pPr marL="0" indent="0" algn="ctr">
              <a:buFontTx/>
              <a:buNone/>
              <a:defRPr sz="2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create chart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630DE35-2B9A-CC16-D878-AF4BA659CB0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298FF46-F393-7505-AC93-A34D0D7FD1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222CEF-FCD3-E840-7AE1-E900A5D59C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033321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2E9409-35B8-57EB-2941-154C5CA02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83593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Slide_Black">
    <p:bg>
      <p:bgPr>
        <a:solidFill>
          <a:srgbClr val="1E001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22DC449E-FDC8-E32E-E4B6-BCA292AA370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413" y="6348283"/>
            <a:ext cx="777240" cy="259316"/>
            <a:chOff x="547688" y="952500"/>
            <a:chExt cx="12190413" cy="4067175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AB6D2A24-CAB4-F08D-2B8E-FD0BBEA396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94B782-D6B1-E164-080E-40821B7DAF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37689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37F1298-487A-B4E6-4008-0A5D51F1C143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BC4C027-8FC0-71EF-963F-3B8A0447C1E8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accent1"/>
            </a:solidFill>
          </p:grpSpPr>
          <p:sp>
            <p:nvSpPr>
              <p:cNvPr id="72" name="Freeform 5">
                <a:extLst>
                  <a:ext uri="{FF2B5EF4-FFF2-40B4-BE49-F238E27FC236}">
                    <a16:creationId xmlns:a16="http://schemas.microsoft.com/office/drawing/2014/main" id="{AC114BA7-B808-0C61-F4C4-498846EB2C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3" name="Freeform 6">
                <a:extLst>
                  <a:ext uri="{FF2B5EF4-FFF2-40B4-BE49-F238E27FC236}">
                    <a16:creationId xmlns:a16="http://schemas.microsoft.com/office/drawing/2014/main" id="{03055FF5-EB33-F09D-784D-C7AD0188032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9" name="Freeform 12">
                <a:extLst>
                  <a:ext uri="{FF2B5EF4-FFF2-40B4-BE49-F238E27FC236}">
                    <a16:creationId xmlns:a16="http://schemas.microsoft.com/office/drawing/2014/main" id="{5CBDFCA1-F27C-774F-EB38-070587A34AB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13">
                <a:extLst>
                  <a:ext uri="{FF2B5EF4-FFF2-40B4-BE49-F238E27FC236}">
                    <a16:creationId xmlns:a16="http://schemas.microsoft.com/office/drawing/2014/main" id="{32C7C41D-9C2F-F9CB-F801-1289ECF5E58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14">
                <a:extLst>
                  <a:ext uri="{FF2B5EF4-FFF2-40B4-BE49-F238E27FC236}">
                    <a16:creationId xmlns:a16="http://schemas.microsoft.com/office/drawing/2014/main" id="{D3D8F53A-7C54-73FF-7202-68AF9530CEF8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15">
                <a:extLst>
                  <a:ext uri="{FF2B5EF4-FFF2-40B4-BE49-F238E27FC236}">
                    <a16:creationId xmlns:a16="http://schemas.microsoft.com/office/drawing/2014/main" id="{BD2B90D5-630B-CFC6-CE5B-4A3E778474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16">
                <a:extLst>
                  <a:ext uri="{FF2B5EF4-FFF2-40B4-BE49-F238E27FC236}">
                    <a16:creationId xmlns:a16="http://schemas.microsoft.com/office/drawing/2014/main" id="{44BDC175-2104-E7E3-2519-DA2F92A4A93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17">
                <a:extLst>
                  <a:ext uri="{FF2B5EF4-FFF2-40B4-BE49-F238E27FC236}">
                    <a16:creationId xmlns:a16="http://schemas.microsoft.com/office/drawing/2014/main" id="{E76CB955-2FC2-83C2-AC09-AD01BCCF1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5" name="Rectangle 18">
                <a:extLst>
                  <a:ext uri="{FF2B5EF4-FFF2-40B4-BE49-F238E27FC236}">
                    <a16:creationId xmlns:a16="http://schemas.microsoft.com/office/drawing/2014/main" id="{BB15E459-A560-CBA7-38D2-49EC0DF179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19">
                <a:extLst>
                  <a:ext uri="{FF2B5EF4-FFF2-40B4-BE49-F238E27FC236}">
                    <a16:creationId xmlns:a16="http://schemas.microsoft.com/office/drawing/2014/main" id="{A894E637-6612-023A-5D26-292EB224BB2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7" name="Freeform 20">
                <a:extLst>
                  <a:ext uri="{FF2B5EF4-FFF2-40B4-BE49-F238E27FC236}">
                    <a16:creationId xmlns:a16="http://schemas.microsoft.com/office/drawing/2014/main" id="{C612BEEF-FFCF-00C7-83E8-3D6CD89DD8B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8" name="Freeform 21">
                <a:extLst>
                  <a:ext uri="{FF2B5EF4-FFF2-40B4-BE49-F238E27FC236}">
                    <a16:creationId xmlns:a16="http://schemas.microsoft.com/office/drawing/2014/main" id="{535443A8-F420-58B0-6940-C7217CB7D304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9" name="Freeform 22">
                <a:extLst>
                  <a:ext uri="{FF2B5EF4-FFF2-40B4-BE49-F238E27FC236}">
                    <a16:creationId xmlns:a16="http://schemas.microsoft.com/office/drawing/2014/main" id="{D577C4C5-162A-509E-0F90-2D9CF5560B4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0" name="Freeform 23">
                <a:extLst>
                  <a:ext uri="{FF2B5EF4-FFF2-40B4-BE49-F238E27FC236}">
                    <a16:creationId xmlns:a16="http://schemas.microsoft.com/office/drawing/2014/main" id="{9CB671CE-477D-F1B3-6894-F85448189A9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1" name="Freeform 24">
                <a:extLst>
                  <a:ext uri="{FF2B5EF4-FFF2-40B4-BE49-F238E27FC236}">
                    <a16:creationId xmlns:a16="http://schemas.microsoft.com/office/drawing/2014/main" id="{2D545142-881D-002A-830D-2B1960B7F79A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25">
                <a:extLst>
                  <a:ext uri="{FF2B5EF4-FFF2-40B4-BE49-F238E27FC236}">
                    <a16:creationId xmlns:a16="http://schemas.microsoft.com/office/drawing/2014/main" id="{5C959273-267C-8CBA-996C-EC8514CCD7D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Rectangle 26">
                <a:extLst>
                  <a:ext uri="{FF2B5EF4-FFF2-40B4-BE49-F238E27FC236}">
                    <a16:creationId xmlns:a16="http://schemas.microsoft.com/office/drawing/2014/main" id="{2F1B0169-414B-8F53-D204-E4FC9132C3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Rectangle 27">
                <a:extLst>
                  <a:ext uri="{FF2B5EF4-FFF2-40B4-BE49-F238E27FC236}">
                    <a16:creationId xmlns:a16="http://schemas.microsoft.com/office/drawing/2014/main" id="{FD3CEF0B-9316-CAAF-B811-7977EA0FDC7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64" name="Rectangle 28">
              <a:extLst>
                <a:ext uri="{FF2B5EF4-FFF2-40B4-BE49-F238E27FC236}">
                  <a16:creationId xmlns:a16="http://schemas.microsoft.com/office/drawing/2014/main" id="{C44969F7-1BF0-A4FA-F4EB-8003272D98C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5AB97A83-AA92-5D2A-D89F-2B85130F597F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66" name="Freeform 29">
                <a:extLst>
                  <a:ext uri="{FF2B5EF4-FFF2-40B4-BE49-F238E27FC236}">
                    <a16:creationId xmlns:a16="http://schemas.microsoft.com/office/drawing/2014/main" id="{93913DCE-D7C5-993F-1CBD-D671F4E01A3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7" name="Freeform 30">
                <a:extLst>
                  <a:ext uri="{FF2B5EF4-FFF2-40B4-BE49-F238E27FC236}">
                    <a16:creationId xmlns:a16="http://schemas.microsoft.com/office/drawing/2014/main" id="{6D0A5711-84F8-6852-FC23-C9222B8AB056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8" name="Freeform 31">
                <a:extLst>
                  <a:ext uri="{FF2B5EF4-FFF2-40B4-BE49-F238E27FC236}">
                    <a16:creationId xmlns:a16="http://schemas.microsoft.com/office/drawing/2014/main" id="{185085EF-D1B3-20ED-1267-AC7FAB1644FE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Freeform 32">
                <a:extLst>
                  <a:ext uri="{FF2B5EF4-FFF2-40B4-BE49-F238E27FC236}">
                    <a16:creationId xmlns:a16="http://schemas.microsoft.com/office/drawing/2014/main" id="{8434C32D-C325-1F32-5E19-6C9FC933AC3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0" name="Freeform 33">
                <a:extLst>
                  <a:ext uri="{FF2B5EF4-FFF2-40B4-BE49-F238E27FC236}">
                    <a16:creationId xmlns:a16="http://schemas.microsoft.com/office/drawing/2014/main" id="{A281B950-B57F-4814-65C4-87F843CA0E1C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Freeform 34">
                <a:extLst>
                  <a:ext uri="{FF2B5EF4-FFF2-40B4-BE49-F238E27FC236}">
                    <a16:creationId xmlns:a16="http://schemas.microsoft.com/office/drawing/2014/main" id="{EE465ED6-53DE-A385-42CB-0B5A75477346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20E6808-E70B-FA4B-99F6-1C02BBC16598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gradFill>
            <a:gsLst>
              <a:gs pos="0">
                <a:schemeClr val="accent1"/>
              </a:gs>
              <a:gs pos="100000">
                <a:srgbClr val="391262"/>
              </a:gs>
              <a:gs pos="64000">
                <a:srgbClr val="64131E"/>
              </a:gs>
              <a:gs pos="29000">
                <a:srgbClr val="831B22"/>
              </a:gs>
            </a:gsLst>
            <a:path path="circle">
              <a:fillToRect l="100000" t="100000"/>
            </a:path>
          </a:gradFill>
        </p:grpSpPr>
        <p:sp>
          <p:nvSpPr>
            <p:cNvPr id="43" name="Freeform 5">
              <a:extLst>
                <a:ext uri="{FF2B5EF4-FFF2-40B4-BE49-F238E27FC236}">
                  <a16:creationId xmlns:a16="http://schemas.microsoft.com/office/drawing/2014/main" id="{4C297CEF-136F-B1B7-09B1-55E4D7563F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6">
              <a:extLst>
                <a:ext uri="{FF2B5EF4-FFF2-40B4-BE49-F238E27FC236}">
                  <a16:creationId xmlns:a16="http://schemas.microsoft.com/office/drawing/2014/main" id="{622BAF6B-1742-15FD-B0EB-40B8C3DC11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11">
              <a:extLst>
                <a:ext uri="{FF2B5EF4-FFF2-40B4-BE49-F238E27FC236}">
                  <a16:creationId xmlns:a16="http://schemas.microsoft.com/office/drawing/2014/main" id="{DF4FD3AA-2A1C-04CA-7759-A7926327B4A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18214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_Black">
    <p:bg>
      <p:bgPr>
        <a:gradFill>
          <a:gsLst>
            <a:gs pos="100000">
              <a:srgbClr val="391262"/>
            </a:gs>
            <a:gs pos="38000">
              <a:srgbClr val="64131E"/>
            </a:gs>
            <a:gs pos="0">
              <a:srgbClr val="831B22"/>
            </a:gs>
            <a:gs pos="71000">
              <a:srgbClr val="4D144A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DF6D6F-9C39-7C31-64D4-4BCE9C9CA5D6}"/>
              </a:ext>
            </a:extLst>
          </p:cNvPr>
          <p:cNvGrpSpPr/>
          <p:nvPr userDrawn="1"/>
        </p:nvGrpSpPr>
        <p:grpSpPr>
          <a:xfrm>
            <a:off x="1538947" y="3561907"/>
            <a:ext cx="7851377" cy="1769127"/>
            <a:chOff x="541049" y="2649538"/>
            <a:chExt cx="9285724" cy="2092325"/>
          </a:xfrm>
          <a:solidFill>
            <a:schemeClr val="bg1"/>
          </a:solidFill>
        </p:grpSpPr>
        <p:sp>
          <p:nvSpPr>
            <p:cNvPr id="167" name="Freeform 5">
              <a:extLst>
                <a:ext uri="{FF2B5EF4-FFF2-40B4-BE49-F238E27FC236}">
                  <a16:creationId xmlns:a16="http://schemas.microsoft.com/office/drawing/2014/main" id="{E109AFA1-C190-E6CF-D819-5DDBF44B5E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1049" y="2809876"/>
              <a:ext cx="963613" cy="1928813"/>
            </a:xfrm>
            <a:custGeom>
              <a:avLst/>
              <a:gdLst>
                <a:gd name="T0" fmla="*/ 57 w 301"/>
                <a:gd name="T1" fmla="*/ 458 h 600"/>
                <a:gd name="T2" fmla="*/ 57 w 301"/>
                <a:gd name="T3" fmla="*/ 235 h 600"/>
                <a:gd name="T4" fmla="*/ 0 w 301"/>
                <a:gd name="T5" fmla="*/ 235 h 600"/>
                <a:gd name="T6" fmla="*/ 0 w 301"/>
                <a:gd name="T7" fmla="*/ 121 h 600"/>
                <a:gd name="T8" fmla="*/ 57 w 301"/>
                <a:gd name="T9" fmla="*/ 121 h 600"/>
                <a:gd name="T10" fmla="*/ 57 w 301"/>
                <a:gd name="T11" fmla="*/ 0 h 600"/>
                <a:gd name="T12" fmla="*/ 190 w 301"/>
                <a:gd name="T13" fmla="*/ 0 h 600"/>
                <a:gd name="T14" fmla="*/ 190 w 301"/>
                <a:gd name="T15" fmla="*/ 121 h 600"/>
                <a:gd name="T16" fmla="*/ 301 w 301"/>
                <a:gd name="T17" fmla="*/ 121 h 600"/>
                <a:gd name="T18" fmla="*/ 301 w 301"/>
                <a:gd name="T19" fmla="*/ 235 h 600"/>
                <a:gd name="T20" fmla="*/ 190 w 301"/>
                <a:gd name="T21" fmla="*/ 235 h 600"/>
                <a:gd name="T22" fmla="*/ 190 w 301"/>
                <a:gd name="T23" fmla="*/ 436 h 600"/>
                <a:gd name="T24" fmla="*/ 233 w 301"/>
                <a:gd name="T25" fmla="*/ 482 h 600"/>
                <a:gd name="T26" fmla="*/ 299 w 301"/>
                <a:gd name="T27" fmla="*/ 465 h 600"/>
                <a:gd name="T28" fmla="*/ 299 w 301"/>
                <a:gd name="T29" fmla="*/ 573 h 600"/>
                <a:gd name="T30" fmla="*/ 194 w 301"/>
                <a:gd name="T31" fmla="*/ 600 h 600"/>
                <a:gd name="T32" fmla="*/ 57 w 301"/>
                <a:gd name="T33" fmla="*/ 458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01" h="600">
                  <a:moveTo>
                    <a:pt x="57" y="458"/>
                  </a:moveTo>
                  <a:cubicBezTo>
                    <a:pt x="57" y="235"/>
                    <a:pt x="57" y="235"/>
                    <a:pt x="57" y="235"/>
                  </a:cubicBezTo>
                  <a:cubicBezTo>
                    <a:pt x="0" y="235"/>
                    <a:pt x="0" y="235"/>
                    <a:pt x="0" y="235"/>
                  </a:cubicBezTo>
                  <a:cubicBezTo>
                    <a:pt x="0" y="121"/>
                    <a:pt x="0" y="121"/>
                    <a:pt x="0" y="121"/>
                  </a:cubicBezTo>
                  <a:cubicBezTo>
                    <a:pt x="57" y="121"/>
                    <a:pt x="57" y="121"/>
                    <a:pt x="57" y="121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190" y="0"/>
                    <a:pt x="190" y="0"/>
                    <a:pt x="190" y="0"/>
                  </a:cubicBezTo>
                  <a:cubicBezTo>
                    <a:pt x="190" y="121"/>
                    <a:pt x="190" y="121"/>
                    <a:pt x="190" y="121"/>
                  </a:cubicBezTo>
                  <a:cubicBezTo>
                    <a:pt x="301" y="121"/>
                    <a:pt x="301" y="121"/>
                    <a:pt x="301" y="121"/>
                  </a:cubicBezTo>
                  <a:cubicBezTo>
                    <a:pt x="301" y="235"/>
                    <a:pt x="301" y="235"/>
                    <a:pt x="301" y="235"/>
                  </a:cubicBezTo>
                  <a:cubicBezTo>
                    <a:pt x="190" y="235"/>
                    <a:pt x="190" y="235"/>
                    <a:pt x="190" y="235"/>
                  </a:cubicBezTo>
                  <a:cubicBezTo>
                    <a:pt x="190" y="436"/>
                    <a:pt x="190" y="436"/>
                    <a:pt x="190" y="436"/>
                  </a:cubicBezTo>
                  <a:cubicBezTo>
                    <a:pt x="190" y="467"/>
                    <a:pt x="203" y="482"/>
                    <a:pt x="233" y="482"/>
                  </a:cubicBezTo>
                  <a:cubicBezTo>
                    <a:pt x="258" y="482"/>
                    <a:pt x="280" y="476"/>
                    <a:pt x="299" y="465"/>
                  </a:cubicBezTo>
                  <a:cubicBezTo>
                    <a:pt x="299" y="573"/>
                    <a:pt x="299" y="573"/>
                    <a:pt x="299" y="573"/>
                  </a:cubicBezTo>
                  <a:cubicBezTo>
                    <a:pt x="271" y="590"/>
                    <a:pt x="239" y="600"/>
                    <a:pt x="194" y="600"/>
                  </a:cubicBezTo>
                  <a:cubicBezTo>
                    <a:pt x="112" y="600"/>
                    <a:pt x="57" y="568"/>
                    <a:pt x="57" y="45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8" name="Freeform 6">
              <a:extLst>
                <a:ext uri="{FF2B5EF4-FFF2-40B4-BE49-F238E27FC236}">
                  <a16:creationId xmlns:a16="http://schemas.microsoft.com/office/drawing/2014/main" id="{1969BD4D-0C40-739F-FF6B-4214C2BEBC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08151" y="2649538"/>
              <a:ext cx="1382713" cy="2063750"/>
            </a:xfrm>
            <a:custGeom>
              <a:avLst/>
              <a:gdLst>
                <a:gd name="T0" fmla="*/ 0 w 432"/>
                <a:gd name="T1" fmla="*/ 0 h 642"/>
                <a:gd name="T2" fmla="*/ 134 w 432"/>
                <a:gd name="T3" fmla="*/ 0 h 642"/>
                <a:gd name="T4" fmla="*/ 134 w 432"/>
                <a:gd name="T5" fmla="*/ 237 h 642"/>
                <a:gd name="T6" fmla="*/ 272 w 432"/>
                <a:gd name="T7" fmla="*/ 162 h 642"/>
                <a:gd name="T8" fmla="*/ 432 w 432"/>
                <a:gd name="T9" fmla="*/ 337 h 642"/>
                <a:gd name="T10" fmla="*/ 432 w 432"/>
                <a:gd name="T11" fmla="*/ 642 h 642"/>
                <a:gd name="T12" fmla="*/ 298 w 432"/>
                <a:gd name="T13" fmla="*/ 642 h 642"/>
                <a:gd name="T14" fmla="*/ 298 w 432"/>
                <a:gd name="T15" fmla="*/ 379 h 642"/>
                <a:gd name="T16" fmla="*/ 218 w 432"/>
                <a:gd name="T17" fmla="*/ 283 h 642"/>
                <a:gd name="T18" fmla="*/ 134 w 432"/>
                <a:gd name="T19" fmla="*/ 379 h 642"/>
                <a:gd name="T20" fmla="*/ 134 w 432"/>
                <a:gd name="T21" fmla="*/ 642 h 642"/>
                <a:gd name="T22" fmla="*/ 0 w 432"/>
                <a:gd name="T23" fmla="*/ 642 h 642"/>
                <a:gd name="T24" fmla="*/ 0 w 432"/>
                <a:gd name="T25" fmla="*/ 0 h 6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2" h="642">
                  <a:moveTo>
                    <a:pt x="0" y="0"/>
                  </a:moveTo>
                  <a:cubicBezTo>
                    <a:pt x="134" y="0"/>
                    <a:pt x="134" y="0"/>
                    <a:pt x="134" y="0"/>
                  </a:cubicBezTo>
                  <a:cubicBezTo>
                    <a:pt x="134" y="237"/>
                    <a:pt x="134" y="237"/>
                    <a:pt x="134" y="237"/>
                  </a:cubicBezTo>
                  <a:cubicBezTo>
                    <a:pt x="165" y="198"/>
                    <a:pt x="204" y="162"/>
                    <a:pt x="272" y="162"/>
                  </a:cubicBezTo>
                  <a:cubicBezTo>
                    <a:pt x="373" y="162"/>
                    <a:pt x="432" y="229"/>
                    <a:pt x="432" y="337"/>
                  </a:cubicBezTo>
                  <a:cubicBezTo>
                    <a:pt x="432" y="642"/>
                    <a:pt x="432" y="642"/>
                    <a:pt x="432" y="642"/>
                  </a:cubicBezTo>
                  <a:cubicBezTo>
                    <a:pt x="298" y="642"/>
                    <a:pt x="298" y="642"/>
                    <a:pt x="298" y="642"/>
                  </a:cubicBezTo>
                  <a:cubicBezTo>
                    <a:pt x="298" y="379"/>
                    <a:pt x="298" y="379"/>
                    <a:pt x="298" y="379"/>
                  </a:cubicBezTo>
                  <a:cubicBezTo>
                    <a:pt x="298" y="316"/>
                    <a:pt x="269" y="283"/>
                    <a:pt x="218" y="283"/>
                  </a:cubicBezTo>
                  <a:cubicBezTo>
                    <a:pt x="166" y="283"/>
                    <a:pt x="134" y="316"/>
                    <a:pt x="134" y="379"/>
                  </a:cubicBezTo>
                  <a:cubicBezTo>
                    <a:pt x="134" y="642"/>
                    <a:pt x="134" y="642"/>
                    <a:pt x="134" y="642"/>
                  </a:cubicBezTo>
                  <a:cubicBezTo>
                    <a:pt x="0" y="642"/>
                    <a:pt x="0" y="642"/>
                    <a:pt x="0" y="642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3" name="Oval 11">
              <a:extLst>
                <a:ext uri="{FF2B5EF4-FFF2-40B4-BE49-F238E27FC236}">
                  <a16:creationId xmlns:a16="http://schemas.microsoft.com/office/drawing/2014/main" id="{70877F96-1F23-E1FC-71E9-01EE358F60F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9282260" y="4167188"/>
              <a:ext cx="544513" cy="5461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9C8C1D9-B375-1D63-409C-0E8AA8DEE2D1}"/>
              </a:ext>
            </a:extLst>
          </p:cNvPr>
          <p:cNvGrpSpPr/>
          <p:nvPr userDrawn="1"/>
        </p:nvGrpSpPr>
        <p:grpSpPr>
          <a:xfrm>
            <a:off x="9390324" y="767096"/>
            <a:ext cx="2800087" cy="1898696"/>
            <a:chOff x="9390324" y="767096"/>
            <a:chExt cx="2800087" cy="1898696"/>
          </a:xfrm>
        </p:grpSpPr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04DB0252-2F51-9D54-5F87-47E8112037C5}"/>
                </a:ext>
              </a:extLst>
            </p:cNvPr>
            <p:cNvGrpSpPr/>
            <p:nvPr userDrawn="1"/>
          </p:nvGrpSpPr>
          <p:grpSpPr>
            <a:xfrm>
              <a:off x="9390324" y="936748"/>
              <a:ext cx="1965963" cy="1042086"/>
              <a:chOff x="4988072" y="501936"/>
              <a:chExt cx="1978802" cy="1051017"/>
            </a:xfrm>
            <a:solidFill>
              <a:schemeClr val="bg1"/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433FD598-576F-FFF0-672B-6A9B1AF51242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9016" y="501936"/>
                <a:ext cx="218094" cy="282813"/>
              </a:xfrm>
              <a:custGeom>
                <a:avLst/>
                <a:gdLst>
                  <a:gd name="T0" fmla="*/ 0 w 502"/>
                  <a:gd name="T1" fmla="*/ 550 h 651"/>
                  <a:gd name="T2" fmla="*/ 83 w 502"/>
                  <a:gd name="T3" fmla="*/ 451 h 651"/>
                  <a:gd name="T4" fmla="*/ 272 w 502"/>
                  <a:gd name="T5" fmla="*/ 528 h 651"/>
                  <a:gd name="T6" fmla="*/ 363 w 502"/>
                  <a:gd name="T7" fmla="*/ 469 h 651"/>
                  <a:gd name="T8" fmla="*/ 363 w 502"/>
                  <a:gd name="T9" fmla="*/ 467 h 651"/>
                  <a:gd name="T10" fmla="*/ 236 w 502"/>
                  <a:gd name="T11" fmla="*/ 386 h 651"/>
                  <a:gd name="T12" fmla="*/ 26 w 502"/>
                  <a:gd name="T13" fmla="*/ 192 h 651"/>
                  <a:gd name="T14" fmla="*/ 26 w 502"/>
                  <a:gd name="T15" fmla="*/ 191 h 651"/>
                  <a:gd name="T16" fmla="*/ 247 w 502"/>
                  <a:gd name="T17" fmla="*/ 0 h 651"/>
                  <a:gd name="T18" fmla="*/ 483 w 502"/>
                  <a:gd name="T19" fmla="*/ 80 h 651"/>
                  <a:gd name="T20" fmla="*/ 410 w 502"/>
                  <a:gd name="T21" fmla="*/ 185 h 651"/>
                  <a:gd name="T22" fmla="*/ 246 w 502"/>
                  <a:gd name="T23" fmla="*/ 123 h 651"/>
                  <a:gd name="T24" fmla="*/ 164 w 502"/>
                  <a:gd name="T25" fmla="*/ 178 h 651"/>
                  <a:gd name="T26" fmla="*/ 164 w 502"/>
                  <a:gd name="T27" fmla="*/ 180 h 651"/>
                  <a:gd name="T28" fmla="*/ 301 w 502"/>
                  <a:gd name="T29" fmla="*/ 263 h 651"/>
                  <a:gd name="T30" fmla="*/ 502 w 502"/>
                  <a:gd name="T31" fmla="*/ 453 h 651"/>
                  <a:gd name="T32" fmla="*/ 502 w 502"/>
                  <a:gd name="T33" fmla="*/ 455 h 651"/>
                  <a:gd name="T34" fmla="*/ 269 w 502"/>
                  <a:gd name="T35" fmla="*/ 651 h 651"/>
                  <a:gd name="T36" fmla="*/ 0 w 502"/>
                  <a:gd name="T37" fmla="*/ 550 h 6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502" h="651">
                    <a:moveTo>
                      <a:pt x="0" y="550"/>
                    </a:moveTo>
                    <a:cubicBezTo>
                      <a:pt x="83" y="451"/>
                      <a:pt x="83" y="451"/>
                      <a:pt x="83" y="451"/>
                    </a:cubicBezTo>
                    <a:cubicBezTo>
                      <a:pt x="140" y="498"/>
                      <a:pt x="200" y="528"/>
                      <a:pt x="272" y="528"/>
                    </a:cubicBezTo>
                    <a:cubicBezTo>
                      <a:pt x="329" y="528"/>
                      <a:pt x="363" y="506"/>
                      <a:pt x="363" y="469"/>
                    </a:cubicBezTo>
                    <a:cubicBezTo>
                      <a:pt x="363" y="467"/>
                      <a:pt x="363" y="467"/>
                      <a:pt x="363" y="467"/>
                    </a:cubicBezTo>
                    <a:cubicBezTo>
                      <a:pt x="363" y="431"/>
                      <a:pt x="342" y="413"/>
                      <a:pt x="236" y="386"/>
                    </a:cubicBezTo>
                    <a:cubicBezTo>
                      <a:pt x="108" y="354"/>
                      <a:pt x="26" y="318"/>
                      <a:pt x="26" y="192"/>
                    </a:cubicBezTo>
                    <a:cubicBezTo>
                      <a:pt x="26" y="191"/>
                      <a:pt x="26" y="191"/>
                      <a:pt x="26" y="191"/>
                    </a:cubicBezTo>
                    <a:cubicBezTo>
                      <a:pt x="26" y="76"/>
                      <a:pt x="118" y="0"/>
                      <a:pt x="247" y="0"/>
                    </a:cubicBezTo>
                    <a:cubicBezTo>
                      <a:pt x="340" y="0"/>
                      <a:pt x="419" y="29"/>
                      <a:pt x="483" y="80"/>
                    </a:cubicBezTo>
                    <a:cubicBezTo>
                      <a:pt x="410" y="185"/>
                      <a:pt x="410" y="185"/>
                      <a:pt x="410" y="185"/>
                    </a:cubicBezTo>
                    <a:cubicBezTo>
                      <a:pt x="354" y="146"/>
                      <a:pt x="299" y="123"/>
                      <a:pt x="246" y="123"/>
                    </a:cubicBezTo>
                    <a:cubicBezTo>
                      <a:pt x="192" y="123"/>
                      <a:pt x="164" y="147"/>
                      <a:pt x="164" y="178"/>
                    </a:cubicBezTo>
                    <a:cubicBezTo>
                      <a:pt x="164" y="180"/>
                      <a:pt x="164" y="180"/>
                      <a:pt x="164" y="180"/>
                    </a:cubicBezTo>
                    <a:cubicBezTo>
                      <a:pt x="164" y="221"/>
                      <a:pt x="191" y="235"/>
                      <a:pt x="301" y="263"/>
                    </a:cubicBezTo>
                    <a:cubicBezTo>
                      <a:pt x="429" y="297"/>
                      <a:pt x="502" y="343"/>
                      <a:pt x="502" y="453"/>
                    </a:cubicBezTo>
                    <a:cubicBezTo>
                      <a:pt x="502" y="455"/>
                      <a:pt x="502" y="455"/>
                      <a:pt x="502" y="455"/>
                    </a:cubicBezTo>
                    <a:cubicBezTo>
                      <a:pt x="502" y="581"/>
                      <a:pt x="406" y="651"/>
                      <a:pt x="269" y="651"/>
                    </a:cubicBezTo>
                    <a:cubicBezTo>
                      <a:pt x="173" y="651"/>
                      <a:pt x="76" y="618"/>
                      <a:pt x="0" y="5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824AAD10-C96C-2D4A-15C2-1D354C7C691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91295" y="566212"/>
                <a:ext cx="322264" cy="214547"/>
              </a:xfrm>
              <a:custGeom>
                <a:avLst/>
                <a:gdLst>
                  <a:gd name="T0" fmla="*/ 0 w 741"/>
                  <a:gd name="T1" fmla="*/ 9 h 494"/>
                  <a:gd name="T2" fmla="*/ 138 w 741"/>
                  <a:gd name="T3" fmla="*/ 9 h 494"/>
                  <a:gd name="T4" fmla="*/ 138 w 741"/>
                  <a:gd name="T5" fmla="*/ 78 h 494"/>
                  <a:gd name="T6" fmla="*/ 281 w 741"/>
                  <a:gd name="T7" fmla="*/ 0 h 494"/>
                  <a:gd name="T8" fmla="*/ 418 w 741"/>
                  <a:gd name="T9" fmla="*/ 77 h 494"/>
                  <a:gd name="T10" fmla="*/ 577 w 741"/>
                  <a:gd name="T11" fmla="*/ 0 h 494"/>
                  <a:gd name="T12" fmla="*/ 741 w 741"/>
                  <a:gd name="T13" fmla="*/ 178 h 494"/>
                  <a:gd name="T14" fmla="*/ 741 w 741"/>
                  <a:gd name="T15" fmla="*/ 494 h 494"/>
                  <a:gd name="T16" fmla="*/ 603 w 741"/>
                  <a:gd name="T17" fmla="*/ 494 h 494"/>
                  <a:gd name="T18" fmla="*/ 603 w 741"/>
                  <a:gd name="T19" fmla="*/ 224 h 494"/>
                  <a:gd name="T20" fmla="*/ 523 w 741"/>
                  <a:gd name="T21" fmla="*/ 125 h 494"/>
                  <a:gd name="T22" fmla="*/ 439 w 741"/>
                  <a:gd name="T23" fmla="*/ 224 h 494"/>
                  <a:gd name="T24" fmla="*/ 439 w 741"/>
                  <a:gd name="T25" fmla="*/ 494 h 494"/>
                  <a:gd name="T26" fmla="*/ 302 w 741"/>
                  <a:gd name="T27" fmla="*/ 494 h 494"/>
                  <a:gd name="T28" fmla="*/ 302 w 741"/>
                  <a:gd name="T29" fmla="*/ 224 h 494"/>
                  <a:gd name="T30" fmla="*/ 221 w 741"/>
                  <a:gd name="T31" fmla="*/ 125 h 494"/>
                  <a:gd name="T32" fmla="*/ 138 w 741"/>
                  <a:gd name="T33" fmla="*/ 224 h 494"/>
                  <a:gd name="T34" fmla="*/ 138 w 741"/>
                  <a:gd name="T35" fmla="*/ 494 h 494"/>
                  <a:gd name="T36" fmla="*/ 0 w 741"/>
                  <a:gd name="T37" fmla="*/ 494 h 494"/>
                  <a:gd name="T38" fmla="*/ 0 w 741"/>
                  <a:gd name="T39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41" h="494">
                    <a:moveTo>
                      <a:pt x="0" y="9"/>
                    </a:moveTo>
                    <a:cubicBezTo>
                      <a:pt x="138" y="9"/>
                      <a:pt x="138" y="9"/>
                      <a:pt x="138" y="9"/>
                    </a:cubicBezTo>
                    <a:cubicBezTo>
                      <a:pt x="138" y="78"/>
                      <a:pt x="138" y="78"/>
                      <a:pt x="138" y="78"/>
                    </a:cubicBezTo>
                    <a:cubicBezTo>
                      <a:pt x="170" y="37"/>
                      <a:pt x="211" y="0"/>
                      <a:pt x="281" y="0"/>
                    </a:cubicBezTo>
                    <a:cubicBezTo>
                      <a:pt x="344" y="0"/>
                      <a:pt x="392" y="28"/>
                      <a:pt x="418" y="77"/>
                    </a:cubicBezTo>
                    <a:cubicBezTo>
                      <a:pt x="460" y="27"/>
                      <a:pt x="511" y="0"/>
                      <a:pt x="577" y="0"/>
                    </a:cubicBezTo>
                    <a:cubicBezTo>
                      <a:pt x="679" y="0"/>
                      <a:pt x="741" y="62"/>
                      <a:pt x="741" y="178"/>
                    </a:cubicBezTo>
                    <a:cubicBezTo>
                      <a:pt x="741" y="494"/>
                      <a:pt x="741" y="494"/>
                      <a:pt x="741" y="494"/>
                    </a:cubicBezTo>
                    <a:cubicBezTo>
                      <a:pt x="603" y="494"/>
                      <a:pt x="603" y="494"/>
                      <a:pt x="603" y="494"/>
                    </a:cubicBezTo>
                    <a:cubicBezTo>
                      <a:pt x="603" y="224"/>
                      <a:pt x="603" y="224"/>
                      <a:pt x="603" y="224"/>
                    </a:cubicBezTo>
                    <a:cubicBezTo>
                      <a:pt x="603" y="159"/>
                      <a:pt x="574" y="125"/>
                      <a:pt x="523" y="125"/>
                    </a:cubicBezTo>
                    <a:cubicBezTo>
                      <a:pt x="471" y="125"/>
                      <a:pt x="439" y="159"/>
                      <a:pt x="439" y="224"/>
                    </a:cubicBezTo>
                    <a:cubicBezTo>
                      <a:pt x="439" y="494"/>
                      <a:pt x="439" y="494"/>
                      <a:pt x="439" y="494"/>
                    </a:cubicBezTo>
                    <a:cubicBezTo>
                      <a:pt x="302" y="494"/>
                      <a:pt x="302" y="494"/>
                      <a:pt x="302" y="494"/>
                    </a:cubicBezTo>
                    <a:cubicBezTo>
                      <a:pt x="302" y="224"/>
                      <a:pt x="302" y="224"/>
                      <a:pt x="302" y="224"/>
                    </a:cubicBezTo>
                    <a:cubicBezTo>
                      <a:pt x="302" y="159"/>
                      <a:pt x="273" y="125"/>
                      <a:pt x="221" y="125"/>
                    </a:cubicBezTo>
                    <a:cubicBezTo>
                      <a:pt x="170" y="125"/>
                      <a:pt x="138" y="159"/>
                      <a:pt x="138" y="224"/>
                    </a:cubicBezTo>
                    <a:cubicBezTo>
                      <a:pt x="138" y="494"/>
                      <a:pt x="138" y="494"/>
                      <a:pt x="138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2" name="Freeform 12">
                <a:extLst>
                  <a:ext uri="{FF2B5EF4-FFF2-40B4-BE49-F238E27FC236}">
                    <a16:creationId xmlns:a16="http://schemas.microsoft.com/office/drawing/2014/main" id="{FC0AB9F7-3D02-4537-31F6-D98B2250C9F3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4988072" y="888476"/>
                <a:ext cx="134757" cy="268628"/>
              </a:xfrm>
              <a:custGeom>
                <a:avLst/>
                <a:gdLst>
                  <a:gd name="T0" fmla="*/ 58 w 310"/>
                  <a:gd name="T1" fmla="*/ 472 h 618"/>
                  <a:gd name="T2" fmla="*/ 58 w 310"/>
                  <a:gd name="T3" fmla="*/ 242 h 618"/>
                  <a:gd name="T4" fmla="*/ 0 w 310"/>
                  <a:gd name="T5" fmla="*/ 242 h 618"/>
                  <a:gd name="T6" fmla="*/ 0 w 310"/>
                  <a:gd name="T7" fmla="*/ 124 h 618"/>
                  <a:gd name="T8" fmla="*/ 58 w 310"/>
                  <a:gd name="T9" fmla="*/ 124 h 618"/>
                  <a:gd name="T10" fmla="*/ 58 w 310"/>
                  <a:gd name="T11" fmla="*/ 0 h 618"/>
                  <a:gd name="T12" fmla="*/ 195 w 310"/>
                  <a:gd name="T13" fmla="*/ 0 h 618"/>
                  <a:gd name="T14" fmla="*/ 195 w 310"/>
                  <a:gd name="T15" fmla="*/ 124 h 618"/>
                  <a:gd name="T16" fmla="*/ 310 w 310"/>
                  <a:gd name="T17" fmla="*/ 124 h 618"/>
                  <a:gd name="T18" fmla="*/ 310 w 310"/>
                  <a:gd name="T19" fmla="*/ 242 h 618"/>
                  <a:gd name="T20" fmla="*/ 195 w 310"/>
                  <a:gd name="T21" fmla="*/ 242 h 618"/>
                  <a:gd name="T22" fmla="*/ 195 w 310"/>
                  <a:gd name="T23" fmla="*/ 449 h 618"/>
                  <a:gd name="T24" fmla="*/ 240 w 310"/>
                  <a:gd name="T25" fmla="*/ 496 h 618"/>
                  <a:gd name="T26" fmla="*/ 308 w 310"/>
                  <a:gd name="T27" fmla="*/ 479 h 618"/>
                  <a:gd name="T28" fmla="*/ 308 w 310"/>
                  <a:gd name="T29" fmla="*/ 590 h 618"/>
                  <a:gd name="T30" fmla="*/ 199 w 310"/>
                  <a:gd name="T31" fmla="*/ 618 h 618"/>
                  <a:gd name="T32" fmla="*/ 58 w 310"/>
                  <a:gd name="T33" fmla="*/ 472 h 6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10" h="618">
                    <a:moveTo>
                      <a:pt x="58" y="472"/>
                    </a:moveTo>
                    <a:cubicBezTo>
                      <a:pt x="58" y="242"/>
                      <a:pt x="58" y="242"/>
                      <a:pt x="58" y="242"/>
                    </a:cubicBezTo>
                    <a:cubicBezTo>
                      <a:pt x="0" y="242"/>
                      <a:pt x="0" y="242"/>
                      <a:pt x="0" y="242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8" y="124"/>
                      <a:pt x="58" y="124"/>
                      <a:pt x="58" y="124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195" y="0"/>
                      <a:pt x="195" y="0"/>
                      <a:pt x="195" y="0"/>
                    </a:cubicBezTo>
                    <a:cubicBezTo>
                      <a:pt x="195" y="124"/>
                      <a:pt x="195" y="124"/>
                      <a:pt x="195" y="124"/>
                    </a:cubicBezTo>
                    <a:cubicBezTo>
                      <a:pt x="310" y="124"/>
                      <a:pt x="310" y="124"/>
                      <a:pt x="310" y="124"/>
                    </a:cubicBezTo>
                    <a:cubicBezTo>
                      <a:pt x="310" y="242"/>
                      <a:pt x="310" y="242"/>
                      <a:pt x="310" y="242"/>
                    </a:cubicBezTo>
                    <a:cubicBezTo>
                      <a:pt x="195" y="242"/>
                      <a:pt x="195" y="242"/>
                      <a:pt x="195" y="242"/>
                    </a:cubicBezTo>
                    <a:cubicBezTo>
                      <a:pt x="195" y="449"/>
                      <a:pt x="195" y="449"/>
                      <a:pt x="195" y="449"/>
                    </a:cubicBezTo>
                    <a:cubicBezTo>
                      <a:pt x="195" y="481"/>
                      <a:pt x="209" y="496"/>
                      <a:pt x="240" y="496"/>
                    </a:cubicBezTo>
                    <a:cubicBezTo>
                      <a:pt x="265" y="496"/>
                      <a:pt x="288" y="490"/>
                      <a:pt x="308" y="479"/>
                    </a:cubicBezTo>
                    <a:cubicBezTo>
                      <a:pt x="308" y="590"/>
                      <a:pt x="308" y="590"/>
                      <a:pt x="308" y="590"/>
                    </a:cubicBezTo>
                    <a:cubicBezTo>
                      <a:pt x="279" y="607"/>
                      <a:pt x="245" y="618"/>
                      <a:pt x="199" y="618"/>
                    </a:cubicBezTo>
                    <a:cubicBezTo>
                      <a:pt x="115" y="618"/>
                      <a:pt x="58" y="584"/>
                      <a:pt x="58" y="47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3" name="Freeform 13">
                <a:extLst>
                  <a:ext uri="{FF2B5EF4-FFF2-40B4-BE49-F238E27FC236}">
                    <a16:creationId xmlns:a16="http://schemas.microsoft.com/office/drawing/2014/main" id="{12D11DBC-90A7-4337-F6CB-C20DBD872CBD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131251" y="938123"/>
                <a:ext cx="207455" cy="219867"/>
              </a:xfrm>
              <a:custGeom>
                <a:avLst/>
                <a:gdLst>
                  <a:gd name="T0" fmla="*/ 0 w 477"/>
                  <a:gd name="T1" fmla="*/ 254 h 505"/>
                  <a:gd name="T2" fmla="*/ 0 w 477"/>
                  <a:gd name="T3" fmla="*/ 253 h 505"/>
                  <a:gd name="T4" fmla="*/ 240 w 477"/>
                  <a:gd name="T5" fmla="*/ 0 h 505"/>
                  <a:gd name="T6" fmla="*/ 477 w 477"/>
                  <a:gd name="T7" fmla="*/ 263 h 505"/>
                  <a:gd name="T8" fmla="*/ 475 w 477"/>
                  <a:gd name="T9" fmla="*/ 300 h 505"/>
                  <a:gd name="T10" fmla="*/ 137 w 477"/>
                  <a:gd name="T11" fmla="*/ 300 h 505"/>
                  <a:gd name="T12" fmla="*/ 256 w 477"/>
                  <a:gd name="T13" fmla="*/ 395 h 505"/>
                  <a:gd name="T14" fmla="*/ 373 w 477"/>
                  <a:gd name="T15" fmla="*/ 345 h 505"/>
                  <a:gd name="T16" fmla="*/ 452 w 477"/>
                  <a:gd name="T17" fmla="*/ 415 h 505"/>
                  <a:gd name="T18" fmla="*/ 254 w 477"/>
                  <a:gd name="T19" fmla="*/ 505 h 505"/>
                  <a:gd name="T20" fmla="*/ 0 w 477"/>
                  <a:gd name="T21" fmla="*/ 254 h 505"/>
                  <a:gd name="T22" fmla="*/ 343 w 477"/>
                  <a:gd name="T23" fmla="*/ 214 h 505"/>
                  <a:gd name="T24" fmla="*/ 240 w 477"/>
                  <a:gd name="T25" fmla="*/ 111 h 505"/>
                  <a:gd name="T26" fmla="*/ 135 w 477"/>
                  <a:gd name="T27" fmla="*/ 214 h 505"/>
                  <a:gd name="T28" fmla="*/ 343 w 477"/>
                  <a:gd name="T29" fmla="*/ 21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77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99" y="0"/>
                      <a:pt x="240" y="0"/>
                    </a:cubicBezTo>
                    <a:cubicBezTo>
                      <a:pt x="402" y="0"/>
                      <a:pt x="477" y="126"/>
                      <a:pt x="477" y="263"/>
                    </a:cubicBezTo>
                    <a:cubicBezTo>
                      <a:pt x="477" y="274"/>
                      <a:pt x="476" y="287"/>
                      <a:pt x="475" y="300"/>
                    </a:cubicBezTo>
                    <a:cubicBezTo>
                      <a:pt x="137" y="300"/>
                      <a:pt x="137" y="300"/>
                      <a:pt x="137" y="300"/>
                    </a:cubicBezTo>
                    <a:cubicBezTo>
                      <a:pt x="151" y="362"/>
                      <a:pt x="194" y="395"/>
                      <a:pt x="256" y="395"/>
                    </a:cubicBezTo>
                    <a:cubicBezTo>
                      <a:pt x="302" y="395"/>
                      <a:pt x="335" y="380"/>
                      <a:pt x="373" y="345"/>
                    </a:cubicBezTo>
                    <a:cubicBezTo>
                      <a:pt x="452" y="415"/>
                      <a:pt x="452" y="415"/>
                      <a:pt x="452" y="415"/>
                    </a:cubicBezTo>
                    <a:cubicBezTo>
                      <a:pt x="407" y="471"/>
                      <a:pt x="342" y="505"/>
                      <a:pt x="254" y="505"/>
                    </a:cubicBezTo>
                    <a:cubicBezTo>
                      <a:pt x="108" y="505"/>
                      <a:pt x="0" y="403"/>
                      <a:pt x="0" y="254"/>
                    </a:cubicBezTo>
                    <a:close/>
                    <a:moveTo>
                      <a:pt x="343" y="214"/>
                    </a:moveTo>
                    <a:cubicBezTo>
                      <a:pt x="334" y="152"/>
                      <a:pt x="298" y="111"/>
                      <a:pt x="240" y="111"/>
                    </a:cubicBezTo>
                    <a:cubicBezTo>
                      <a:pt x="183" y="111"/>
                      <a:pt x="146" y="151"/>
                      <a:pt x="135" y="214"/>
                    </a:cubicBezTo>
                    <a:lnTo>
                      <a:pt x="343" y="2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4" name="Freeform 14">
                <a:extLst>
                  <a:ext uri="{FF2B5EF4-FFF2-40B4-BE49-F238E27FC236}">
                    <a16:creationId xmlns:a16="http://schemas.microsoft.com/office/drawing/2014/main" id="{F524D8E9-37C3-A27E-30E8-DF8ACF25D41F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348015" y="938123"/>
                <a:ext cx="195486" cy="219867"/>
              </a:xfrm>
              <a:custGeom>
                <a:avLst/>
                <a:gdLst>
                  <a:gd name="T0" fmla="*/ 0 w 450"/>
                  <a:gd name="T1" fmla="*/ 254 h 505"/>
                  <a:gd name="T2" fmla="*/ 0 w 450"/>
                  <a:gd name="T3" fmla="*/ 253 h 505"/>
                  <a:gd name="T4" fmla="*/ 254 w 450"/>
                  <a:gd name="T5" fmla="*/ 0 h 505"/>
                  <a:gd name="T6" fmla="*/ 448 w 450"/>
                  <a:gd name="T7" fmla="*/ 82 h 505"/>
                  <a:gd name="T8" fmla="*/ 363 w 450"/>
                  <a:gd name="T9" fmla="*/ 172 h 505"/>
                  <a:gd name="T10" fmla="*/ 253 w 450"/>
                  <a:gd name="T11" fmla="*/ 119 h 505"/>
                  <a:gd name="T12" fmla="*/ 135 w 450"/>
                  <a:gd name="T13" fmla="*/ 251 h 505"/>
                  <a:gd name="T14" fmla="*/ 135 w 450"/>
                  <a:gd name="T15" fmla="*/ 253 h 505"/>
                  <a:gd name="T16" fmla="*/ 258 w 450"/>
                  <a:gd name="T17" fmla="*/ 387 h 505"/>
                  <a:gd name="T18" fmla="*/ 370 w 450"/>
                  <a:gd name="T19" fmla="*/ 335 h 505"/>
                  <a:gd name="T20" fmla="*/ 450 w 450"/>
                  <a:gd name="T21" fmla="*/ 416 h 505"/>
                  <a:gd name="T22" fmla="*/ 252 w 450"/>
                  <a:gd name="T23" fmla="*/ 505 h 505"/>
                  <a:gd name="T24" fmla="*/ 0 w 450"/>
                  <a:gd name="T25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50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06" y="0"/>
                      <a:pt x="254" y="0"/>
                    </a:cubicBezTo>
                    <a:cubicBezTo>
                      <a:pt x="345" y="0"/>
                      <a:pt x="402" y="31"/>
                      <a:pt x="448" y="82"/>
                    </a:cubicBezTo>
                    <a:cubicBezTo>
                      <a:pt x="363" y="172"/>
                      <a:pt x="363" y="172"/>
                      <a:pt x="363" y="172"/>
                    </a:cubicBezTo>
                    <a:cubicBezTo>
                      <a:pt x="333" y="139"/>
                      <a:pt x="302" y="119"/>
                      <a:pt x="253" y="119"/>
                    </a:cubicBezTo>
                    <a:cubicBezTo>
                      <a:pt x="184" y="119"/>
                      <a:pt x="135" y="179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7"/>
                      <a:pt x="183" y="387"/>
                      <a:pt x="258" y="387"/>
                    </a:cubicBezTo>
                    <a:cubicBezTo>
                      <a:pt x="305" y="387"/>
                      <a:pt x="336" y="367"/>
                      <a:pt x="370" y="335"/>
                    </a:cubicBezTo>
                    <a:cubicBezTo>
                      <a:pt x="450" y="416"/>
                      <a:pt x="450" y="416"/>
                      <a:pt x="450" y="416"/>
                    </a:cubicBezTo>
                    <a:cubicBezTo>
                      <a:pt x="403" y="468"/>
                      <a:pt x="349" y="505"/>
                      <a:pt x="252" y="505"/>
                    </a:cubicBezTo>
                    <a:cubicBezTo>
                      <a:pt x="106" y="505"/>
                      <a:pt x="0" y="393"/>
                      <a:pt x="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5" name="Freeform 15">
                <a:extLst>
                  <a:ext uri="{FF2B5EF4-FFF2-40B4-BE49-F238E27FC236}">
                    <a16:creationId xmlns:a16="http://schemas.microsoft.com/office/drawing/2014/main" id="{083673F6-E265-4005-D62C-293234A8CE09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553254" y="866312"/>
                <a:ext cx="193270" cy="286802"/>
              </a:xfrm>
              <a:custGeom>
                <a:avLst/>
                <a:gdLst>
                  <a:gd name="T0" fmla="*/ 0 w 445"/>
                  <a:gd name="T1" fmla="*/ 0 h 660"/>
                  <a:gd name="T2" fmla="*/ 138 w 445"/>
                  <a:gd name="T3" fmla="*/ 0 h 660"/>
                  <a:gd name="T4" fmla="*/ 138 w 445"/>
                  <a:gd name="T5" fmla="*/ 244 h 660"/>
                  <a:gd name="T6" fmla="*/ 280 w 445"/>
                  <a:gd name="T7" fmla="*/ 166 h 660"/>
                  <a:gd name="T8" fmla="*/ 445 w 445"/>
                  <a:gd name="T9" fmla="*/ 346 h 660"/>
                  <a:gd name="T10" fmla="*/ 445 w 445"/>
                  <a:gd name="T11" fmla="*/ 660 h 660"/>
                  <a:gd name="T12" fmla="*/ 307 w 445"/>
                  <a:gd name="T13" fmla="*/ 660 h 660"/>
                  <a:gd name="T14" fmla="*/ 307 w 445"/>
                  <a:gd name="T15" fmla="*/ 390 h 660"/>
                  <a:gd name="T16" fmla="*/ 224 w 445"/>
                  <a:gd name="T17" fmla="*/ 291 h 660"/>
                  <a:gd name="T18" fmla="*/ 138 w 445"/>
                  <a:gd name="T19" fmla="*/ 390 h 660"/>
                  <a:gd name="T20" fmla="*/ 138 w 445"/>
                  <a:gd name="T21" fmla="*/ 660 h 660"/>
                  <a:gd name="T22" fmla="*/ 0 w 445"/>
                  <a:gd name="T23" fmla="*/ 660 h 660"/>
                  <a:gd name="T24" fmla="*/ 0 w 445"/>
                  <a:gd name="T25" fmla="*/ 0 h 6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5" h="660">
                    <a:moveTo>
                      <a:pt x="0" y="0"/>
                    </a:moveTo>
                    <a:cubicBezTo>
                      <a:pt x="138" y="0"/>
                      <a:pt x="138" y="0"/>
                      <a:pt x="138" y="0"/>
                    </a:cubicBezTo>
                    <a:cubicBezTo>
                      <a:pt x="138" y="244"/>
                      <a:pt x="138" y="244"/>
                      <a:pt x="138" y="244"/>
                    </a:cubicBezTo>
                    <a:cubicBezTo>
                      <a:pt x="169" y="203"/>
                      <a:pt x="210" y="166"/>
                      <a:pt x="280" y="166"/>
                    </a:cubicBezTo>
                    <a:cubicBezTo>
                      <a:pt x="384" y="166"/>
                      <a:pt x="445" y="235"/>
                      <a:pt x="445" y="346"/>
                    </a:cubicBezTo>
                    <a:cubicBezTo>
                      <a:pt x="445" y="660"/>
                      <a:pt x="445" y="660"/>
                      <a:pt x="445" y="660"/>
                    </a:cubicBezTo>
                    <a:cubicBezTo>
                      <a:pt x="307" y="660"/>
                      <a:pt x="307" y="660"/>
                      <a:pt x="307" y="660"/>
                    </a:cubicBezTo>
                    <a:cubicBezTo>
                      <a:pt x="307" y="390"/>
                      <a:pt x="307" y="390"/>
                      <a:pt x="307" y="390"/>
                    </a:cubicBezTo>
                    <a:cubicBezTo>
                      <a:pt x="307" y="324"/>
                      <a:pt x="276" y="291"/>
                      <a:pt x="224" y="291"/>
                    </a:cubicBezTo>
                    <a:cubicBezTo>
                      <a:pt x="171" y="291"/>
                      <a:pt x="138" y="324"/>
                      <a:pt x="138" y="390"/>
                    </a:cubicBezTo>
                    <a:cubicBezTo>
                      <a:pt x="138" y="660"/>
                      <a:pt x="138" y="660"/>
                      <a:pt x="138" y="660"/>
                    </a:cubicBezTo>
                    <a:cubicBezTo>
                      <a:pt x="0" y="660"/>
                      <a:pt x="0" y="660"/>
                      <a:pt x="0" y="660"/>
                    </a:cubicBez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6" name="Freeform 16">
                <a:extLst>
                  <a:ext uri="{FF2B5EF4-FFF2-40B4-BE49-F238E27FC236}">
                    <a16:creationId xmlns:a16="http://schemas.microsoft.com/office/drawing/2014/main" id="{4F04928C-BA06-2085-F636-A4F44FC6E98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5762039" y="938123"/>
                <a:ext cx="192827" cy="214991"/>
              </a:xfrm>
              <a:custGeom>
                <a:avLst/>
                <a:gdLst>
                  <a:gd name="T0" fmla="*/ 0 w 444"/>
                  <a:gd name="T1" fmla="*/ 9 h 494"/>
                  <a:gd name="T2" fmla="*/ 137 w 444"/>
                  <a:gd name="T3" fmla="*/ 9 h 494"/>
                  <a:gd name="T4" fmla="*/ 137 w 444"/>
                  <a:gd name="T5" fmla="*/ 78 h 494"/>
                  <a:gd name="T6" fmla="*/ 279 w 444"/>
                  <a:gd name="T7" fmla="*/ 0 h 494"/>
                  <a:gd name="T8" fmla="*/ 444 w 444"/>
                  <a:gd name="T9" fmla="*/ 180 h 494"/>
                  <a:gd name="T10" fmla="*/ 444 w 444"/>
                  <a:gd name="T11" fmla="*/ 494 h 494"/>
                  <a:gd name="T12" fmla="*/ 306 w 444"/>
                  <a:gd name="T13" fmla="*/ 494 h 494"/>
                  <a:gd name="T14" fmla="*/ 306 w 444"/>
                  <a:gd name="T15" fmla="*/ 224 h 494"/>
                  <a:gd name="T16" fmla="*/ 223 w 444"/>
                  <a:gd name="T17" fmla="*/ 125 h 494"/>
                  <a:gd name="T18" fmla="*/ 137 w 444"/>
                  <a:gd name="T19" fmla="*/ 224 h 494"/>
                  <a:gd name="T20" fmla="*/ 137 w 444"/>
                  <a:gd name="T21" fmla="*/ 494 h 494"/>
                  <a:gd name="T22" fmla="*/ 0 w 444"/>
                  <a:gd name="T23" fmla="*/ 494 h 494"/>
                  <a:gd name="T24" fmla="*/ 0 w 444"/>
                  <a:gd name="T25" fmla="*/ 9 h 4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4" h="494">
                    <a:moveTo>
                      <a:pt x="0" y="9"/>
                    </a:moveTo>
                    <a:cubicBezTo>
                      <a:pt x="137" y="9"/>
                      <a:pt x="137" y="9"/>
                      <a:pt x="137" y="9"/>
                    </a:cubicBezTo>
                    <a:cubicBezTo>
                      <a:pt x="137" y="78"/>
                      <a:pt x="137" y="78"/>
                      <a:pt x="137" y="78"/>
                    </a:cubicBezTo>
                    <a:cubicBezTo>
                      <a:pt x="169" y="37"/>
                      <a:pt x="210" y="0"/>
                      <a:pt x="279" y="0"/>
                    </a:cubicBezTo>
                    <a:cubicBezTo>
                      <a:pt x="383" y="0"/>
                      <a:pt x="444" y="69"/>
                      <a:pt x="444" y="180"/>
                    </a:cubicBezTo>
                    <a:cubicBezTo>
                      <a:pt x="444" y="494"/>
                      <a:pt x="444" y="494"/>
                      <a:pt x="444" y="494"/>
                    </a:cubicBezTo>
                    <a:cubicBezTo>
                      <a:pt x="306" y="494"/>
                      <a:pt x="306" y="494"/>
                      <a:pt x="306" y="494"/>
                    </a:cubicBezTo>
                    <a:cubicBezTo>
                      <a:pt x="306" y="224"/>
                      <a:pt x="306" y="224"/>
                      <a:pt x="306" y="224"/>
                    </a:cubicBezTo>
                    <a:cubicBezTo>
                      <a:pt x="306" y="158"/>
                      <a:pt x="276" y="125"/>
                      <a:pt x="223" y="125"/>
                    </a:cubicBezTo>
                    <a:cubicBezTo>
                      <a:pt x="171" y="125"/>
                      <a:pt x="137" y="158"/>
                      <a:pt x="137" y="224"/>
                    </a:cubicBezTo>
                    <a:cubicBezTo>
                      <a:pt x="137" y="494"/>
                      <a:pt x="137" y="494"/>
                      <a:pt x="137" y="494"/>
                    </a:cubicBezTo>
                    <a:cubicBezTo>
                      <a:pt x="0" y="494"/>
                      <a:pt x="0" y="494"/>
                      <a:pt x="0" y="494"/>
                    </a:cubicBezTo>
                    <a:lnTo>
                      <a:pt x="0" y="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7" name="Freeform 17">
                <a:extLst>
                  <a:ext uri="{FF2B5EF4-FFF2-40B4-BE49-F238E27FC236}">
                    <a16:creationId xmlns:a16="http://schemas.microsoft.com/office/drawing/2014/main" id="{0B7609F1-6889-0F3F-1078-1078D3AEDAE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5967277" y="938123"/>
                <a:ext cx="228289" cy="219867"/>
              </a:xfrm>
              <a:custGeom>
                <a:avLst/>
                <a:gdLst>
                  <a:gd name="T0" fmla="*/ 0 w 525"/>
                  <a:gd name="T1" fmla="*/ 254 h 505"/>
                  <a:gd name="T2" fmla="*/ 0 w 525"/>
                  <a:gd name="T3" fmla="*/ 253 h 505"/>
                  <a:gd name="T4" fmla="*/ 263 w 525"/>
                  <a:gd name="T5" fmla="*/ 0 h 505"/>
                  <a:gd name="T6" fmla="*/ 525 w 525"/>
                  <a:gd name="T7" fmla="*/ 251 h 505"/>
                  <a:gd name="T8" fmla="*/ 525 w 525"/>
                  <a:gd name="T9" fmla="*/ 253 h 505"/>
                  <a:gd name="T10" fmla="*/ 262 w 525"/>
                  <a:gd name="T11" fmla="*/ 505 h 505"/>
                  <a:gd name="T12" fmla="*/ 0 w 525"/>
                  <a:gd name="T13" fmla="*/ 254 h 505"/>
                  <a:gd name="T14" fmla="*/ 389 w 525"/>
                  <a:gd name="T15" fmla="*/ 254 h 505"/>
                  <a:gd name="T16" fmla="*/ 389 w 525"/>
                  <a:gd name="T17" fmla="*/ 253 h 505"/>
                  <a:gd name="T18" fmla="*/ 262 w 525"/>
                  <a:gd name="T19" fmla="*/ 119 h 505"/>
                  <a:gd name="T20" fmla="*/ 136 w 525"/>
                  <a:gd name="T21" fmla="*/ 251 h 505"/>
                  <a:gd name="T22" fmla="*/ 136 w 525"/>
                  <a:gd name="T23" fmla="*/ 253 h 505"/>
                  <a:gd name="T24" fmla="*/ 263 w 525"/>
                  <a:gd name="T25" fmla="*/ 387 h 505"/>
                  <a:gd name="T26" fmla="*/ 389 w 525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2" y="0"/>
                      <a:pt x="263" y="0"/>
                    </a:cubicBezTo>
                    <a:cubicBezTo>
                      <a:pt x="414" y="0"/>
                      <a:pt x="525" y="111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3" y="505"/>
                      <a:pt x="262" y="505"/>
                    </a:cubicBezTo>
                    <a:cubicBezTo>
                      <a:pt x="111" y="505"/>
                      <a:pt x="0" y="394"/>
                      <a:pt x="0" y="254"/>
                    </a:cubicBezTo>
                    <a:close/>
                    <a:moveTo>
                      <a:pt x="389" y="254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8" name="Rectangle 18">
                <a:extLst>
                  <a:ext uri="{FF2B5EF4-FFF2-40B4-BE49-F238E27FC236}">
                    <a16:creationId xmlns:a16="http://schemas.microsoft.com/office/drawing/2014/main" id="{14DEDB85-DF79-F93C-595F-4B0E6B36F33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207091" y="866312"/>
                <a:ext cx="59843" cy="286802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99" name="Freeform 19">
                <a:extLst>
                  <a:ext uri="{FF2B5EF4-FFF2-40B4-BE49-F238E27FC236}">
                    <a16:creationId xmlns:a16="http://schemas.microsoft.com/office/drawing/2014/main" id="{481DD98C-1DDB-14FF-BA62-46FAD00BAA8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278460" y="938123"/>
                <a:ext cx="228732" cy="219867"/>
              </a:xfrm>
              <a:custGeom>
                <a:avLst/>
                <a:gdLst>
                  <a:gd name="T0" fmla="*/ 0 w 526"/>
                  <a:gd name="T1" fmla="*/ 254 h 505"/>
                  <a:gd name="T2" fmla="*/ 0 w 526"/>
                  <a:gd name="T3" fmla="*/ 253 h 505"/>
                  <a:gd name="T4" fmla="*/ 264 w 526"/>
                  <a:gd name="T5" fmla="*/ 0 h 505"/>
                  <a:gd name="T6" fmla="*/ 526 w 526"/>
                  <a:gd name="T7" fmla="*/ 251 h 505"/>
                  <a:gd name="T8" fmla="*/ 526 w 526"/>
                  <a:gd name="T9" fmla="*/ 253 h 505"/>
                  <a:gd name="T10" fmla="*/ 262 w 526"/>
                  <a:gd name="T11" fmla="*/ 505 h 505"/>
                  <a:gd name="T12" fmla="*/ 0 w 526"/>
                  <a:gd name="T13" fmla="*/ 254 h 505"/>
                  <a:gd name="T14" fmla="*/ 390 w 526"/>
                  <a:gd name="T15" fmla="*/ 254 h 505"/>
                  <a:gd name="T16" fmla="*/ 390 w 526"/>
                  <a:gd name="T17" fmla="*/ 253 h 505"/>
                  <a:gd name="T18" fmla="*/ 262 w 526"/>
                  <a:gd name="T19" fmla="*/ 119 h 505"/>
                  <a:gd name="T20" fmla="*/ 136 w 526"/>
                  <a:gd name="T21" fmla="*/ 251 h 505"/>
                  <a:gd name="T22" fmla="*/ 136 w 526"/>
                  <a:gd name="T23" fmla="*/ 253 h 505"/>
                  <a:gd name="T24" fmla="*/ 264 w 526"/>
                  <a:gd name="T25" fmla="*/ 387 h 505"/>
                  <a:gd name="T26" fmla="*/ 390 w 526"/>
                  <a:gd name="T27" fmla="*/ 254 h 5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6" h="505">
                    <a:moveTo>
                      <a:pt x="0" y="254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3"/>
                      <a:pt x="113" y="0"/>
                      <a:pt x="264" y="0"/>
                    </a:cubicBezTo>
                    <a:cubicBezTo>
                      <a:pt x="414" y="0"/>
                      <a:pt x="526" y="111"/>
                      <a:pt x="526" y="251"/>
                    </a:cubicBezTo>
                    <a:cubicBezTo>
                      <a:pt x="526" y="253"/>
                      <a:pt x="526" y="253"/>
                      <a:pt x="526" y="253"/>
                    </a:cubicBezTo>
                    <a:cubicBezTo>
                      <a:pt x="526" y="392"/>
                      <a:pt x="413" y="505"/>
                      <a:pt x="262" y="505"/>
                    </a:cubicBezTo>
                    <a:cubicBezTo>
                      <a:pt x="112" y="505"/>
                      <a:pt x="0" y="394"/>
                      <a:pt x="0" y="254"/>
                    </a:cubicBezTo>
                    <a:close/>
                    <a:moveTo>
                      <a:pt x="390" y="254"/>
                    </a:moveTo>
                    <a:cubicBezTo>
                      <a:pt x="390" y="253"/>
                      <a:pt x="390" y="253"/>
                      <a:pt x="390" y="253"/>
                    </a:cubicBezTo>
                    <a:cubicBezTo>
                      <a:pt x="390" y="181"/>
                      <a:pt x="338" y="119"/>
                      <a:pt x="262" y="119"/>
                    </a:cubicBezTo>
                    <a:cubicBezTo>
                      <a:pt x="183" y="119"/>
                      <a:pt x="136" y="179"/>
                      <a:pt x="136" y="251"/>
                    </a:cubicBezTo>
                    <a:cubicBezTo>
                      <a:pt x="136" y="253"/>
                      <a:pt x="136" y="253"/>
                      <a:pt x="136" y="253"/>
                    </a:cubicBezTo>
                    <a:cubicBezTo>
                      <a:pt x="136" y="324"/>
                      <a:pt x="188" y="387"/>
                      <a:pt x="264" y="387"/>
                    </a:cubicBezTo>
                    <a:cubicBezTo>
                      <a:pt x="343" y="387"/>
                      <a:pt x="390" y="326"/>
                      <a:pt x="390" y="25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0" name="Freeform 20">
                <a:extLst>
                  <a:ext uri="{FF2B5EF4-FFF2-40B4-BE49-F238E27FC236}">
                    <a16:creationId xmlns:a16="http://schemas.microsoft.com/office/drawing/2014/main" id="{BDC10D2B-8240-1306-CC54-B3F0CF2378C2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16057" y="938123"/>
                <a:ext cx="221197" cy="278823"/>
              </a:xfrm>
              <a:custGeom>
                <a:avLst/>
                <a:gdLst>
                  <a:gd name="T0" fmla="*/ 24 w 509"/>
                  <a:gd name="T1" fmla="*/ 590 h 641"/>
                  <a:gd name="T2" fmla="*/ 71 w 509"/>
                  <a:gd name="T3" fmla="*/ 487 h 641"/>
                  <a:gd name="T4" fmla="*/ 235 w 509"/>
                  <a:gd name="T5" fmla="*/ 531 h 641"/>
                  <a:gd name="T6" fmla="*/ 373 w 509"/>
                  <a:gd name="T7" fmla="*/ 399 h 641"/>
                  <a:gd name="T8" fmla="*/ 373 w 509"/>
                  <a:gd name="T9" fmla="*/ 376 h 641"/>
                  <a:gd name="T10" fmla="*/ 215 w 509"/>
                  <a:gd name="T11" fmla="*/ 454 h 641"/>
                  <a:gd name="T12" fmla="*/ 0 w 509"/>
                  <a:gd name="T13" fmla="*/ 228 h 641"/>
                  <a:gd name="T14" fmla="*/ 0 w 509"/>
                  <a:gd name="T15" fmla="*/ 226 h 641"/>
                  <a:gd name="T16" fmla="*/ 215 w 509"/>
                  <a:gd name="T17" fmla="*/ 0 h 641"/>
                  <a:gd name="T18" fmla="*/ 372 w 509"/>
                  <a:gd name="T19" fmla="*/ 72 h 641"/>
                  <a:gd name="T20" fmla="*/ 372 w 509"/>
                  <a:gd name="T21" fmla="*/ 9 h 641"/>
                  <a:gd name="T22" fmla="*/ 509 w 509"/>
                  <a:gd name="T23" fmla="*/ 9 h 641"/>
                  <a:gd name="T24" fmla="*/ 509 w 509"/>
                  <a:gd name="T25" fmla="*/ 385 h 641"/>
                  <a:gd name="T26" fmla="*/ 448 w 509"/>
                  <a:gd name="T27" fmla="*/ 576 h 641"/>
                  <a:gd name="T28" fmla="*/ 239 w 509"/>
                  <a:gd name="T29" fmla="*/ 641 h 641"/>
                  <a:gd name="T30" fmla="*/ 24 w 509"/>
                  <a:gd name="T31" fmla="*/ 590 h 641"/>
                  <a:gd name="T32" fmla="*/ 373 w 509"/>
                  <a:gd name="T33" fmla="*/ 228 h 641"/>
                  <a:gd name="T34" fmla="*/ 373 w 509"/>
                  <a:gd name="T35" fmla="*/ 226 h 641"/>
                  <a:gd name="T36" fmla="*/ 255 w 509"/>
                  <a:gd name="T37" fmla="*/ 114 h 641"/>
                  <a:gd name="T38" fmla="*/ 137 w 509"/>
                  <a:gd name="T39" fmla="*/ 226 h 641"/>
                  <a:gd name="T40" fmla="*/ 137 w 509"/>
                  <a:gd name="T41" fmla="*/ 228 h 641"/>
                  <a:gd name="T42" fmla="*/ 255 w 509"/>
                  <a:gd name="T43" fmla="*/ 340 h 641"/>
                  <a:gd name="T44" fmla="*/ 373 w 509"/>
                  <a:gd name="T45" fmla="*/ 228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09" h="641">
                    <a:moveTo>
                      <a:pt x="24" y="590"/>
                    </a:moveTo>
                    <a:cubicBezTo>
                      <a:pt x="71" y="487"/>
                      <a:pt x="71" y="487"/>
                      <a:pt x="71" y="487"/>
                    </a:cubicBezTo>
                    <a:cubicBezTo>
                      <a:pt x="121" y="515"/>
                      <a:pt x="171" y="531"/>
                      <a:pt x="235" y="531"/>
                    </a:cubicBezTo>
                    <a:cubicBezTo>
                      <a:pt x="329" y="531"/>
                      <a:pt x="373" y="486"/>
                      <a:pt x="373" y="399"/>
                    </a:cubicBezTo>
                    <a:cubicBezTo>
                      <a:pt x="373" y="376"/>
                      <a:pt x="373" y="376"/>
                      <a:pt x="373" y="376"/>
                    </a:cubicBezTo>
                    <a:cubicBezTo>
                      <a:pt x="333" y="425"/>
                      <a:pt x="288" y="454"/>
                      <a:pt x="215" y="454"/>
                    </a:cubicBezTo>
                    <a:cubicBezTo>
                      <a:pt x="102" y="454"/>
                      <a:pt x="0" y="372"/>
                      <a:pt x="0" y="228"/>
                    </a:cubicBezTo>
                    <a:cubicBezTo>
                      <a:pt x="0" y="226"/>
                      <a:pt x="0" y="226"/>
                      <a:pt x="0" y="226"/>
                    </a:cubicBezTo>
                    <a:cubicBezTo>
                      <a:pt x="0" y="82"/>
                      <a:pt x="104" y="0"/>
                      <a:pt x="215" y="0"/>
                    </a:cubicBezTo>
                    <a:cubicBezTo>
                      <a:pt x="290" y="0"/>
                      <a:pt x="334" y="32"/>
                      <a:pt x="372" y="72"/>
                    </a:cubicBezTo>
                    <a:cubicBezTo>
                      <a:pt x="372" y="9"/>
                      <a:pt x="372" y="9"/>
                      <a:pt x="372" y="9"/>
                    </a:cubicBezTo>
                    <a:cubicBezTo>
                      <a:pt x="509" y="9"/>
                      <a:pt x="509" y="9"/>
                      <a:pt x="509" y="9"/>
                    </a:cubicBezTo>
                    <a:cubicBezTo>
                      <a:pt x="509" y="385"/>
                      <a:pt x="509" y="385"/>
                      <a:pt x="509" y="385"/>
                    </a:cubicBezTo>
                    <a:cubicBezTo>
                      <a:pt x="509" y="472"/>
                      <a:pt x="488" y="535"/>
                      <a:pt x="448" y="576"/>
                    </a:cubicBezTo>
                    <a:cubicBezTo>
                      <a:pt x="402" y="621"/>
                      <a:pt x="333" y="641"/>
                      <a:pt x="239" y="641"/>
                    </a:cubicBezTo>
                    <a:cubicBezTo>
                      <a:pt x="160" y="641"/>
                      <a:pt x="86" y="623"/>
                      <a:pt x="24" y="590"/>
                    </a:cubicBezTo>
                    <a:close/>
                    <a:moveTo>
                      <a:pt x="373" y="228"/>
                    </a:moveTo>
                    <a:cubicBezTo>
                      <a:pt x="373" y="226"/>
                      <a:pt x="373" y="226"/>
                      <a:pt x="373" y="226"/>
                    </a:cubicBezTo>
                    <a:cubicBezTo>
                      <a:pt x="373" y="160"/>
                      <a:pt x="322" y="114"/>
                      <a:pt x="255" y="114"/>
                    </a:cubicBezTo>
                    <a:cubicBezTo>
                      <a:pt x="188" y="114"/>
                      <a:pt x="137" y="160"/>
                      <a:pt x="137" y="226"/>
                    </a:cubicBezTo>
                    <a:cubicBezTo>
                      <a:pt x="137" y="228"/>
                      <a:pt x="137" y="228"/>
                      <a:pt x="137" y="228"/>
                    </a:cubicBezTo>
                    <a:cubicBezTo>
                      <a:pt x="137" y="295"/>
                      <a:pt x="188" y="340"/>
                      <a:pt x="255" y="340"/>
                    </a:cubicBezTo>
                    <a:cubicBezTo>
                      <a:pt x="322" y="340"/>
                      <a:pt x="373" y="294"/>
                      <a:pt x="373" y="22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1" name="Freeform 21">
                <a:extLst>
                  <a:ext uri="{FF2B5EF4-FFF2-40B4-BE49-F238E27FC236}">
                    <a16:creationId xmlns:a16="http://schemas.microsoft.com/office/drawing/2014/main" id="{A2A74FC7-B210-AC23-8BAD-A8CEF20144F7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747450" y="942113"/>
                <a:ext cx="219424" cy="275277"/>
              </a:xfrm>
              <a:custGeom>
                <a:avLst/>
                <a:gdLst>
                  <a:gd name="T0" fmla="*/ 362 w 505"/>
                  <a:gd name="T1" fmla="*/ 0 h 633"/>
                  <a:gd name="T2" fmla="*/ 505 w 505"/>
                  <a:gd name="T3" fmla="*/ 0 h 633"/>
                  <a:gd name="T4" fmla="*/ 319 w 505"/>
                  <a:gd name="T5" fmla="*/ 497 h 633"/>
                  <a:gd name="T6" fmla="*/ 159 w 505"/>
                  <a:gd name="T7" fmla="*/ 633 h 633"/>
                  <a:gd name="T8" fmla="*/ 37 w 505"/>
                  <a:gd name="T9" fmla="*/ 599 h 633"/>
                  <a:gd name="T10" fmla="*/ 83 w 505"/>
                  <a:gd name="T11" fmla="*/ 500 h 633"/>
                  <a:gd name="T12" fmla="*/ 142 w 505"/>
                  <a:gd name="T13" fmla="*/ 519 h 633"/>
                  <a:gd name="T14" fmla="*/ 190 w 505"/>
                  <a:gd name="T15" fmla="*/ 487 h 633"/>
                  <a:gd name="T16" fmla="*/ 0 w 505"/>
                  <a:gd name="T17" fmla="*/ 0 h 633"/>
                  <a:gd name="T18" fmla="*/ 146 w 505"/>
                  <a:gd name="T19" fmla="*/ 0 h 633"/>
                  <a:gd name="T20" fmla="*/ 256 w 505"/>
                  <a:gd name="T21" fmla="*/ 331 h 633"/>
                  <a:gd name="T22" fmla="*/ 362 w 505"/>
                  <a:gd name="T23" fmla="*/ 0 h 6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05" h="633">
                    <a:moveTo>
                      <a:pt x="362" y="0"/>
                    </a:moveTo>
                    <a:cubicBezTo>
                      <a:pt x="505" y="0"/>
                      <a:pt x="505" y="0"/>
                      <a:pt x="505" y="0"/>
                    </a:cubicBezTo>
                    <a:cubicBezTo>
                      <a:pt x="319" y="497"/>
                      <a:pt x="319" y="497"/>
                      <a:pt x="319" y="497"/>
                    </a:cubicBezTo>
                    <a:cubicBezTo>
                      <a:pt x="282" y="596"/>
                      <a:pt x="242" y="633"/>
                      <a:pt x="159" y="633"/>
                    </a:cubicBezTo>
                    <a:cubicBezTo>
                      <a:pt x="110" y="633"/>
                      <a:pt x="73" y="620"/>
                      <a:pt x="37" y="599"/>
                    </a:cubicBezTo>
                    <a:cubicBezTo>
                      <a:pt x="83" y="500"/>
                      <a:pt x="83" y="500"/>
                      <a:pt x="83" y="500"/>
                    </a:cubicBezTo>
                    <a:cubicBezTo>
                      <a:pt x="101" y="511"/>
                      <a:pt x="124" y="519"/>
                      <a:pt x="142" y="519"/>
                    </a:cubicBezTo>
                    <a:cubicBezTo>
                      <a:pt x="166" y="519"/>
                      <a:pt x="178" y="512"/>
                      <a:pt x="190" y="48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46" y="0"/>
                      <a:pt x="146" y="0"/>
                      <a:pt x="146" y="0"/>
                    </a:cubicBezTo>
                    <a:cubicBezTo>
                      <a:pt x="256" y="331"/>
                      <a:pt x="256" y="331"/>
                      <a:pt x="256" y="331"/>
                    </a:cubicBezTo>
                    <a:lnTo>
                      <a:pt x="36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" name="Freeform 22">
                <a:extLst>
                  <a:ext uri="{FF2B5EF4-FFF2-40B4-BE49-F238E27FC236}">
                    <a16:creationId xmlns:a16="http://schemas.microsoft.com/office/drawing/2014/main" id="{ACC82ECF-72D6-6ED9-EF73-7495DE192F95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005842" y="1258171"/>
                <a:ext cx="132541" cy="290348"/>
              </a:xfrm>
              <a:custGeom>
                <a:avLst/>
                <a:gdLst>
                  <a:gd name="T0" fmla="*/ 57 w 305"/>
                  <a:gd name="T1" fmla="*/ 299 h 667"/>
                  <a:gd name="T2" fmla="*/ 0 w 305"/>
                  <a:gd name="T3" fmla="*/ 299 h 667"/>
                  <a:gd name="T4" fmla="*/ 0 w 305"/>
                  <a:gd name="T5" fmla="*/ 186 h 667"/>
                  <a:gd name="T6" fmla="*/ 57 w 305"/>
                  <a:gd name="T7" fmla="*/ 186 h 667"/>
                  <a:gd name="T8" fmla="*/ 57 w 305"/>
                  <a:gd name="T9" fmla="*/ 155 h 667"/>
                  <a:gd name="T10" fmla="*/ 96 w 305"/>
                  <a:gd name="T11" fmla="*/ 38 h 667"/>
                  <a:gd name="T12" fmla="*/ 208 w 305"/>
                  <a:gd name="T13" fmla="*/ 0 h 667"/>
                  <a:gd name="T14" fmla="*/ 305 w 305"/>
                  <a:gd name="T15" fmla="*/ 13 h 667"/>
                  <a:gd name="T16" fmla="*/ 305 w 305"/>
                  <a:gd name="T17" fmla="*/ 127 h 667"/>
                  <a:gd name="T18" fmla="*/ 243 w 305"/>
                  <a:gd name="T19" fmla="*/ 115 h 667"/>
                  <a:gd name="T20" fmla="*/ 193 w 305"/>
                  <a:gd name="T21" fmla="*/ 168 h 667"/>
                  <a:gd name="T22" fmla="*/ 193 w 305"/>
                  <a:gd name="T23" fmla="*/ 187 h 667"/>
                  <a:gd name="T24" fmla="*/ 305 w 305"/>
                  <a:gd name="T25" fmla="*/ 187 h 667"/>
                  <a:gd name="T26" fmla="*/ 305 w 305"/>
                  <a:gd name="T27" fmla="*/ 299 h 667"/>
                  <a:gd name="T28" fmla="*/ 195 w 305"/>
                  <a:gd name="T29" fmla="*/ 299 h 667"/>
                  <a:gd name="T30" fmla="*/ 195 w 305"/>
                  <a:gd name="T31" fmla="*/ 667 h 667"/>
                  <a:gd name="T32" fmla="*/ 57 w 305"/>
                  <a:gd name="T33" fmla="*/ 667 h 667"/>
                  <a:gd name="T34" fmla="*/ 57 w 305"/>
                  <a:gd name="T35" fmla="*/ 299 h 6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05" h="667">
                    <a:moveTo>
                      <a:pt x="57" y="299"/>
                    </a:moveTo>
                    <a:cubicBezTo>
                      <a:pt x="0" y="299"/>
                      <a:pt x="0" y="299"/>
                      <a:pt x="0" y="299"/>
                    </a:cubicBezTo>
                    <a:cubicBezTo>
                      <a:pt x="0" y="186"/>
                      <a:pt x="0" y="186"/>
                      <a:pt x="0" y="186"/>
                    </a:cubicBezTo>
                    <a:cubicBezTo>
                      <a:pt x="57" y="186"/>
                      <a:pt x="57" y="186"/>
                      <a:pt x="57" y="186"/>
                    </a:cubicBezTo>
                    <a:cubicBezTo>
                      <a:pt x="57" y="155"/>
                      <a:pt x="57" y="155"/>
                      <a:pt x="57" y="155"/>
                    </a:cubicBezTo>
                    <a:cubicBezTo>
                      <a:pt x="57" y="102"/>
                      <a:pt x="71" y="63"/>
                      <a:pt x="96" y="38"/>
                    </a:cubicBezTo>
                    <a:cubicBezTo>
                      <a:pt x="122" y="12"/>
                      <a:pt x="159" y="0"/>
                      <a:pt x="208" y="0"/>
                    </a:cubicBezTo>
                    <a:cubicBezTo>
                      <a:pt x="251" y="0"/>
                      <a:pt x="280" y="5"/>
                      <a:pt x="305" y="13"/>
                    </a:cubicBezTo>
                    <a:cubicBezTo>
                      <a:pt x="305" y="127"/>
                      <a:pt x="305" y="127"/>
                      <a:pt x="305" y="127"/>
                    </a:cubicBezTo>
                    <a:cubicBezTo>
                      <a:pt x="286" y="120"/>
                      <a:pt x="267" y="115"/>
                      <a:pt x="243" y="115"/>
                    </a:cubicBezTo>
                    <a:cubicBezTo>
                      <a:pt x="211" y="115"/>
                      <a:pt x="193" y="132"/>
                      <a:pt x="193" y="168"/>
                    </a:cubicBezTo>
                    <a:cubicBezTo>
                      <a:pt x="193" y="187"/>
                      <a:pt x="193" y="187"/>
                      <a:pt x="193" y="187"/>
                    </a:cubicBezTo>
                    <a:cubicBezTo>
                      <a:pt x="305" y="187"/>
                      <a:pt x="305" y="187"/>
                      <a:pt x="305" y="187"/>
                    </a:cubicBezTo>
                    <a:cubicBezTo>
                      <a:pt x="305" y="299"/>
                      <a:pt x="305" y="299"/>
                      <a:pt x="305" y="299"/>
                    </a:cubicBezTo>
                    <a:cubicBezTo>
                      <a:pt x="195" y="299"/>
                      <a:pt x="195" y="299"/>
                      <a:pt x="195" y="299"/>
                    </a:cubicBezTo>
                    <a:cubicBezTo>
                      <a:pt x="195" y="667"/>
                      <a:pt x="195" y="667"/>
                      <a:pt x="195" y="667"/>
                    </a:cubicBezTo>
                    <a:cubicBezTo>
                      <a:pt x="57" y="667"/>
                      <a:pt x="57" y="667"/>
                      <a:pt x="57" y="667"/>
                    </a:cubicBezTo>
                    <a:lnTo>
                      <a:pt x="57" y="29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3" name="Freeform 23">
                <a:extLst>
                  <a:ext uri="{FF2B5EF4-FFF2-40B4-BE49-F238E27FC236}">
                    <a16:creationId xmlns:a16="http://schemas.microsoft.com/office/drawing/2014/main" id="{22DAB937-2E79-C195-4D0E-AD10E570DD17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137497" y="1333086"/>
                <a:ext cx="228289" cy="219867"/>
              </a:xfrm>
              <a:custGeom>
                <a:avLst/>
                <a:gdLst>
                  <a:gd name="T0" fmla="*/ 0 w 525"/>
                  <a:gd name="T1" fmla="*/ 255 h 506"/>
                  <a:gd name="T2" fmla="*/ 0 w 525"/>
                  <a:gd name="T3" fmla="*/ 253 h 506"/>
                  <a:gd name="T4" fmla="*/ 263 w 525"/>
                  <a:gd name="T5" fmla="*/ 0 h 506"/>
                  <a:gd name="T6" fmla="*/ 525 w 525"/>
                  <a:gd name="T7" fmla="*/ 251 h 506"/>
                  <a:gd name="T8" fmla="*/ 525 w 525"/>
                  <a:gd name="T9" fmla="*/ 253 h 506"/>
                  <a:gd name="T10" fmla="*/ 261 w 525"/>
                  <a:gd name="T11" fmla="*/ 506 h 506"/>
                  <a:gd name="T12" fmla="*/ 0 w 525"/>
                  <a:gd name="T13" fmla="*/ 255 h 506"/>
                  <a:gd name="T14" fmla="*/ 389 w 525"/>
                  <a:gd name="T15" fmla="*/ 255 h 506"/>
                  <a:gd name="T16" fmla="*/ 389 w 525"/>
                  <a:gd name="T17" fmla="*/ 253 h 506"/>
                  <a:gd name="T18" fmla="*/ 261 w 525"/>
                  <a:gd name="T19" fmla="*/ 119 h 506"/>
                  <a:gd name="T20" fmla="*/ 135 w 525"/>
                  <a:gd name="T21" fmla="*/ 251 h 506"/>
                  <a:gd name="T22" fmla="*/ 135 w 525"/>
                  <a:gd name="T23" fmla="*/ 253 h 506"/>
                  <a:gd name="T24" fmla="*/ 263 w 525"/>
                  <a:gd name="T25" fmla="*/ 387 h 506"/>
                  <a:gd name="T26" fmla="*/ 389 w 525"/>
                  <a:gd name="T27" fmla="*/ 255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25" h="506">
                    <a:moveTo>
                      <a:pt x="0" y="255"/>
                    </a:moveTo>
                    <a:cubicBezTo>
                      <a:pt x="0" y="253"/>
                      <a:pt x="0" y="253"/>
                      <a:pt x="0" y="253"/>
                    </a:cubicBezTo>
                    <a:cubicBezTo>
                      <a:pt x="0" y="114"/>
                      <a:pt x="112" y="0"/>
                      <a:pt x="263" y="0"/>
                    </a:cubicBezTo>
                    <a:cubicBezTo>
                      <a:pt x="413" y="0"/>
                      <a:pt x="525" y="112"/>
                      <a:pt x="525" y="251"/>
                    </a:cubicBezTo>
                    <a:cubicBezTo>
                      <a:pt x="525" y="253"/>
                      <a:pt x="525" y="253"/>
                      <a:pt x="525" y="253"/>
                    </a:cubicBezTo>
                    <a:cubicBezTo>
                      <a:pt x="525" y="392"/>
                      <a:pt x="412" y="506"/>
                      <a:pt x="261" y="506"/>
                    </a:cubicBezTo>
                    <a:cubicBezTo>
                      <a:pt x="111" y="506"/>
                      <a:pt x="0" y="394"/>
                      <a:pt x="0" y="255"/>
                    </a:cubicBezTo>
                    <a:close/>
                    <a:moveTo>
                      <a:pt x="389" y="255"/>
                    </a:moveTo>
                    <a:cubicBezTo>
                      <a:pt x="389" y="253"/>
                      <a:pt x="389" y="253"/>
                      <a:pt x="389" y="253"/>
                    </a:cubicBezTo>
                    <a:cubicBezTo>
                      <a:pt x="389" y="182"/>
                      <a:pt x="337" y="119"/>
                      <a:pt x="261" y="119"/>
                    </a:cubicBezTo>
                    <a:cubicBezTo>
                      <a:pt x="183" y="119"/>
                      <a:pt x="135" y="180"/>
                      <a:pt x="135" y="251"/>
                    </a:cubicBezTo>
                    <a:cubicBezTo>
                      <a:pt x="135" y="253"/>
                      <a:pt x="135" y="253"/>
                      <a:pt x="135" y="253"/>
                    </a:cubicBezTo>
                    <a:cubicBezTo>
                      <a:pt x="135" y="325"/>
                      <a:pt x="187" y="387"/>
                      <a:pt x="263" y="387"/>
                    </a:cubicBezTo>
                    <a:cubicBezTo>
                      <a:pt x="342" y="387"/>
                      <a:pt x="389" y="326"/>
                      <a:pt x="389" y="2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4" name="Freeform 24">
                <a:extLst>
                  <a:ext uri="{FF2B5EF4-FFF2-40B4-BE49-F238E27FC236}">
                    <a16:creationId xmlns:a16="http://schemas.microsoft.com/office/drawing/2014/main" id="{10B466F6-F9DE-C9E9-D98F-5CB17B8BE4DB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6379084" y="1331756"/>
                <a:ext cx="127665" cy="216764"/>
              </a:xfrm>
              <a:custGeom>
                <a:avLst/>
                <a:gdLst>
                  <a:gd name="T0" fmla="*/ 0 w 293"/>
                  <a:gd name="T1" fmla="*/ 13 h 498"/>
                  <a:gd name="T2" fmla="*/ 138 w 293"/>
                  <a:gd name="T3" fmla="*/ 13 h 498"/>
                  <a:gd name="T4" fmla="*/ 138 w 293"/>
                  <a:gd name="T5" fmla="*/ 110 h 498"/>
                  <a:gd name="T6" fmla="*/ 293 w 293"/>
                  <a:gd name="T7" fmla="*/ 3 h 498"/>
                  <a:gd name="T8" fmla="*/ 293 w 293"/>
                  <a:gd name="T9" fmla="*/ 147 h 498"/>
                  <a:gd name="T10" fmla="*/ 286 w 293"/>
                  <a:gd name="T11" fmla="*/ 147 h 498"/>
                  <a:gd name="T12" fmla="*/ 138 w 293"/>
                  <a:gd name="T13" fmla="*/ 318 h 498"/>
                  <a:gd name="T14" fmla="*/ 138 w 293"/>
                  <a:gd name="T15" fmla="*/ 498 h 498"/>
                  <a:gd name="T16" fmla="*/ 0 w 293"/>
                  <a:gd name="T17" fmla="*/ 498 h 498"/>
                  <a:gd name="T18" fmla="*/ 0 w 293"/>
                  <a:gd name="T19" fmla="*/ 13 h 4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93" h="498">
                    <a:moveTo>
                      <a:pt x="0" y="13"/>
                    </a:moveTo>
                    <a:cubicBezTo>
                      <a:pt x="138" y="13"/>
                      <a:pt x="138" y="13"/>
                      <a:pt x="138" y="13"/>
                    </a:cubicBezTo>
                    <a:cubicBezTo>
                      <a:pt x="138" y="110"/>
                      <a:pt x="138" y="110"/>
                      <a:pt x="138" y="110"/>
                    </a:cubicBezTo>
                    <a:cubicBezTo>
                      <a:pt x="166" y="43"/>
                      <a:pt x="211" y="0"/>
                      <a:pt x="293" y="3"/>
                    </a:cubicBezTo>
                    <a:cubicBezTo>
                      <a:pt x="293" y="147"/>
                      <a:pt x="293" y="147"/>
                      <a:pt x="293" y="147"/>
                    </a:cubicBezTo>
                    <a:cubicBezTo>
                      <a:pt x="286" y="147"/>
                      <a:pt x="286" y="147"/>
                      <a:pt x="286" y="147"/>
                    </a:cubicBezTo>
                    <a:cubicBezTo>
                      <a:pt x="194" y="147"/>
                      <a:pt x="138" y="203"/>
                      <a:pt x="138" y="318"/>
                    </a:cubicBezTo>
                    <a:cubicBezTo>
                      <a:pt x="138" y="498"/>
                      <a:pt x="138" y="498"/>
                      <a:pt x="138" y="498"/>
                    </a:cubicBezTo>
                    <a:cubicBezTo>
                      <a:pt x="0" y="498"/>
                      <a:pt x="0" y="498"/>
                      <a:pt x="0" y="498"/>
                    </a:cubicBezTo>
                    <a:lnTo>
                      <a:pt x="0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5" name="Freeform 25">
                <a:extLst>
                  <a:ext uri="{FF2B5EF4-FFF2-40B4-BE49-F238E27FC236}">
                    <a16:creationId xmlns:a16="http://schemas.microsoft.com/office/drawing/2014/main" id="{AD3E18E3-90EA-4D54-E039-6221DAC55953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6582993" y="1334859"/>
                <a:ext cx="194157" cy="217207"/>
              </a:xfrm>
              <a:custGeom>
                <a:avLst/>
                <a:gdLst>
                  <a:gd name="T0" fmla="*/ 0 w 446"/>
                  <a:gd name="T1" fmla="*/ 351 h 500"/>
                  <a:gd name="T2" fmla="*/ 0 w 446"/>
                  <a:gd name="T3" fmla="*/ 349 h 500"/>
                  <a:gd name="T4" fmla="*/ 195 w 446"/>
                  <a:gd name="T5" fmla="*/ 195 h 500"/>
                  <a:gd name="T6" fmla="*/ 314 w 446"/>
                  <a:gd name="T7" fmla="*/ 215 h 500"/>
                  <a:gd name="T8" fmla="*/ 314 w 446"/>
                  <a:gd name="T9" fmla="*/ 206 h 500"/>
                  <a:gd name="T10" fmla="*/ 210 w 446"/>
                  <a:gd name="T11" fmla="*/ 118 h 500"/>
                  <a:gd name="T12" fmla="*/ 76 w 446"/>
                  <a:gd name="T13" fmla="*/ 144 h 500"/>
                  <a:gd name="T14" fmla="*/ 42 w 446"/>
                  <a:gd name="T15" fmla="*/ 39 h 500"/>
                  <a:gd name="T16" fmla="*/ 230 w 446"/>
                  <a:gd name="T17" fmla="*/ 0 h 500"/>
                  <a:gd name="T18" fmla="*/ 394 w 446"/>
                  <a:gd name="T19" fmla="*/ 54 h 500"/>
                  <a:gd name="T20" fmla="*/ 446 w 446"/>
                  <a:gd name="T21" fmla="*/ 209 h 500"/>
                  <a:gd name="T22" fmla="*/ 446 w 446"/>
                  <a:gd name="T23" fmla="*/ 491 h 500"/>
                  <a:gd name="T24" fmla="*/ 313 w 446"/>
                  <a:gd name="T25" fmla="*/ 491 h 500"/>
                  <a:gd name="T26" fmla="*/ 313 w 446"/>
                  <a:gd name="T27" fmla="*/ 438 h 500"/>
                  <a:gd name="T28" fmla="*/ 167 w 446"/>
                  <a:gd name="T29" fmla="*/ 500 h 500"/>
                  <a:gd name="T30" fmla="*/ 0 w 446"/>
                  <a:gd name="T31" fmla="*/ 351 h 500"/>
                  <a:gd name="T32" fmla="*/ 316 w 446"/>
                  <a:gd name="T33" fmla="*/ 320 h 500"/>
                  <a:gd name="T34" fmla="*/ 316 w 446"/>
                  <a:gd name="T35" fmla="*/ 295 h 500"/>
                  <a:gd name="T36" fmla="*/ 228 w 446"/>
                  <a:gd name="T37" fmla="*/ 277 h 500"/>
                  <a:gd name="T38" fmla="*/ 133 w 446"/>
                  <a:gd name="T39" fmla="*/ 344 h 500"/>
                  <a:gd name="T40" fmla="*/ 133 w 446"/>
                  <a:gd name="T41" fmla="*/ 346 h 500"/>
                  <a:gd name="T42" fmla="*/ 208 w 446"/>
                  <a:gd name="T43" fmla="*/ 405 h 500"/>
                  <a:gd name="T44" fmla="*/ 316 w 446"/>
                  <a:gd name="T45" fmla="*/ 32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446" h="500">
                    <a:moveTo>
                      <a:pt x="0" y="351"/>
                    </a:moveTo>
                    <a:cubicBezTo>
                      <a:pt x="0" y="349"/>
                      <a:pt x="0" y="349"/>
                      <a:pt x="0" y="349"/>
                    </a:cubicBezTo>
                    <a:cubicBezTo>
                      <a:pt x="0" y="244"/>
                      <a:pt x="81" y="195"/>
                      <a:pt x="195" y="195"/>
                    </a:cubicBezTo>
                    <a:cubicBezTo>
                      <a:pt x="244" y="195"/>
                      <a:pt x="280" y="203"/>
                      <a:pt x="314" y="215"/>
                    </a:cubicBezTo>
                    <a:cubicBezTo>
                      <a:pt x="314" y="206"/>
                      <a:pt x="314" y="206"/>
                      <a:pt x="314" y="206"/>
                    </a:cubicBezTo>
                    <a:cubicBezTo>
                      <a:pt x="314" y="149"/>
                      <a:pt x="279" y="118"/>
                      <a:pt x="210" y="118"/>
                    </a:cubicBezTo>
                    <a:cubicBezTo>
                      <a:pt x="157" y="118"/>
                      <a:pt x="120" y="128"/>
                      <a:pt x="76" y="144"/>
                    </a:cubicBezTo>
                    <a:cubicBezTo>
                      <a:pt x="42" y="39"/>
                      <a:pt x="42" y="39"/>
                      <a:pt x="42" y="39"/>
                    </a:cubicBezTo>
                    <a:cubicBezTo>
                      <a:pt x="95" y="15"/>
                      <a:pt x="148" y="0"/>
                      <a:pt x="230" y="0"/>
                    </a:cubicBezTo>
                    <a:cubicBezTo>
                      <a:pt x="305" y="0"/>
                      <a:pt x="359" y="20"/>
                      <a:pt x="394" y="54"/>
                    </a:cubicBezTo>
                    <a:cubicBezTo>
                      <a:pt x="430" y="91"/>
                      <a:pt x="446" y="144"/>
                      <a:pt x="446" y="209"/>
                    </a:cubicBezTo>
                    <a:cubicBezTo>
                      <a:pt x="446" y="491"/>
                      <a:pt x="446" y="491"/>
                      <a:pt x="446" y="491"/>
                    </a:cubicBezTo>
                    <a:cubicBezTo>
                      <a:pt x="313" y="491"/>
                      <a:pt x="313" y="491"/>
                      <a:pt x="313" y="491"/>
                    </a:cubicBezTo>
                    <a:cubicBezTo>
                      <a:pt x="313" y="438"/>
                      <a:pt x="313" y="438"/>
                      <a:pt x="313" y="438"/>
                    </a:cubicBezTo>
                    <a:cubicBezTo>
                      <a:pt x="280" y="475"/>
                      <a:pt x="234" y="500"/>
                      <a:pt x="167" y="500"/>
                    </a:cubicBezTo>
                    <a:cubicBezTo>
                      <a:pt x="75" y="500"/>
                      <a:pt x="0" y="447"/>
                      <a:pt x="0" y="351"/>
                    </a:cubicBezTo>
                    <a:close/>
                    <a:moveTo>
                      <a:pt x="316" y="320"/>
                    </a:moveTo>
                    <a:cubicBezTo>
                      <a:pt x="316" y="295"/>
                      <a:pt x="316" y="295"/>
                      <a:pt x="316" y="295"/>
                    </a:cubicBezTo>
                    <a:cubicBezTo>
                      <a:pt x="292" y="284"/>
                      <a:pt x="262" y="277"/>
                      <a:pt x="228" y="277"/>
                    </a:cubicBezTo>
                    <a:cubicBezTo>
                      <a:pt x="169" y="277"/>
                      <a:pt x="133" y="301"/>
                      <a:pt x="133" y="344"/>
                    </a:cubicBezTo>
                    <a:cubicBezTo>
                      <a:pt x="133" y="346"/>
                      <a:pt x="133" y="346"/>
                      <a:pt x="133" y="346"/>
                    </a:cubicBezTo>
                    <a:cubicBezTo>
                      <a:pt x="133" y="383"/>
                      <a:pt x="164" y="405"/>
                      <a:pt x="208" y="405"/>
                    </a:cubicBezTo>
                    <a:cubicBezTo>
                      <a:pt x="272" y="405"/>
                      <a:pt x="316" y="369"/>
                      <a:pt x="316" y="3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6" name="Rectangle 26">
                <a:extLst>
                  <a:ext uri="{FF2B5EF4-FFF2-40B4-BE49-F238E27FC236}">
                    <a16:creationId xmlns:a16="http://schemas.microsoft.com/office/drawing/2014/main" id="{144E16EA-4F3F-420C-5D8D-753A1E9F0B1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01973" y="1260831"/>
                <a:ext cx="59843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7" name="Rectangle 27">
                <a:extLst>
                  <a:ext uri="{FF2B5EF4-FFF2-40B4-BE49-F238E27FC236}">
                    <a16:creationId xmlns:a16="http://schemas.microsoft.com/office/drawing/2014/main" id="{E009FD22-AB72-D26D-205F-29DF66B5BFF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6886639" y="1260831"/>
                <a:ext cx="59399" cy="28768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FB305569-AB33-7799-ED76-68F103CE5B8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556230" y="767096"/>
              <a:ext cx="634181" cy="18986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C4D5431-76CB-4561-B2E0-664C3E75E88C}"/>
                </a:ext>
              </a:extLst>
            </p:cNvPr>
            <p:cNvGrpSpPr/>
            <p:nvPr userDrawn="1"/>
          </p:nvGrpSpPr>
          <p:grpSpPr>
            <a:xfrm>
              <a:off x="11701122" y="936748"/>
              <a:ext cx="321494" cy="1552800"/>
              <a:chOff x="7313961" y="501936"/>
              <a:chExt cx="323594" cy="1566108"/>
            </a:xfrm>
          </p:grpSpPr>
          <p:sp>
            <p:nvSpPr>
              <p:cNvPr id="79" name="Freeform 29">
                <a:extLst>
                  <a:ext uri="{FF2B5EF4-FFF2-40B4-BE49-F238E27FC236}">
                    <a16:creationId xmlns:a16="http://schemas.microsoft.com/office/drawing/2014/main" id="{9EB7EA56-59D4-7E58-E9A3-5C4585DF00FE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3556" y="1311808"/>
                <a:ext cx="249567" cy="247350"/>
              </a:xfrm>
              <a:custGeom>
                <a:avLst/>
                <a:gdLst>
                  <a:gd name="T0" fmla="*/ 0 w 574"/>
                  <a:gd name="T1" fmla="*/ 229 h 569"/>
                  <a:gd name="T2" fmla="*/ 90 w 574"/>
                  <a:gd name="T3" fmla="*/ 413 h 569"/>
                  <a:gd name="T4" fmla="*/ 90 w 574"/>
                  <a:gd name="T5" fmla="*/ 413 h 569"/>
                  <a:gd name="T6" fmla="*/ 90 w 574"/>
                  <a:gd name="T7" fmla="*/ 413 h 569"/>
                  <a:gd name="T8" fmla="*/ 9 w 574"/>
                  <a:gd name="T9" fmla="*/ 413 h 569"/>
                  <a:gd name="T10" fmla="*/ 9 w 574"/>
                  <a:gd name="T11" fmla="*/ 569 h 569"/>
                  <a:gd name="T12" fmla="*/ 574 w 574"/>
                  <a:gd name="T13" fmla="*/ 569 h 569"/>
                  <a:gd name="T14" fmla="*/ 574 w 574"/>
                  <a:gd name="T15" fmla="*/ 413 h 569"/>
                  <a:gd name="T16" fmla="*/ 253 w 574"/>
                  <a:gd name="T17" fmla="*/ 413 h 569"/>
                  <a:gd name="T18" fmla="*/ 133 w 574"/>
                  <a:gd name="T19" fmla="*/ 286 h 569"/>
                  <a:gd name="T20" fmla="*/ 253 w 574"/>
                  <a:gd name="T21" fmla="*/ 155 h 569"/>
                  <a:gd name="T22" fmla="*/ 574 w 574"/>
                  <a:gd name="T23" fmla="*/ 155 h 569"/>
                  <a:gd name="T24" fmla="*/ 574 w 574"/>
                  <a:gd name="T25" fmla="*/ 0 h 569"/>
                  <a:gd name="T26" fmla="*/ 224 w 574"/>
                  <a:gd name="T27" fmla="*/ 0 h 569"/>
                  <a:gd name="T28" fmla="*/ 0 w 574"/>
                  <a:gd name="T29" fmla="*/ 229 h 5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74" h="569">
                    <a:moveTo>
                      <a:pt x="0" y="229"/>
                    </a:moveTo>
                    <a:cubicBezTo>
                      <a:pt x="0" y="294"/>
                      <a:pt x="30" y="368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0" y="413"/>
                      <a:pt x="90" y="413"/>
                      <a:pt x="90" y="413"/>
                    </a:cubicBezTo>
                    <a:cubicBezTo>
                      <a:pt x="9" y="413"/>
                      <a:pt x="9" y="413"/>
                      <a:pt x="9" y="413"/>
                    </a:cubicBezTo>
                    <a:cubicBezTo>
                      <a:pt x="9" y="569"/>
                      <a:pt x="9" y="569"/>
                      <a:pt x="9" y="569"/>
                    </a:cubicBezTo>
                    <a:cubicBezTo>
                      <a:pt x="574" y="569"/>
                      <a:pt x="574" y="569"/>
                      <a:pt x="574" y="569"/>
                    </a:cubicBezTo>
                    <a:cubicBezTo>
                      <a:pt x="574" y="413"/>
                      <a:pt x="574" y="413"/>
                      <a:pt x="574" y="413"/>
                    </a:cubicBezTo>
                    <a:cubicBezTo>
                      <a:pt x="253" y="413"/>
                      <a:pt x="253" y="413"/>
                      <a:pt x="253" y="413"/>
                    </a:cubicBezTo>
                    <a:cubicBezTo>
                      <a:pt x="195" y="413"/>
                      <a:pt x="133" y="369"/>
                      <a:pt x="133" y="286"/>
                    </a:cubicBezTo>
                    <a:cubicBezTo>
                      <a:pt x="133" y="221"/>
                      <a:pt x="178" y="155"/>
                      <a:pt x="253" y="155"/>
                    </a:cubicBezTo>
                    <a:cubicBezTo>
                      <a:pt x="574" y="155"/>
                      <a:pt x="574" y="155"/>
                      <a:pt x="574" y="155"/>
                    </a:cubicBezTo>
                    <a:cubicBezTo>
                      <a:pt x="574" y="0"/>
                      <a:pt x="574" y="0"/>
                      <a:pt x="574" y="0"/>
                    </a:cubicBezTo>
                    <a:cubicBezTo>
                      <a:pt x="224" y="0"/>
                      <a:pt x="224" y="0"/>
                      <a:pt x="224" y="0"/>
                    </a:cubicBezTo>
                    <a:cubicBezTo>
                      <a:pt x="94" y="0"/>
                      <a:pt x="0" y="93"/>
                      <a:pt x="0" y="22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0" name="Freeform 30">
                <a:extLst>
                  <a:ext uri="{FF2B5EF4-FFF2-40B4-BE49-F238E27FC236}">
                    <a16:creationId xmlns:a16="http://schemas.microsoft.com/office/drawing/2014/main" id="{93B05BBE-DBEC-684B-B012-F63384131C10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87546" y="755049"/>
                <a:ext cx="245577" cy="276163"/>
              </a:xfrm>
              <a:custGeom>
                <a:avLst/>
                <a:gdLst>
                  <a:gd name="T0" fmla="*/ 0 w 554"/>
                  <a:gd name="T1" fmla="*/ 174 h 623"/>
                  <a:gd name="T2" fmla="*/ 377 w 554"/>
                  <a:gd name="T3" fmla="*/ 311 h 623"/>
                  <a:gd name="T4" fmla="*/ 0 w 554"/>
                  <a:gd name="T5" fmla="*/ 450 h 623"/>
                  <a:gd name="T6" fmla="*/ 0 w 554"/>
                  <a:gd name="T7" fmla="*/ 623 h 623"/>
                  <a:gd name="T8" fmla="*/ 554 w 554"/>
                  <a:gd name="T9" fmla="*/ 395 h 623"/>
                  <a:gd name="T10" fmla="*/ 554 w 554"/>
                  <a:gd name="T11" fmla="*/ 228 h 623"/>
                  <a:gd name="T12" fmla="*/ 0 w 554"/>
                  <a:gd name="T13" fmla="*/ 0 h 623"/>
                  <a:gd name="T14" fmla="*/ 0 w 554"/>
                  <a:gd name="T15" fmla="*/ 174 h 6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554" h="623">
                    <a:moveTo>
                      <a:pt x="0" y="174"/>
                    </a:moveTo>
                    <a:lnTo>
                      <a:pt x="377" y="311"/>
                    </a:lnTo>
                    <a:lnTo>
                      <a:pt x="0" y="450"/>
                    </a:lnTo>
                    <a:lnTo>
                      <a:pt x="0" y="623"/>
                    </a:lnTo>
                    <a:lnTo>
                      <a:pt x="554" y="395"/>
                    </a:lnTo>
                    <a:lnTo>
                      <a:pt x="554" y="228"/>
                    </a:lnTo>
                    <a:lnTo>
                      <a:pt x="0" y="0"/>
                    </a:lnTo>
                    <a:lnTo>
                      <a:pt x="0" y="17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1" name="Freeform 31">
                <a:extLst>
                  <a:ext uri="{FF2B5EF4-FFF2-40B4-BE49-F238E27FC236}">
                    <a16:creationId xmlns:a16="http://schemas.microsoft.com/office/drawing/2014/main" id="{972F0292-22E7-DDB2-79F6-6703AF74768F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583096"/>
                <a:ext cx="253999" cy="256659"/>
              </a:xfrm>
              <a:custGeom>
                <a:avLst/>
                <a:gdLst>
                  <a:gd name="T0" fmla="*/ 401 w 584"/>
                  <a:gd name="T1" fmla="*/ 110 h 590"/>
                  <a:gd name="T2" fmla="*/ 460 w 584"/>
                  <a:gd name="T3" fmla="*/ 272 h 590"/>
                  <a:gd name="T4" fmla="*/ 415 w 584"/>
                  <a:gd name="T5" fmla="*/ 397 h 590"/>
                  <a:gd name="T6" fmla="*/ 250 w 584"/>
                  <a:gd name="T7" fmla="*/ 0 h 590"/>
                  <a:gd name="T8" fmla="*/ 92 w 584"/>
                  <a:gd name="T9" fmla="*/ 68 h 590"/>
                  <a:gd name="T10" fmla="*/ 0 w 584"/>
                  <a:gd name="T11" fmla="*/ 291 h 590"/>
                  <a:gd name="T12" fmla="*/ 292 w 584"/>
                  <a:gd name="T13" fmla="*/ 590 h 590"/>
                  <a:gd name="T14" fmla="*/ 584 w 584"/>
                  <a:gd name="T15" fmla="*/ 274 h 590"/>
                  <a:gd name="T16" fmla="*/ 476 w 584"/>
                  <a:gd name="T17" fmla="*/ 12 h 590"/>
                  <a:gd name="T18" fmla="*/ 401 w 584"/>
                  <a:gd name="T19" fmla="*/ 110 h 590"/>
                  <a:gd name="T20" fmla="*/ 179 w 584"/>
                  <a:gd name="T21" fmla="*/ 408 h 590"/>
                  <a:gd name="T22" fmla="*/ 123 w 584"/>
                  <a:gd name="T23" fmla="*/ 288 h 590"/>
                  <a:gd name="T24" fmla="*/ 202 w 584"/>
                  <a:gd name="T25" fmla="*/ 168 h 590"/>
                  <a:gd name="T26" fmla="*/ 315 w 584"/>
                  <a:gd name="T27" fmla="*/ 439 h 590"/>
                  <a:gd name="T28" fmla="*/ 179 w 584"/>
                  <a:gd name="T29" fmla="*/ 408 h 5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584" h="590">
                    <a:moveTo>
                      <a:pt x="401" y="110"/>
                    </a:moveTo>
                    <a:cubicBezTo>
                      <a:pt x="449" y="175"/>
                      <a:pt x="460" y="212"/>
                      <a:pt x="460" y="272"/>
                    </a:cubicBezTo>
                    <a:cubicBezTo>
                      <a:pt x="460" y="325"/>
                      <a:pt x="444" y="367"/>
                      <a:pt x="415" y="397"/>
                    </a:cubicBezTo>
                    <a:cubicBezTo>
                      <a:pt x="250" y="0"/>
                      <a:pt x="250" y="0"/>
                      <a:pt x="250" y="0"/>
                    </a:cubicBezTo>
                    <a:cubicBezTo>
                      <a:pt x="189" y="9"/>
                      <a:pt x="134" y="32"/>
                      <a:pt x="92" y="68"/>
                    </a:cubicBezTo>
                    <a:cubicBezTo>
                      <a:pt x="32" y="120"/>
                      <a:pt x="0" y="197"/>
                      <a:pt x="0" y="291"/>
                    </a:cubicBezTo>
                    <a:cubicBezTo>
                      <a:pt x="0" y="462"/>
                      <a:pt x="126" y="590"/>
                      <a:pt x="292" y="590"/>
                    </a:cubicBezTo>
                    <a:cubicBezTo>
                      <a:pt x="462" y="590"/>
                      <a:pt x="584" y="462"/>
                      <a:pt x="584" y="274"/>
                    </a:cubicBezTo>
                    <a:cubicBezTo>
                      <a:pt x="584" y="169"/>
                      <a:pt x="534" y="62"/>
                      <a:pt x="476" y="12"/>
                    </a:cubicBezTo>
                    <a:lnTo>
                      <a:pt x="401" y="110"/>
                    </a:lnTo>
                    <a:close/>
                    <a:moveTo>
                      <a:pt x="179" y="408"/>
                    </a:moveTo>
                    <a:cubicBezTo>
                      <a:pt x="144" y="381"/>
                      <a:pt x="123" y="339"/>
                      <a:pt x="123" y="288"/>
                    </a:cubicBezTo>
                    <a:cubicBezTo>
                      <a:pt x="123" y="232"/>
                      <a:pt x="155" y="190"/>
                      <a:pt x="202" y="168"/>
                    </a:cubicBezTo>
                    <a:cubicBezTo>
                      <a:pt x="315" y="439"/>
                      <a:pt x="315" y="439"/>
                      <a:pt x="315" y="439"/>
                    </a:cubicBezTo>
                    <a:cubicBezTo>
                      <a:pt x="257" y="447"/>
                      <a:pt x="212" y="432"/>
                      <a:pt x="179" y="40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2" name="Freeform 32">
                <a:extLst>
                  <a:ext uri="{FF2B5EF4-FFF2-40B4-BE49-F238E27FC236}">
                    <a16:creationId xmlns:a16="http://schemas.microsoft.com/office/drawing/2014/main" id="{8FB3E4DF-D685-E83E-C831-3D30D6486411}"/>
                  </a:ext>
                </a:extLst>
              </p:cNvPr>
              <p:cNvSpPr>
                <a:spLocks/>
              </p:cNvSpPr>
              <p:nvPr userDrawn="1"/>
            </p:nvSpPr>
            <p:spPr bwMode="auto">
              <a:xfrm>
                <a:off x="7313961" y="1846404"/>
                <a:ext cx="319161" cy="221640"/>
              </a:xfrm>
              <a:custGeom>
                <a:avLst/>
                <a:gdLst>
                  <a:gd name="T0" fmla="*/ 580 w 720"/>
                  <a:gd name="T1" fmla="*/ 0 h 500"/>
                  <a:gd name="T2" fmla="*/ 580 w 720"/>
                  <a:gd name="T3" fmla="*/ 346 h 500"/>
                  <a:gd name="T4" fmla="*/ 0 w 720"/>
                  <a:gd name="T5" fmla="*/ 346 h 500"/>
                  <a:gd name="T6" fmla="*/ 0 w 720"/>
                  <a:gd name="T7" fmla="*/ 500 h 500"/>
                  <a:gd name="T8" fmla="*/ 720 w 720"/>
                  <a:gd name="T9" fmla="*/ 500 h 500"/>
                  <a:gd name="T10" fmla="*/ 720 w 720"/>
                  <a:gd name="T11" fmla="*/ 0 h 500"/>
                  <a:gd name="T12" fmla="*/ 580 w 720"/>
                  <a:gd name="T13" fmla="*/ 0 h 5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0" h="500">
                    <a:moveTo>
                      <a:pt x="580" y="0"/>
                    </a:moveTo>
                    <a:lnTo>
                      <a:pt x="580" y="346"/>
                    </a:lnTo>
                    <a:lnTo>
                      <a:pt x="0" y="346"/>
                    </a:lnTo>
                    <a:lnTo>
                      <a:pt x="0" y="500"/>
                    </a:lnTo>
                    <a:lnTo>
                      <a:pt x="720" y="500"/>
                    </a:lnTo>
                    <a:lnTo>
                      <a:pt x="720" y="0"/>
                    </a:lnTo>
                    <a:lnTo>
                      <a:pt x="58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3" name="Freeform 33">
                <a:extLst>
                  <a:ext uri="{FF2B5EF4-FFF2-40B4-BE49-F238E27FC236}">
                    <a16:creationId xmlns:a16="http://schemas.microsoft.com/office/drawing/2014/main" id="{7E51460F-8A6D-E455-ADF5-BF3600A7DAC9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501936"/>
                <a:ext cx="253999" cy="263752"/>
              </a:xfrm>
              <a:custGeom>
                <a:avLst/>
                <a:gdLst>
                  <a:gd name="T0" fmla="*/ 584 w 584"/>
                  <a:gd name="T1" fmla="*/ 304 h 607"/>
                  <a:gd name="T2" fmla="*/ 292 w 584"/>
                  <a:gd name="T3" fmla="*/ 607 h 607"/>
                  <a:gd name="T4" fmla="*/ 0 w 584"/>
                  <a:gd name="T5" fmla="*/ 302 h 607"/>
                  <a:gd name="T6" fmla="*/ 292 w 584"/>
                  <a:gd name="T7" fmla="*/ 0 h 607"/>
                  <a:gd name="T8" fmla="*/ 584 w 584"/>
                  <a:gd name="T9" fmla="*/ 304 h 607"/>
                  <a:gd name="T10" fmla="*/ 133 w 584"/>
                  <a:gd name="T11" fmla="*/ 304 h 607"/>
                  <a:gd name="T12" fmla="*/ 292 w 584"/>
                  <a:gd name="T13" fmla="*/ 454 h 607"/>
                  <a:gd name="T14" fmla="*/ 451 w 584"/>
                  <a:gd name="T15" fmla="*/ 302 h 607"/>
                  <a:gd name="T16" fmla="*/ 292 w 584"/>
                  <a:gd name="T17" fmla="*/ 153 h 607"/>
                  <a:gd name="T18" fmla="*/ 133 w 584"/>
                  <a:gd name="T19" fmla="*/ 304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4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3"/>
                      <a:pt x="0" y="302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3"/>
                      <a:pt x="584" y="304"/>
                    </a:cubicBezTo>
                    <a:moveTo>
                      <a:pt x="133" y="304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7"/>
                      <a:pt x="451" y="302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19"/>
                      <a:pt x="133" y="30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84" name="Freeform 34">
                <a:extLst>
                  <a:ext uri="{FF2B5EF4-FFF2-40B4-BE49-F238E27FC236}">
                    <a16:creationId xmlns:a16="http://schemas.microsoft.com/office/drawing/2014/main" id="{9296505E-2DA9-07F7-31C5-6D802244B0F4}"/>
                  </a:ext>
                </a:extLst>
              </p:cNvPr>
              <p:cNvSpPr>
                <a:spLocks noEditPoints="1"/>
              </p:cNvSpPr>
              <p:nvPr userDrawn="1"/>
            </p:nvSpPr>
            <p:spPr bwMode="auto">
              <a:xfrm>
                <a:off x="7383556" y="1021017"/>
                <a:ext cx="253999" cy="263752"/>
              </a:xfrm>
              <a:custGeom>
                <a:avLst/>
                <a:gdLst>
                  <a:gd name="T0" fmla="*/ 584 w 584"/>
                  <a:gd name="T1" fmla="*/ 305 h 607"/>
                  <a:gd name="T2" fmla="*/ 292 w 584"/>
                  <a:gd name="T3" fmla="*/ 607 h 607"/>
                  <a:gd name="T4" fmla="*/ 0 w 584"/>
                  <a:gd name="T5" fmla="*/ 303 h 607"/>
                  <a:gd name="T6" fmla="*/ 292 w 584"/>
                  <a:gd name="T7" fmla="*/ 0 h 607"/>
                  <a:gd name="T8" fmla="*/ 584 w 584"/>
                  <a:gd name="T9" fmla="*/ 305 h 607"/>
                  <a:gd name="T10" fmla="*/ 133 w 584"/>
                  <a:gd name="T11" fmla="*/ 305 h 607"/>
                  <a:gd name="T12" fmla="*/ 292 w 584"/>
                  <a:gd name="T13" fmla="*/ 454 h 607"/>
                  <a:gd name="T14" fmla="*/ 451 w 584"/>
                  <a:gd name="T15" fmla="*/ 303 h 607"/>
                  <a:gd name="T16" fmla="*/ 292 w 584"/>
                  <a:gd name="T17" fmla="*/ 153 h 607"/>
                  <a:gd name="T18" fmla="*/ 133 w 584"/>
                  <a:gd name="T19" fmla="*/ 305 h 6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84" h="607">
                    <a:moveTo>
                      <a:pt x="584" y="305"/>
                    </a:moveTo>
                    <a:cubicBezTo>
                      <a:pt x="584" y="474"/>
                      <a:pt x="457" y="607"/>
                      <a:pt x="292" y="607"/>
                    </a:cubicBezTo>
                    <a:cubicBezTo>
                      <a:pt x="128" y="607"/>
                      <a:pt x="0" y="474"/>
                      <a:pt x="0" y="303"/>
                    </a:cubicBezTo>
                    <a:cubicBezTo>
                      <a:pt x="0" y="133"/>
                      <a:pt x="126" y="0"/>
                      <a:pt x="292" y="0"/>
                    </a:cubicBezTo>
                    <a:cubicBezTo>
                      <a:pt x="455" y="0"/>
                      <a:pt x="584" y="134"/>
                      <a:pt x="584" y="305"/>
                    </a:cubicBezTo>
                    <a:moveTo>
                      <a:pt x="133" y="305"/>
                    </a:moveTo>
                    <a:cubicBezTo>
                      <a:pt x="133" y="391"/>
                      <a:pt x="198" y="454"/>
                      <a:pt x="292" y="454"/>
                    </a:cubicBezTo>
                    <a:cubicBezTo>
                      <a:pt x="381" y="454"/>
                      <a:pt x="451" y="388"/>
                      <a:pt x="451" y="303"/>
                    </a:cubicBezTo>
                    <a:cubicBezTo>
                      <a:pt x="451" y="216"/>
                      <a:pt x="383" y="153"/>
                      <a:pt x="292" y="153"/>
                    </a:cubicBezTo>
                    <a:cubicBezTo>
                      <a:pt x="203" y="153"/>
                      <a:pt x="133" y="220"/>
                      <a:pt x="133" y="30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03841584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669529" y="6400800"/>
            <a:ext cx="438912" cy="15544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27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750" r:id="rId2"/>
    <p:sldLayoutId id="2147483723" r:id="rId3"/>
    <p:sldLayoutId id="2147483751" r:id="rId4"/>
    <p:sldLayoutId id="2147483670" r:id="rId5"/>
    <p:sldLayoutId id="2147483752" r:id="rId6"/>
    <p:sldLayoutId id="2147483740" r:id="rId7"/>
    <p:sldLayoutId id="2147483753" r:id="rId8"/>
    <p:sldLayoutId id="2147483654" r:id="rId9"/>
    <p:sldLayoutId id="2147483725" r:id="rId10"/>
    <p:sldLayoutId id="2147483738" r:id="rId11"/>
    <p:sldLayoutId id="2147483739" r:id="rId12"/>
    <p:sldLayoutId id="2147483661" r:id="rId13"/>
    <p:sldLayoutId id="2147483726" r:id="rId14"/>
    <p:sldLayoutId id="2147483673" r:id="rId15"/>
    <p:sldLayoutId id="2147483727" r:id="rId16"/>
    <p:sldLayoutId id="2147483662" r:id="rId17"/>
    <p:sldLayoutId id="2147483728" r:id="rId18"/>
    <p:sldLayoutId id="2147483736" r:id="rId19"/>
    <p:sldLayoutId id="2147483737" r:id="rId20"/>
    <p:sldLayoutId id="2147483691" r:id="rId21"/>
    <p:sldLayoutId id="2147483729" r:id="rId22"/>
    <p:sldLayoutId id="2147483755" r:id="rId23"/>
    <p:sldLayoutId id="2147483749" r:id="rId24"/>
    <p:sldLayoutId id="2147483756" r:id="rId25"/>
    <p:sldLayoutId id="2147483711" r:id="rId26"/>
    <p:sldLayoutId id="2147483731" r:id="rId27"/>
    <p:sldLayoutId id="2147483746" r:id="rId28"/>
    <p:sldLayoutId id="2147483722" r:id="rId29"/>
    <p:sldLayoutId id="2147483732" r:id="rId30"/>
    <p:sldLayoutId id="2147483657" r:id="rId31"/>
    <p:sldLayoutId id="2147483733" r:id="rId32"/>
    <p:sldLayoutId id="2147483659" r:id="rId33"/>
    <p:sldLayoutId id="2147483734" r:id="rId34"/>
    <p:sldLayoutId id="2147483748" r:id="rId35"/>
    <p:sldLayoutId id="2147483747" r:id="rId36"/>
  </p:sldLayoutIdLst>
  <p:transition spd="med"/>
  <p:hf hdr="0" ftr="0" dt="0"/>
  <p:txStyles>
    <p:titleStyle>
      <a:lvl1pPr algn="ctr" defTabSz="1218987" rtl="0" eaLnBrk="1" latinLnBrk="0" hangingPunct="1">
        <a:spcBef>
          <a:spcPct val="0"/>
        </a:spcBef>
        <a:buNone/>
        <a:defRPr sz="4300" kern="1200" cap="all" baseline="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990427" indent="-380933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523733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2133227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742720" indent="-304747" algn="l" defTabSz="1218987" rtl="0" eaLnBrk="1" latinLnBrk="0" hangingPunct="1">
        <a:spcBef>
          <a:spcPct val="20000"/>
        </a:spcBef>
        <a:buClrTx/>
        <a:buFont typeface="Arial" panose="020B0604020202020204" pitchFamily="34" charset="0"/>
        <a:buChar char="-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0" userDrawn="1">
          <p15:clr>
            <a:srgbClr val="F26B43"/>
          </p15:clr>
        </p15:guide>
        <p15:guide id="2" pos="6719" userDrawn="1">
          <p15:clr>
            <a:srgbClr val="F26B43"/>
          </p15:clr>
        </p15:guide>
        <p15:guide id="3" orient="horz" pos="2880" userDrawn="1">
          <p15:clr>
            <a:srgbClr val="F26B43"/>
          </p15:clr>
        </p15:guide>
        <p15:guide id="4" pos="3839" userDrawn="1">
          <p15:clr>
            <a:srgbClr val="F26B43"/>
          </p15:clr>
        </p15:guide>
        <p15:guide id="5" pos="5279" userDrawn="1">
          <p15:clr>
            <a:srgbClr val="F26B43"/>
          </p15:clr>
        </p15:guide>
        <p15:guide id="6" pos="2399" userDrawn="1">
          <p15:clr>
            <a:srgbClr val="F26B43"/>
          </p15:clr>
        </p15:guide>
        <p15:guide id="7" pos="959" userDrawn="1">
          <p15:clr>
            <a:srgbClr val="F26B43"/>
          </p15:clr>
        </p15:guide>
        <p15:guide id="8" pos="7199" userDrawn="1">
          <p15:clr>
            <a:srgbClr val="FDE53C"/>
          </p15:clr>
        </p15:guide>
        <p15:guide id="9" pos="6239" userDrawn="1">
          <p15:clr>
            <a:srgbClr val="FDE53C"/>
          </p15:clr>
        </p15:guide>
        <p15:guide id="10" pos="5759" userDrawn="1">
          <p15:clr>
            <a:srgbClr val="FDE53C"/>
          </p15:clr>
        </p15:guide>
        <p15:guide id="11" pos="4319" userDrawn="1">
          <p15:clr>
            <a:srgbClr val="FDE53C"/>
          </p15:clr>
        </p15:guide>
        <p15:guide id="12" pos="4799" userDrawn="1">
          <p15:clr>
            <a:srgbClr val="FDE53C"/>
          </p15:clr>
        </p15:guide>
        <p15:guide id="13" pos="3335" userDrawn="1">
          <p15:clr>
            <a:srgbClr val="FDE53C"/>
          </p15:clr>
        </p15:guide>
        <p15:guide id="14" pos="2879" userDrawn="1">
          <p15:clr>
            <a:srgbClr val="FDE53C"/>
          </p15:clr>
        </p15:guide>
        <p15:guide id="15" pos="1919" userDrawn="1">
          <p15:clr>
            <a:srgbClr val="FDE53C"/>
          </p15:clr>
        </p15:guide>
        <p15:guide id="16" pos="1439" userDrawn="1">
          <p15:clr>
            <a:srgbClr val="FDE53C"/>
          </p15:clr>
        </p15:guide>
        <p15:guide id="17" pos="479" userDrawn="1">
          <p15:clr>
            <a:srgbClr val="FDE53C"/>
          </p15:clr>
        </p15:guide>
        <p15:guide id="18" orient="horz" pos="960" userDrawn="1">
          <p15:clr>
            <a:srgbClr val="FDE53C"/>
          </p15:clr>
        </p15:guide>
        <p15:guide id="19" orient="horz" pos="480" userDrawn="1">
          <p15:clr>
            <a:srgbClr val="FDE53C"/>
          </p15:clr>
        </p15:guide>
        <p15:guide id="20" orient="horz" pos="1920" userDrawn="1">
          <p15:clr>
            <a:srgbClr val="FDE53C"/>
          </p15:clr>
        </p15:guide>
        <p15:guide id="21" orient="horz" pos="2400" userDrawn="1">
          <p15:clr>
            <a:srgbClr val="FDE53C"/>
          </p15:clr>
        </p15:guide>
        <p15:guide id="22" orient="horz" pos="3360" userDrawn="1">
          <p15:clr>
            <a:srgbClr val="FDE53C"/>
          </p15:clr>
        </p15:guide>
        <p15:guide id="23" orient="horz" pos="3840" userDrawn="1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4114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RISK-SCORING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Arial"/>
              </a:rPr>
              <a:t>Status update  |  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429768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Arial"/>
              </a:rPr>
              <a:t>MCP-RSS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420624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Arial"/>
              </a:rPr>
              <a:t>A server-side risk scorer for agent-to-server MCP 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126480"/>
            <a:ext cx="4114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rial"/>
              </a:rPr>
              <a:t>Tomer Ovadya  +  Akansha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4114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  <a:latin typeface="Arial"/>
              </a:rPr>
              <a:t>M.Sc.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548640"/>
            <a:ext cx="676656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400" b="1" i="0">
                <a:solidFill>
                  <a:srgbClr val="11184F"/>
                </a:solidFill>
                <a:latin typeface="Arial"/>
              </a:rPr>
              <a:t>Research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051560"/>
            <a:ext cx="6766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4E444E"/>
                </a:solidFill>
                <a:latin typeface="Arial"/>
              </a:rPr>
              <a:t>What this thesis sets out to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12080" y="1691640"/>
            <a:ext cx="640080" cy="54864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691640"/>
            <a:ext cx="6400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RQ1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1645920"/>
            <a:ext cx="59436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Can risk to an MCP server from an incoming agent tool call be quantified into a single ordinal score that supports gate / throttle / deny decisions before the call executes?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80" y="3200400"/>
            <a:ext cx="640080" cy="54864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3200400"/>
            <a:ext cx="6400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RQ2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154680"/>
            <a:ext cx="59436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Which signals - static (tool properties at design time) and dynamic (arguments, paths, session context at runtime) - are the most predictive of harmful outcomes?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12080" y="4709160"/>
            <a:ext cx="640080" cy="54864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4709160"/>
            <a:ext cx="640080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RQ3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4663440"/>
            <a:ext cx="5943600" cy="137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0">
                <a:solidFill>
                  <a:srgbClr val="11184F"/>
                </a:solidFill>
                <a:latin typeface="Arial"/>
              </a:rPr>
              <a:t>How does a server-side, agent-aware, MCP-specific scorer compare to existing tool-safety frameworks across protected asset, granularity, and feedback dimensions?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1184F"/>
                </a:solidFill>
                <a:latin typeface="Arial"/>
              </a:rPr>
              <a:t>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4E444E"/>
                </a:solidFill>
                <a:latin typeface="Arial"/>
              </a:rPr>
              <a:t>Server-side proxy in the call flow + two-mode scoring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2194560" cy="1828800"/>
          </a:xfrm>
          <a:prstGeom prst="roundRect">
            <a:avLst>
              <a:gd name="adj" fmla="val 15000"/>
            </a:avLst>
          </a:prstGeom>
          <a:solidFill>
            <a:srgbClr val="C9D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11184F"/>
                </a:solidFill>
                <a:latin typeface="Arial"/>
              </a:rPr>
              <a:t>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40280"/>
            <a:ext cx="20116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11184F"/>
                </a:solidFill>
                <a:latin typeface="Arial"/>
              </a:rPr>
              <a:t>The threat source.
Issues tool calls.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23360" y="1463040"/>
            <a:ext cx="4206240" cy="1828800"/>
          </a:xfrm>
          <a:prstGeom prst="roundRect">
            <a:avLst>
              <a:gd name="adj" fmla="val 15000"/>
            </a:avLst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0" y="1691640"/>
            <a:ext cx="420624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MCP-RSS PROXY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4023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Scores every incoming call -&gt; 1 to 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606040"/>
            <a:ext cx="1219200" cy="4114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2651760"/>
            <a:ext cx="121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ALLOW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16880" y="2606040"/>
            <a:ext cx="1219200" cy="411480"/>
          </a:xfrm>
          <a:prstGeom prst="rect">
            <a:avLst/>
          </a:prstGeom>
          <a:solidFill>
            <a:srgbClr val="C66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16880" y="2651760"/>
            <a:ext cx="121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THROTTLE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27520" y="2606040"/>
            <a:ext cx="1219200" cy="41148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7520" y="2651760"/>
            <a:ext cx="1219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DENY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18320" y="1463040"/>
            <a:ext cx="2194560" cy="1828800"/>
          </a:xfrm>
          <a:prstGeom prst="roundRect">
            <a:avLst>
              <a:gd name="adj" fmla="val 15000"/>
            </a:avLst>
          </a:prstGeom>
          <a:solidFill>
            <a:srgbClr val="1118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1828800"/>
            <a:ext cx="21945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MCP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240280"/>
            <a:ext cx="201168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Arial"/>
              </a:rPr>
              <a:t>The protected asset.
Files, DBs, APIs.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34640" y="2377440.0"/>
            <a:ext cx="1188720" cy="0.0"/>
          </a:xfrm>
          <a:prstGeom prst="line">
            <a:avLst/>
          </a:prstGeom>
          <a:ln w="38100">
            <a:solidFill>
              <a:srgbClr val="11184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229600" y="2377440.0"/>
            <a:ext cx="1188720" cy="0.0"/>
          </a:xfrm>
          <a:prstGeom prst="line">
            <a:avLst/>
          </a:prstGeom>
          <a:ln w="38100">
            <a:solidFill>
              <a:srgbClr val="11184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834640" y="196596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1">
                <a:solidFill>
                  <a:srgbClr val="4E444E"/>
                </a:solidFill>
                <a:latin typeface="Arial"/>
              </a:rPr>
              <a:t>tool call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65960"/>
            <a:ext cx="11887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1">
                <a:solidFill>
                  <a:srgbClr val="4E444E"/>
                </a:solidFill>
                <a:latin typeface="Arial"/>
              </a:rPr>
              <a:t>if allowed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11184F"/>
                </a:solidFill>
                <a:latin typeface="Arial"/>
              </a:rPr>
              <a:t>Score = combine ( static + dynamic 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160520"/>
            <a:ext cx="5532120" cy="219456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60520"/>
            <a:ext cx="164592" cy="21945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297680"/>
            <a:ext cx="5257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  <a:latin typeface="Arial"/>
              </a:rPr>
              <a:t>STATIC SCORE  -  design-time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709160"/>
            <a:ext cx="5257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1184F"/>
                </a:solidFill>
                <a:latin typeface="Arial"/>
              </a:rPr>
              <a:t>What the tool can do, regardless of who calls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120640"/>
            <a:ext cx="525780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1184F"/>
                </a:solidFill>
                <a:latin typeface="Arial"/>
              </a:rPr>
              <a:t>- Read vs write vs execute
- Allowed-root scope (FS) or table scope (DB)
- Side-effect class (idempotent, stateful, network)
- Reversibility (git-tracked, has CDC, append-only)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4160520"/>
            <a:ext cx="5532120" cy="2194560"/>
          </a:xfrm>
          <a:prstGeom prst="rect">
            <a:avLst/>
          </a:prstGeom>
          <a:solidFill>
            <a:srgbClr val="FFEB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4160520"/>
            <a:ext cx="164592" cy="219456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75120" y="4297680"/>
            <a:ext cx="5257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C62828"/>
                </a:solidFill>
                <a:latin typeface="Arial"/>
              </a:rPr>
              <a:t>DYNAMIC SCORE  -  runtime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709160"/>
            <a:ext cx="52578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1">
                <a:solidFill>
                  <a:srgbClr val="11184F"/>
                </a:solidFill>
                <a:latin typeface="Arial"/>
              </a:rPr>
              <a:t>What the specific call is touching, right 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120640"/>
            <a:ext cx="5257800" cy="11887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1184F"/>
                </a:solidFill>
                <a:latin typeface="Arial"/>
              </a:rPr>
              <a:t>- Path / table / endpoint requested
- Argument shape (LIMIT / WHERE / glob breadth)
- Session history + chained calls
- Agent identity and prior risk events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MCP Risk-Scoring Framework  |  Status update  |  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1184F"/>
                </a:solidFill>
                <a:latin typeface="Arial"/>
              </a:rPr>
              <a:t>What is complete  -  feasibility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4E444E"/>
                </a:solidFill>
                <a:latin typeface="Arial"/>
              </a:rPr>
              <a:t>Three artefacts produced before the empirical phase begins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3703320" cy="4754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370332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57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08760"/>
            <a:ext cx="2788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Threat and asset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3337560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1184F"/>
                </a:solidFill>
                <a:latin typeface="Arial"/>
              </a:rPr>
              <a:t>Server-as-victim, agent-as-threat. Catalogued 8 asset categories on a normal user's PC: personal docs, personal media, downloads, browser data, cloud sync folders, app configs, persistence locations, system config.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760720"/>
            <a:ext cx="3337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1">
                <a:solidFill>
                  <a:srgbClr val="4E444E"/>
                </a:solidFill>
                <a:latin typeface="Arial"/>
              </a:rPr>
              <a:t>Source: docs/project/overview.md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417320"/>
            <a:ext cx="3703320" cy="4754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79392" y="1417320"/>
            <a:ext cx="370332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463040"/>
            <a:ext cx="457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2" y="1508760"/>
            <a:ext cx="2788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Scenario dataset (30 baseline)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2057400"/>
            <a:ext cx="3337560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1184F"/>
                </a:solidFill>
                <a:latin typeface="Arial"/>
              </a:rPr>
              <a:t>Five low + five medium + five high risk scenarios for each of two MCP servers (filesystem, SQLite). Each row carries scenario, tool calls, arguments / scope, affected assets, CIA impact, and tier rationale.</a:t>
            </a:r>
          </a:p>
        </p:txBody>
      </p:sp>
      <p:pic>
        <p:nvPicPr>
          <p:cNvPr id="16" name="Picture 15" descr="datase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6552" y="3611880"/>
            <a:ext cx="3429000" cy="21031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62272" y="5760720"/>
            <a:ext cx="3337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1">
                <a:solidFill>
                  <a:srgbClr val="4E444E"/>
                </a:solidFill>
                <a:latin typeface="Arial"/>
              </a:rPr>
              <a:t>Source: presentations/MCP_scenarios_v7.pptx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01584" y="1417320"/>
            <a:ext cx="3703320" cy="47548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4" y="1417320"/>
            <a:ext cx="3703320" cy="5029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84464" y="1463040"/>
            <a:ext cx="4572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1508760"/>
            <a:ext cx="2788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Literature review and gap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057400"/>
            <a:ext cx="3337560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1184F"/>
                </a:solidFill>
                <a:latin typeface="Arial"/>
              </a:rPr>
              <a:t>10+ academic and industry frameworks compared along 7 dimensions. Identified the gap: no published work covers server-side, agent-aware, static + dynamic, MCP-specific scoring.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5760720"/>
            <a:ext cx="33375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1">
                <a:solidFill>
                  <a:srgbClr val="4E444E"/>
                </a:solidFill>
                <a:latin typeface="Arial"/>
              </a:rPr>
              <a:t>Source: Literature_review/, docs/project/risk-scoring-taxonomy-comparison.md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MCP Risk-Scoring Framework  |  Status update  |  May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600" b="1" i="0">
                <a:solidFill>
                  <a:srgbClr val="11184F"/>
                </a:solidFill>
                <a:latin typeface="Arial"/>
              </a:rPr>
              <a:t>How MCP-RSS differs from existing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4E444E"/>
                </a:solidFill>
                <a:latin typeface="Arial"/>
              </a:rPr>
              <a:t>Comparison across 6 dimensions  -  ours is the bottom row, highlighted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17320"/>
          <a:ext cx="1033272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1417320"/>
                <a:gridCol w="777240"/>
                <a:gridCol w="868680"/>
                <a:gridCol w="1325880"/>
                <a:gridCol w="192024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Approach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Protected asset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Granularity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Static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Dynamic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MCP-specific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Output</a:t>
                      </a:r>
                    </a:p>
                  </a:txBody>
                  <a:tcPr marL="54864" marR="54864" marT="36576" marB="36576" anchor="ctr">
                    <a:solidFill>
                      <a:srgbClr val="11184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ToolSafe (2026)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Step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3-class label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MCPShield (2026)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Agent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Lifecycle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Risk class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MCP-Guard (2025)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Server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Request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Binary block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R-Judge (2024)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Agent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Trajectory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Risk label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MAESTRO/ATFAA (2025)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Agent system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Threat-model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Taxonomy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TRiSM for agentic AI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Org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Governance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Partial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Policy guidance</a:t>
                      </a:r>
                    </a:p>
                  </a:txBody>
                  <a:tcPr marL="54864" marR="54864" marT="27432" marB="27432" anchor="ctr">
                    <a:solidFill>
                      <a:srgbClr val="EEEE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OWASP AIVSS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Vulnerability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Design-time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No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11184F"/>
                          </a:solidFill>
                          <a:latin typeface="Arial"/>
                        </a:rPr>
                        <a:t>CVSS-style score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C62828"/>
                          </a:solidFill>
                          <a:latin typeface="Arial"/>
                        </a:rPr>
                        <a:t>MCP-RSS  (this thesis)</a:t>
                      </a:r>
                    </a:p>
                  </a:txBody>
                  <a:tcPr marL="54864" marR="54864" marT="27432" marB="27432"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1184F"/>
                          </a:solidFill>
                          <a:latin typeface="Arial"/>
                        </a:rPr>
                        <a:t>Server</a:t>
                      </a:r>
                    </a:p>
                  </a:txBody>
                  <a:tcPr marL="54864" marR="54864" marT="27432" marB="27432"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1184F"/>
                          </a:solidFill>
                          <a:latin typeface="Arial"/>
                        </a:rPr>
                        <a:t>Request</a:t>
                      </a:r>
                    </a:p>
                  </a:txBody>
                  <a:tcPr marL="54864" marR="54864" marT="27432" marB="27432"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118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118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1184F"/>
                          </a:solidFill>
                          <a:latin typeface="Arial"/>
                        </a:rPr>
                        <a:t>Yes</a:t>
                      </a:r>
                    </a:p>
                  </a:txBody>
                  <a:tcPr marL="54864" marR="54864" marT="27432" marB="27432" anchor="ctr">
                    <a:solidFill>
                      <a:srgbClr val="FFEB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11184F"/>
                          </a:solidFill>
                          <a:latin typeface="Arial"/>
                        </a:rPr>
                        <a:t>Ordinal 1 to 10</a:t>
                      </a:r>
                    </a:p>
                  </a:txBody>
                  <a:tcPr marL="54864" marR="54864" marT="27432" marB="27432" anchor="ctr">
                    <a:solidFill>
                      <a:srgbClr val="FFEBEE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457200" y="5212080"/>
            <a:ext cx="11247120" cy="109728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212080"/>
            <a:ext cx="164592" cy="10972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321808"/>
            <a:ext cx="107899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Arial"/>
              </a:rPr>
              <a:t>Key gap MCP-RSS fills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669280"/>
            <a:ext cx="1078992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11184F"/>
                </a:solidFill>
                <a:latin typeface="Arial"/>
              </a:rPr>
              <a:t>No prior work combines server-side perspective + agent-as-threat framing + both static and dynamic scoring + MCP-specific vocabulary into a single ordinal score the server can act on before the call executes.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MCP Risk-Scoring Framework  |  Status update  |  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1184F"/>
                </a:solidFill>
                <a:latin typeface="Arial"/>
              </a:rPr>
              <a:t>Empirical evaluation plan and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4E444E"/>
                </a:solidFill>
                <a:latin typeface="Arial"/>
              </a:rPr>
              <a:t>From feasibility-complete (today) to thesis chapter draft (Sep 2026)</a:t>
            </a:r>
          </a:p>
        </p:txBody>
      </p:sp>
      <p:pic>
        <p:nvPicPr>
          <p:cNvPr id="5" name="Picture 4" descr="gan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0233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5532120"/>
            <a:ext cx="11247120" cy="86868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5532120"/>
            <a:ext cx="164592" cy="86868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96128"/>
            <a:ext cx="3657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871C23"/>
                </a:solidFill>
                <a:latin typeface="Arial"/>
              </a:rPr>
              <a:t>METRICS WE WILL REPORT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897880"/>
            <a:ext cx="2148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1184F"/>
                </a:solidFill>
                <a:latin typeface="Arial"/>
              </a:rPr>
              <a:t>Cohen's kappa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99048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1">
                <a:solidFill>
                  <a:srgbClr val="4E444E"/>
                </a:solidFill>
                <a:latin typeface="Arial"/>
              </a:rPr>
              <a:t>inter-rater agreement on tier labels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5897880"/>
            <a:ext cx="2148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1184F"/>
                </a:solidFill>
                <a:latin typeface="Arial"/>
              </a:rPr>
              <a:t>Precision @ deny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6099048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1">
                <a:solidFill>
                  <a:srgbClr val="4E444E"/>
                </a:solidFill>
                <a:latin typeface="Arial"/>
              </a:rPr>
              <a:t>false-positive rate of high-tier 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5897880"/>
            <a:ext cx="2148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1184F"/>
                </a:solidFill>
                <a:latin typeface="Arial"/>
              </a:rPr>
              <a:t>Recall @ deny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6099048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1">
                <a:solidFill>
                  <a:srgbClr val="4E444E"/>
                </a:solidFill>
                <a:latin typeface="Arial"/>
              </a:rPr>
              <a:t>coverage of harmful scenarios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5897880"/>
            <a:ext cx="2148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1184F"/>
                </a:solidFill>
                <a:latin typeface="Arial"/>
              </a:rPr>
              <a:t>Macro-F1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6099048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1">
                <a:solidFill>
                  <a:srgbClr val="4E444E"/>
                </a:solidFill>
                <a:latin typeface="Arial"/>
              </a:rPr>
              <a:t>balanced score across all three tiers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38360" y="5897880"/>
            <a:ext cx="2148840" cy="228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>
                <a:solidFill>
                  <a:srgbClr val="11184F"/>
                </a:solidFill>
                <a:latin typeface="Arial"/>
              </a:rPr>
              <a:t>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6099048"/>
            <a:ext cx="21488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800" b="0" i="1">
                <a:solidFill>
                  <a:srgbClr val="4E444E"/>
                </a:solidFill>
                <a:latin typeface="Arial"/>
              </a:rPr>
              <a:t>scoring overhead per call (ms)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MCP Risk-Scoring Framework  |  Status update  |  May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 i="0">
                <a:solidFill>
                  <a:srgbClr val="11184F"/>
                </a:solidFill>
                <a:latin typeface="Arial"/>
              </a:rPr>
              <a:t>Main challenges at this stage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4E444E"/>
                </a:solidFill>
                <a:latin typeface="Arial"/>
              </a:rPr>
              <a:t>What we expect to wrestle with as we move from feasibility into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1247120" cy="1207008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" cy="12070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48640" cy="12070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490472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1184F"/>
                </a:solidFill>
                <a:latin typeface="Arial"/>
              </a:rPr>
              <a:t>No public ground-truth dataset for MCP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801368"/>
            <a:ext cx="69494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E444E"/>
                </a:solidFill>
                <a:latin typeface="Arial"/>
              </a:rPr>
              <a:t>Existing benchmarks (R-Judge, ToolEmu) are agent-side and trajectory-flavoured. Our scoring target - a request-level ordinal label - has no reference dataset, so initial labels are produced by 3 internal raters. Risk: small-N labelling introduces rater bias.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801368"/>
            <a:ext cx="3337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2E7D32"/>
                </a:solidFill>
                <a:latin typeface="Arial"/>
              </a:rPr>
              <a:t>Mitigation: Cohen's kappa on a held-out subset, plus a public release of the labelled scenarios so others can replicate.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88336"/>
            <a:ext cx="11247120" cy="1207008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88336"/>
            <a:ext cx="548640" cy="12070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88336"/>
            <a:ext cx="548640" cy="12070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61488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1184F"/>
                </a:solidFill>
                <a:latin typeface="Arial"/>
              </a:rPr>
              <a:t>Limited visibility into runtime context at the proxy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072384"/>
            <a:ext cx="69494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E444E"/>
                </a:solidFill>
                <a:latin typeface="Arial"/>
              </a:rPr>
              <a:t>The dynamic score depends on what the proxy can see at scoring time - call arguments, session history, agent identity. Some MCP transports erase parts of this context. The richness of the dynamic score is gated by what the proxy can observe.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072384"/>
            <a:ext cx="3337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2E7D32"/>
                </a:solidFill>
                <a:latin typeface="Arial"/>
              </a:rPr>
              <a:t>Mitigation: characterise the observable surface for each transport (stdio, SSE, Streamable HTTP) and report dynamic scores conditioned on context availability.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59352"/>
            <a:ext cx="11247120" cy="1207008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959352"/>
            <a:ext cx="548640" cy="12070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959352"/>
            <a:ext cx="548640" cy="12070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032504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1184F"/>
                </a:solidFill>
                <a:latin typeface="Arial"/>
              </a:rPr>
              <a:t>Comparison to baselines is structurally hard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343400"/>
            <a:ext cx="69494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E444E"/>
                </a:solidFill>
                <a:latin typeface="Arial"/>
              </a:rPr>
              <a:t>Most prior work protects the agent, not the server, and emits a label, not an ordinal score. Direct head-to-head comparison is not always defined; we will need adapter layers (e.g. binarise our score at threshold, run their classifier on our dataset) and clearly state what is comparable.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343400"/>
            <a:ext cx="3337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2E7D32"/>
                </a:solidFill>
                <a:latin typeface="Arial"/>
              </a:rPr>
              <a:t>Mitigation: pre-register the comparison protocol. Report only metrics where the comparison is well-defined; explicitly skip the rest.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230368"/>
            <a:ext cx="11247120" cy="1207008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5230368"/>
            <a:ext cx="548640" cy="1207008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30368"/>
            <a:ext cx="548640" cy="120700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303520"/>
            <a:ext cx="1042416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11184F"/>
                </a:solidFill>
                <a:latin typeface="Arial"/>
              </a:rPr>
              <a:t>Scope creep - temptation to add servers before scorer works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614416"/>
            <a:ext cx="694944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E444E"/>
                </a:solidFill>
                <a:latin typeface="Arial"/>
              </a:rPr>
              <a:t>The 30-scenario baseline is small. Pressure (internal and external) to expand to 5-10 servers before the scorer is implemented could delay the first end-to-end signal.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5614416"/>
            <a:ext cx="333756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1">
                <a:solidFill>
                  <a:srgbClr val="2E7D32"/>
                </a:solidFill>
                <a:latin typeface="Arial"/>
              </a:rPr>
              <a:t>Mitigation: hold the dataset fixed at 30 until the scorer reports its first kappa-validated number, then expand.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MCP Risk-Scoring Framework  |  Status update  |  May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200" b="1" i="0">
                <a:solidFill>
                  <a:srgbClr val="11184F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1">
                <a:solidFill>
                  <a:srgbClr val="4E444E"/>
                </a:solidFill>
                <a:latin typeface="Arial"/>
              </a:rPr>
              <a:t>Concrete deliverables for the next four weeks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11247120" cy="1051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105156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3716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56232"/>
            <a:ext cx="9601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1184F"/>
                </a:solidFill>
                <a:latin typeface="Arial"/>
              </a:rPr>
              <a:t>Finalise feature-space spec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194560"/>
            <a:ext cx="9601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E444E"/>
                </a:solidFill>
                <a:latin typeface="Arial"/>
              </a:rPr>
              <a:t>Write the formal definition of the static and dynamic feature vectors for Filesystem and SQLite tools. Sign off with advisor before coding.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862072"/>
            <a:ext cx="11247120" cy="1051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862072"/>
            <a:ext cx="1371600" cy="105156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62072"/>
            <a:ext cx="13716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Week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026664"/>
            <a:ext cx="9601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1184F"/>
                </a:solidFill>
                <a:latin typeface="Arial"/>
              </a:rPr>
              <a:t>Implement static scorer v1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364992"/>
            <a:ext cx="9601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E444E"/>
                </a:solidFill>
                <a:latin typeface="Arial"/>
              </a:rPr>
              <a:t>Reads tool metadata, emits a static score per (server, tool) pair. Smoke-test against the 30-scenario dataset.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32504"/>
            <a:ext cx="11247120" cy="1051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032504"/>
            <a:ext cx="1371600" cy="105156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032504"/>
            <a:ext cx="13716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Week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197096"/>
            <a:ext cx="9601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1184F"/>
                </a:solidFill>
                <a:latin typeface="Arial"/>
              </a:rPr>
              <a:t>Manual labelling sprint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535424"/>
            <a:ext cx="9601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E444E"/>
                </a:solidFill>
                <a:latin typeface="Arial"/>
              </a:rPr>
              <a:t>Three raters independently label every scenario into one of three tiers. Compute Cohen's kappa, resolve disagreements in a calibration meeting.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202936"/>
            <a:ext cx="11247120" cy="105156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202936"/>
            <a:ext cx="1371600" cy="1051560"/>
          </a:xfrm>
          <a:prstGeom prst="rect">
            <a:avLst/>
          </a:prstGeom>
          <a:solidFill>
            <a:srgbClr val="E125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202936"/>
            <a:ext cx="1371600" cy="105156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Week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367528"/>
            <a:ext cx="96012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1" i="0">
                <a:solidFill>
                  <a:srgbClr val="11184F"/>
                </a:solidFill>
                <a:latin typeface="Arial"/>
              </a:rPr>
              <a:t>Implement dynamic scorer v1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5705856"/>
            <a:ext cx="96012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 i="0">
                <a:solidFill>
                  <a:srgbClr val="4E444E"/>
                </a:solidFill>
                <a:latin typeface="Arial"/>
              </a:rPr>
              <a:t>Parses arguments, allowed-root, session prefix. End-to-end run on the labelled dataset. Report first precision / recall / F1 numbers in the next status update.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172200"/>
            <a:ext cx="112471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200" b="1" i="1">
                <a:solidFill>
                  <a:srgbClr val="E1251B"/>
                </a:solidFill>
                <a:latin typeface="Arial"/>
              </a:rPr>
              <a:t>Goal:  by the next sync we will report the first kappa and the first precision / recall numbers on the 30-scenario baseline.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900" b="0" i="1">
                <a:solidFill>
                  <a:srgbClr val="4E444E"/>
                </a:solidFill>
                <a:latin typeface="Arial"/>
              </a:rPr>
              <a:t>MCP Risk-Scoring Framework  |  Status update  |  May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 i="0">
                <a:solidFill>
                  <a:srgbClr val="4E444E"/>
                </a:solidFill>
                <a:latin typeface="Arial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novo Master">
  <a:themeElements>
    <a:clrScheme name="Custom 2">
      <a:dk1>
        <a:srgbClr val="000000"/>
      </a:dk1>
      <a:lt1>
        <a:sysClr val="window" lastClr="FFFFFF"/>
      </a:lt1>
      <a:dk2>
        <a:srgbClr val="F26A52"/>
      </a:dk2>
      <a:lt2>
        <a:srgbClr val="4E444E"/>
      </a:lt2>
      <a:accent1>
        <a:srgbClr val="E1251B"/>
      </a:accent1>
      <a:accent2>
        <a:srgbClr val="871C23"/>
      </a:accent2>
      <a:accent3>
        <a:srgbClr val="D9C1D8"/>
      </a:accent3>
      <a:accent4>
        <a:srgbClr val="4D144A"/>
      </a:accent4>
      <a:accent5>
        <a:srgbClr val="C9D0F0"/>
      </a:accent5>
      <a:accent6>
        <a:srgbClr val="11184F"/>
      </a:accent6>
      <a:hlink>
        <a:srgbClr val="3046AD"/>
      </a:hlink>
      <a:folHlink>
        <a:srgbClr val="3046AD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8252E"/>
        </a:solidFill>
        <a:ln>
          <a:noFill/>
        </a:ln>
      </a:spPr>
      <a:bodyPr lIns="182880" tIns="182880" rIns="182880" bIns="182880" rtlCol="0" anchor="t"/>
      <a:lstStyle>
        <a:defPPr algn="l">
          <a:defRPr sz="1600" dirty="0" err="1">
            <a:solidFill>
              <a:prstClr val="white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800" dirty="0" err="1" smtClean="0">
            <a:latin typeface="Arial" pitchFamily="34" charset="0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enovo-16x9_Standard_July2022" id="{48789345-80B6-49E4-A867-3423D9B661CC}" vid="{8124AD30-13BC-4938-BB2D-67326D7239F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E8F50E37F08F4A860DB7BF64F39772" ma:contentTypeVersion="13" ma:contentTypeDescription="Create a new document." ma:contentTypeScope="" ma:versionID="b267114c7a1d49bc39b5d83a72eb4960">
  <xsd:schema xmlns:xsd="http://www.w3.org/2001/XMLSchema" xmlns:xs="http://www.w3.org/2001/XMLSchema" xmlns:p="http://schemas.microsoft.com/office/2006/metadata/properties" xmlns:ns1="http://schemas.microsoft.com/sharepoint/v3" xmlns:ns3="fbc213cb-2322-46ee-a57c-56e573321373" xmlns:ns4="b888f069-4316-4301-b40e-a42e2759f60d" targetNamespace="http://schemas.microsoft.com/office/2006/metadata/properties" ma:root="true" ma:fieldsID="382c22f52b2536c4184d251590234659" ns1:_="" ns3:_="" ns4:_="">
    <xsd:import namespace="http://schemas.microsoft.com/sharepoint/v3"/>
    <xsd:import namespace="fbc213cb-2322-46ee-a57c-56e573321373"/>
    <xsd:import namespace="b888f069-4316-4301-b40e-a42e2759f6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c213cb-2322-46ee-a57c-56e5733213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88f069-4316-4301-b40e-a42e2759f60d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9177F4AA-1638-4FFC-8CD0-B6BBACAE180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31BEE02-4C62-4254-8EEC-2ABE8FBBF4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bc213cb-2322-46ee-a57c-56e573321373"/>
    <ds:schemaRef ds:uri="b888f069-4316-4301-b40e-a42e2759f6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C6CFE95-771C-4802-B140-C778003BEB93}">
  <ds:schemaRefs>
    <ds:schemaRef ds:uri="b888f069-4316-4301-b40e-a42e2759f60d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schemas.microsoft.com/sharepoint/v3"/>
    <ds:schemaRef ds:uri="http://schemas.openxmlformats.org/package/2006/metadata/core-properties"/>
    <ds:schemaRef ds:uri="http://schemas.microsoft.com/office/2006/metadata/properties"/>
    <ds:schemaRef ds:uri="http://purl.org/dc/dcmitype/"/>
    <ds:schemaRef ds:uri="fbc213cb-2322-46ee-a57c-56e573321373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Lenovo-16x9_Standard_July2022(1)</Template>
  <TotalTime>7657</TotalTime>
  <Words>846</Words>
  <Application>Microsoft Office PowerPoint</Application>
  <PresentationFormat>Custom</PresentationFormat>
  <Paragraphs>158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Lenovo Master</vt:lpstr>
      <vt:lpstr>An MCP server tour Tools and use cases</vt:lpstr>
      <vt:lpstr>How the proxy sits in the call flow</vt:lpstr>
      <vt:lpstr>Assessment methods</vt:lpstr>
      <vt:lpstr>MCP1 under test: Filesystem @modelcontextprotocol/server-filesystem</vt:lpstr>
      <vt:lpstr>MCP2 under test: Git @modelcontextprotocol/server-git</vt:lpstr>
      <vt:lpstr>MCP3 under test: SQLite @modelcontextprotocol/server-sqlite</vt:lpstr>
      <vt:lpstr>MCP4 under test: Google Calendar nspady/google-calendar-mcp</vt:lpstr>
      <vt:lpstr>Five web SaaS servers</vt:lpstr>
      <vt:lpstr>GitHub MCP github/github-mcp-server (Docker)</vt:lpstr>
      <vt:lpstr>Slack MCP @modelcontextprotocol/server-slack</vt:lpstr>
      <vt:lpstr>Notion MCP Notion-hosted MCP</vt:lpstr>
      <vt:lpstr>Linear MCP Linear-hosted MCP</vt:lpstr>
      <vt:lpstr>Stripe MCP @stripe/mcp</vt:lpstr>
      <vt:lpstr>Recap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 title here </dc:title>
  <dc:creator>user</dc:creator>
  <cp:lastModifiedBy>user</cp:lastModifiedBy>
  <cp:revision>3</cp:revision>
  <dcterms:created xsi:type="dcterms:W3CDTF">2025-02-26T11:25:58Z</dcterms:created>
  <dcterms:modified xsi:type="dcterms:W3CDTF">2026-04-30T11:05:38Z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0x010100D7E8F50E37F08F4A860DB7BF64F39772</vt:lpwstr>
  </property>
</Properties>
</file>