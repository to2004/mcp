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9B4FA"/>
                </a:solidFill>
                <a:latin typeface="Calibri"/>
              </a:rPr>
              <a:t>MCP Filesystem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How It Works — Tool Reference &amp; Teaching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5475A"/>
                </a:solidFill>
                <a:latin typeface="Calibri"/>
              </a:rPr>
              <a:t>@modelcontextprotocol/server-filesystem  v1.27.0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What is MCP?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Model Context Protocol — lets AI agents call tools on external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2286000" cy="9144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1E2E"/>
                </a:solidFill>
                <a:latin typeface="Calibri"/>
              </a:rPr>
              <a:t>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926080"/>
            <a:ext cx="2286000" cy="91440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1E2E"/>
                </a:solidFill>
                <a:latin typeface="Calibri"/>
              </a:rPr>
              <a:t>JSON-RPC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926080"/>
            <a:ext cx="2286000" cy="914400"/>
          </a:xfrm>
          <a:prstGeom prst="rect">
            <a:avLst/>
          </a:prstGeom>
          <a:solidFill>
            <a:srgbClr val="A6E3A1"/>
          </a:solidFill>
          <a:ln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1E2E"/>
                </a:solidFill>
                <a:latin typeface="Calibri"/>
              </a:rPr>
              <a:t>MCP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926080"/>
            <a:ext cx="228600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1E1E2E"/>
                </a:solidFill>
                <a:latin typeface="Calibri"/>
              </a:rPr>
              <a:t>Filesystem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3383280"/>
            <a:ext cx="45720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3383280"/>
            <a:ext cx="45720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383280"/>
            <a:ext cx="45720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An agent sends a JSON-RPC request naming a tool (e.g. read_text_file) with parameters. The MCP server executes it and returns a result. The filesystem server exposes 13 tools — all sandboxed to an allowed root.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Request →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  <a:latin typeface="Calibri"/>
              </a:rPr>
              <a:t>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{
  "jsonrpc": "2.0",
  "id": 1,
  "method": "tools/call",
  "params": {
    "name": "read_text_file",
    "arguments": {
      "path": "sensitive/security/audit_log.txt"
    }
  }
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0" y="3840480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737360"/>
            <a:ext cx="5029200" cy="43891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{
  "jsonrpc": "2.0",
  "id": 1,
  "result": {
    "content": [{
      "type": "text",
      "text": "2026-01-15 09:00 | LOGIN..."
    }]
  }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The Security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Every path must live inside the allowed root — no exceptions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A2A1A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  <a:latin typeface="Calibri"/>
              </a:rPr>
              <a:t>✓  Allowed root: /corp_filesystem/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sensitive/security/audit_log.txt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projects/known_defects.csv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source_code/core.c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5303520" cy="41148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 ../etc/passwd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8BA8"/>
                </a:solidFill>
                <a:latin typeface="Calibri"/>
              </a:rPr>
              <a:t>→ Access denied - path outside allowed directories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26080"/>
            <a:ext cx="5303520" cy="41148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 C:/Windows/win.ini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8BA8"/>
                </a:solidFill>
                <a:latin typeface="Calibri"/>
              </a:rPr>
              <a:t>→ Access denied - path outside allowed directories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303520" cy="41148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 (empty string)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8BA8"/>
                </a:solidFill>
                <a:latin typeface="Calibri"/>
              </a:rPr>
              <a:t>→ Access denied - path outside allowed directories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Read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566160" cy="50292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E1E2E"/>
                </a:solidFill>
                <a:latin typeface="Calibri"/>
              </a:rPr>
              <a:t>read_text_file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Returns file content as a UTF-8 string.
Best for: .txt .md .csv .sql .c .sh .pem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828800"/>
            <a:ext cx="3566160" cy="50292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E1E2E"/>
                </a:solidFill>
                <a:latin typeface="Calibri"/>
              </a:rPr>
              <a:t>read_media_file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468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Returns binary as base64 blob + MIME type.
Best for: .png .pdf .docx .xlsx .exe .sys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3566160" cy="50292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E1E2E"/>
                </a:solidFill>
                <a:latin typeface="Calibri"/>
              </a:rPr>
              <a:t>read_multiple_files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468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Reads an array of files in one call.
Partial failure doesn't abort the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read_text_file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Input: path (str), optional head/tail (int) → Output: plain UTF-8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  <a:latin typeface="Calibri"/>
              </a:rPr>
              <a:t>Works with: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6E3A1"/>
                </a:solidFill>
                <a:latin typeface="Courier New"/>
              </a:rPr>
              <a:t>.txt   .md   .csv   .sql   .c   .py   .sh   .bash   .pem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8BA8"/>
                </a:solidFill>
                <a:latin typeface="Calibri"/>
              </a:rPr>
              <a:t>Do NOT use with (binary — use read_media_file):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38BA8"/>
                </a:solidFill>
                <a:latin typeface="Courier New"/>
              </a:rPr>
              <a:t>.png   .pdf   .docx   .xlsx   .exe   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Calibri"/>
              </a:rPr>
              <a:t>✓ Good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146304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read_text_file(
  path="sensitive/security/audit_log.txt"
)
→ "2026-01-15 09:00 | LOGIN | 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8BA8"/>
                </a:solidFill>
                <a:latin typeface="Calibri"/>
              </a:rPr>
              <a:t>✗ Bad — binary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303520" cy="146304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read_text_file(
  path="onboarding/org_chart.png"
)
→ Error: Cannot decode as UTF-8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E2AF"/>
                </a:solidFill>
                <a:latin typeface="Calibri"/>
              </a:rPr>
              <a:t>Edge case: head=5 → first 5 lines only. tail=3 → last 3 lines. Cannot combine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read_media_file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Input: path (str) → Output: base64 blob + mimeType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  <a:latin typeface="Calibri"/>
              </a:rPr>
              <a:t>Use for binary files: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.png / 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03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9B4FA"/>
                </a:solidFill>
                <a:latin typeface="Courier New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75A"/>
                </a:solidFill>
                <a:latin typeface="Courier New"/>
              </a:rPr>
              <a:t>image/png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060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9B4FA"/>
                </a:solidFill>
                <a:latin typeface="Courier New"/>
              </a:rPr>
              <a:t>blob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75A"/>
                </a:solidFill>
                <a:latin typeface="Courier New"/>
              </a:rPr>
              <a:t>application/pdf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9B4FA"/>
                </a:solidFill>
                <a:latin typeface="Courier New"/>
              </a:rPr>
              <a:t>blob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75A"/>
                </a:solidFill>
                <a:latin typeface="Courier New"/>
              </a:rPr>
              <a:t>application/vnd.openxmlformats...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11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9B4FA"/>
                </a:solidFill>
                <a:latin typeface="Courier New"/>
              </a:rPr>
              <a:t>blob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75A"/>
                </a:solidFill>
                <a:latin typeface="Courier New"/>
              </a:rPr>
              <a:t>application/vnd.openxmlformats...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urier New"/>
              </a:rPr>
              <a:t>.exe / .sys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9B4FA"/>
                </a:solidFill>
                <a:latin typeface="Courier New"/>
              </a:rPr>
              <a:t>blob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75A"/>
                </a:solidFill>
                <a:latin typeface="Courier New"/>
              </a:rPr>
              <a:t>application/octet-stream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Calibri"/>
              </a:rPr>
              <a:t>✓ Good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5303520" cy="201168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read_media_file(path="public/logo.png")
→ {
    "type": "image",
    "data": "iVBORw0KGgo...",
    "mimeType": "image/png"
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E2AF"/>
                </a:solidFill>
                <a:latin typeface="Calibri"/>
              </a:rPr>
              <a:t>✗ Bad — text file wastes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solidFill>
            <a:srgbClr val="2A281A"/>
          </a:solidFill>
          <a:ln>
            <a:solidFill>
              <a:srgbClr val="2A2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9E2AF"/>
                </a:solidFill>
                <a:latin typeface="Courier New"/>
              </a:rPr>
              <a:t>read_media_file(path="audit_log.txt")
# works but returns base64 of plain text
# use read_text_file instead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read_multiple_files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Input: paths[] → Output: all contents in one string (partial failure OK)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read_multiple_files(paths=[
  "sensitive/financials/payslips_q1.csv",
  "does_not_exist.txt",
  "projects/known_defects.csv"
])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2743200"/>
            <a:ext cx="54864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858000" y="1645920"/>
            <a:ext cx="484632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payslips_q1.csv:
employee_id,name,salary
101,Alice,72000
---
does_not_exist.txt: Error - ENOENT
---
known_defects.csv:
id,title,severity
1,Memory leak,high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114800"/>
            <a:ext cx="4846320" cy="41148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  <a:latin typeface="Calibri"/>
              </a:rPr>
              <a:t>Bad path → inline error, rest succeed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Key points:
• Response is one string — parse it yourself
• No atomicity — some succeed, some fail
• Check for 'Error -' lines to detect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Write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029200" cy="50292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write_file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Creates or OVERWRITES a file — no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029200" cy="11887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write_file(
  path="source_code/notes.txt",
  content="Sprint 12 goals:\n- Fix auth"
)
→ "Successfully wrote to notes.txt"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⚠ destructive=true  idempotent=true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303520" cy="50292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E1E2E"/>
                </a:solidFill>
                <a:latin typeface="Calibri"/>
              </a:rPr>
              <a:t>edit_file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Find-and-replace edits → returns git diff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edit_file(
  path="notes.txt",
  edits=[{
    "oldText": "Fix auth",
    "newText": "Fix auth module"
  }]
)
→ "@@ -1 +1 @@\n-Fix auth\n+Fix auth module"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120640"/>
            <a:ext cx="5303520" cy="36576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⚠ destructive=true  idempotent=false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E2AF"/>
                </a:solidFill>
                <a:latin typeface="Calibri"/>
              </a:rPr>
              <a:t>Tip: use dryRun=true to preview the diff before committing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Navigation — List &amp; Tree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645920"/>
            <a:ext cx="3657600" cy="4572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  <a:latin typeface="Calibri"/>
              </a:rPr>
              <a:t>list_directory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194560"/>
            <a:ext cx="3657600" cy="34747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sensitive/
[DIR] contracts
[DIR] financials
[DIR]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59" y="1645920"/>
            <a:ext cx="3657600" cy="457200"/>
          </a:xfrm>
          <a:prstGeom prst="rect">
            <a:avLst/>
          </a:prstGeom>
          <a:solidFill>
            <a:srgbClr val="A6E3A1"/>
          </a:solidFill>
          <a:ln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  <a:latin typeface="Calibri"/>
              </a:rPr>
              <a:t>list_directory_with_sizes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59" y="2194560"/>
            <a:ext cx="3657600" cy="34747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sensitive/financials/
[FILE] payslips_q1.csv  74 B
[FILE] budget_2026.xlsx  15 B
Total: 2 files, 0 dirs
Combined size: 89 B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645920"/>
            <a:ext cx="3657600" cy="45720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  <a:latin typeface="Calibri"/>
              </a:rPr>
              <a:t>directory_tree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94560"/>
            <a:ext cx="3657600" cy="347472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[
  {"name": "contracts",
   "type": "directory",
   "children": [...]},
  {"name": "financials",
   "type": "directory",
   "children": [...]}
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9E2AF"/>
                </a:solidFill>
                <a:latin typeface="Calibri"/>
              </a:rPr>
              <a:t>directory_tree output is a JSON array string — parse it. Use excludePatterns=["*.log"] to skip noisy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search_files — Glob Pattern Cheatsheet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  <a:latin typeface="Calibri"/>
              </a:rPr>
              <a:t>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  <a:latin typeface="Calibri"/>
              </a:rPr>
              <a:t>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  <a:latin typeface="Calibri"/>
              </a:rPr>
              <a:t>Recursive?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  <a:latin typeface="Calibri"/>
              </a:rPr>
              <a:t>Example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10312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194560"/>
            <a:ext cx="228600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Current dir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194560"/>
            <a:ext cx="137160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9E2AF"/>
                </a:solidFill>
                <a:latin typeface="Courier New"/>
              </a:rPr>
              <a:t>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194560"/>
            <a:ext cx="521208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README.md  (only if in root)
→ returns "No matches found" if 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210312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**/*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200400"/>
            <a:ext cx="228600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All files recursive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200400"/>
            <a:ext cx="137160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200400"/>
            <a:ext cx="521208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sensitive/financials/payslips_q1.csv
projects/known_defects.csv
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210312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**/*.csv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206240"/>
            <a:ext cx="228600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CSV files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206240"/>
            <a:ext cx="137160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206240"/>
            <a:ext cx="5212080" cy="914400"/>
          </a:xfrm>
          <a:prstGeom prst="rect">
            <a:avLst/>
          </a:prstGeom>
          <a:solidFill>
            <a:srgbClr val="1A1A3A"/>
          </a:solidFill>
          <a:ln>
            <a:solidFill>
              <a:srgbClr val="1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sensitive/financials/payslips_q1.csv
projects/known_defects.csv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12080"/>
            <a:ext cx="210312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sensitive/**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5212080"/>
            <a:ext cx="228600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Inside sensitive/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5212080"/>
            <a:ext cx="137160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212080"/>
            <a:ext cx="5212080" cy="9144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sensitive/contracts/...
sensitive/financials/...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8BA8"/>
                </a:solidFill>
                <a:latin typeface="Calibri"/>
              </a:rPr>
              <a:t>⚠  * is NOT recursive — the #1 beginner mistake. Always use **/* for recursive search.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Info &amp; Admin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645920"/>
            <a:ext cx="2743200" cy="4572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get_file_info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194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path → metadata
(size, timestamps,
type, permissions)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474720"/>
            <a:ext cx="274320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size: 134
modified: 2026-01-15
isFile: true
permissions: 644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create_directory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path → creates dir
(and parents).
Safe to retry.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74720"/>
            <a:ext cx="274320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create_directory(
  "source_code/feature/utils"
)
→ "Successfully created..."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743200" cy="4572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move_file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source, destination
→ moves or renames.
Behavior on existing
dest varies by 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274320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move_file(
  source="notes.txt",
  destination="archive/notes.txt"
)
→ "Successfully moved..."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39" y="1645920"/>
            <a:ext cx="2743200" cy="457200"/>
          </a:xfrm>
          <a:prstGeom prst="rect">
            <a:avLst/>
          </a:prstGeom>
          <a:solidFill>
            <a:srgbClr val="89B4FA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E1E2E"/>
                </a:solidFill>
                <a:latin typeface="Calibri"/>
              </a:rPr>
              <a:t>list_allowed_directories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39" y="2194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No params → lists
server root dirs.
Call this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39" y="3474720"/>
            <a:ext cx="2743200" cy="22860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→ "Allowed directories:
/corp_filesystem_sim"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File Type × Tool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645920"/>
            <a:ext cx="2194560" cy="4114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9B4FA"/>
                </a:solidFill>
                <a:latin typeface="Calibri"/>
              </a:rPr>
              <a:t>File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645920"/>
            <a:ext cx="1920240" cy="4114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9B4FA"/>
                </a:solidFill>
                <a:latin typeface="Calibri"/>
              </a:rPr>
              <a:t>read_text_file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645920"/>
            <a:ext cx="2651760" cy="4114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9B4FA"/>
                </a:solidFill>
                <a:latin typeface="Calibri"/>
              </a:rPr>
              <a:t>read_media_file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45920"/>
            <a:ext cx="1920240" cy="4114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9B4FA"/>
                </a:solidFill>
                <a:latin typeface="Calibri"/>
              </a:rPr>
              <a:t>write_file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645920"/>
            <a:ext cx="2286000" cy="4114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89B4FA"/>
                </a:solidFill>
                <a:latin typeface="Calibri"/>
              </a:rPr>
              <a:t>search_files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94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.txt / .md / 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E2AF"/>
                </a:solidFill>
                <a:latin typeface="Calibri"/>
              </a:rPr>
              <a:t>⚠️ wasteful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.sql / .c / 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E2AF"/>
                </a:solidFill>
                <a:latin typeface="Calibri"/>
              </a:rPr>
              <a:t>⚠️ wasteful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43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29183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.pem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918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3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E2AF"/>
                </a:solidFill>
                <a:latin typeface="Calibri"/>
              </a:rPr>
              <a:t>⚠️ wasteful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918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2918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384047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8404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404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8404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84047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389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3891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3891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.docx / .xlsx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937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9377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377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937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.exe / .sys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486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486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 (opaque)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486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8BA8"/>
                </a:solidFill>
                <a:latin typeface="Calibri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486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E3A1"/>
                </a:solidFill>
                <a:latin typeface="Calibri"/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5475A"/>
                </a:solidFill>
                <a:latin typeface="Calibri"/>
              </a:rPr>
              <a:t>✅ correct tool  ·  ⚠️ works but suboptimal  ·  ❌ wrong tool / fails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Edge Case: Glob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* is NOT recursive — the #1 beginner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✗  pattern='*.csv'  (WRONG)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5029200" cy="320040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search_files(
  path=".",
  pattern="*.csv"
)
→ "No matches found"
   (no CSVs directly
   in root)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3657600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0" y="1645920"/>
            <a:ext cx="5212080" cy="457200"/>
          </a:xfrm>
          <a:prstGeom prst="rect">
            <a:avLst/>
          </a:prstGeom>
          <a:solidFill>
            <a:srgbClr val="A6E3A1"/>
          </a:solidFill>
          <a:ln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1E1E2E"/>
                </a:solidFill>
                <a:latin typeface="Calibri"/>
              </a:rPr>
              <a:t>✓  pattern='**/*.csv'  (CORRECT)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194560"/>
            <a:ext cx="5212080" cy="320040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search_files(
  path=".",
  pattern="**/*.csv"
)
→ "sensitive/financials/payslips_q1.csv
   projects/known_defects.csv"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9E2AF"/>
                </a:solidFill>
                <a:latin typeface="Calibri"/>
              </a:rPr>
              <a:t>Rule: * = current directory only · **/* = recursive · **/*.ext = recursive + filter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Edge Case: Path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029200" cy="685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path = ""  (empty string)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0" y="1984248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0" y="1645920"/>
            <a:ext cx="5212080" cy="68580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Access denied - path outside allowed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5029200" cy="685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path = "../etc/passwd"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0" y="2852928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0" y="2514600"/>
            <a:ext cx="5212080" cy="68580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Access denied - path outside allowed directories: ../etc/passwd not in &lt;root&gt;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5029200" cy="685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path = "C:/Windows/win.ini"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3721608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83680" y="3383280"/>
            <a:ext cx="5212080" cy="68580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Access denied - path outside allowed directories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51959"/>
            <a:ext cx="5029200" cy="685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path = "./sensitive/"  (trailing slash)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4590287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83680" y="4251959"/>
            <a:ext cx="5212080" cy="68580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Works — ./ prefix and trailing / are stripped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5029200" cy="685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path = "sensitive"  vs  "./sensitive"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0" y="5458968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0" y="5120640"/>
            <a:ext cx="5212080" cy="68580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Both work — resolve to the same path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Edge Case: write_file Silently Overwrites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No warning. No backup. Old content is gone.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029200" cy="1645920"/>
          </a:xfrm>
          <a:prstGeom prst="rect">
            <a:avLst/>
          </a:prstGeom>
          <a:solidFill>
            <a:srgbClr val="1A2A1A"/>
          </a:solidFill>
          <a:ln>
            <a:solidFill>
              <a:srgbClr val="1A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A6E3A1"/>
                </a:solidFill>
                <a:latin typeface="Courier New"/>
              </a:rPr>
              <a:t>BEFORE
audit_log.txt:
2026-01-15 09:00 | LOGIN | eve | success
2026-01-15 09:04 | READ  | audit_log | success
... (500 lines)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5029200" cy="13716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write_file(
  path="sensitive/security/audit_log.txt",
  content="log cleared"
)
→ "Successfully wrote to audit_log.txt"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3657600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0" y="1737360"/>
            <a:ext cx="5212080" cy="1645920"/>
          </a:xfrm>
          <a:prstGeom prst="rect">
            <a:avLst/>
          </a:prstGeom>
          <a:solidFill>
            <a:srgbClr val="2A1A1A"/>
          </a:solidFill>
          <a:ln>
            <a:solidFill>
              <a:srgbClr val="2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AFTER
audit_log.txt:
log cleared
(500 lines gone — no error, no warning)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3657600"/>
            <a:ext cx="5212080" cy="45720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 error. No diff. No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9E2AF"/>
                </a:solidFill>
                <a:latin typeface="Calibri"/>
              </a:rPr>
              <a:t>Safe pattern: call get_file_info first to check if the file already exists before writing.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Edge Case: read_multiple_files Partial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One bad path does NOT abort the batch — error is inlined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read_multiple_files(paths=[
  "sensitive/financials/payslips_q1.csv",
  "does_not_exist.txt",
  "projects/known_defects.csv"
])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0" y="2468880"/>
            <a:ext cx="731520" cy="0"/>
          </a:xfrm>
          <a:prstGeom prst="line">
            <a:avLst/>
          </a:prstGeom>
          <a:ln w="2540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0" y="1645920"/>
            <a:ext cx="5212080" cy="365760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Courier New"/>
              </a:rPr>
              <a:t>payslips_q1.csv:
employee_id,name,salary
101,Alice,72000
---
does_not_exist.txt: Error - ENOENT: no such file
---
known_defects.csv:
id,title,severity
1,Memory leak,high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5486400"/>
            <a:ext cx="5212080" cy="411480"/>
          </a:xfrm>
          <a:prstGeom prst="rect">
            <a:avLst/>
          </a:prstGeom>
          <a:solidFill>
            <a:srgbClr val="F9E2AF"/>
          </a:solidFill>
          <a:ln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  <a:latin typeface="Calibri"/>
              </a:rPr>
              <a:t>Scan for 'Error -' lines to detect partial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Response is one big string — parse it yourself
• No atomicity — some succeed, some fail
• Separator between files: 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  <a:latin typeface="Calibri"/>
              </a:rPr>
              <a:t>Tools That Don't Exist (By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Calling these returns error -32602. They are intentionally absent.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200400" cy="50292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delete_file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Irreversible — agents cannot destroy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3200400" cy="50292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execute_shell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8346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Arbitrary code execution is out of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200400" cy="50292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copy_file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404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Not needed — read_text_file + write_file achieves the same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3200400" cy="502920"/>
          </a:xfrm>
          <a:prstGeom prst="rect">
            <a:avLst/>
          </a:prstGeom>
          <a:solidFill>
            <a:srgbClr val="F38BA8"/>
          </a:solidFill>
          <a:ln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chmod / chown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463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Permission changes not exposed to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86400"/>
            <a:ext cx="10972800" cy="640080"/>
          </a:xfrm>
          <a:prstGeom prst="rect">
            <a:avLst/>
          </a:prstGeom>
          <a:solidFill>
            <a:srgbClr val="45475A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38BA8"/>
                </a:solidFill>
                <a:latin typeface="Courier New"/>
              </a:rPr>
              <a:t>tools/call { "name": "delete_file", ... }  →  Error -32602: Tool not found: delete_file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