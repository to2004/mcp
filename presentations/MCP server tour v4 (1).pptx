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500" r:id="rId5"/>
    <p:sldId id="502" r:id="rId6"/>
    <p:sldId id="515" r:id="rId7"/>
    <p:sldId id="503" r:id="rId8"/>
    <p:sldId id="504" r:id="rId9"/>
    <p:sldId id="505" r:id="rId10"/>
    <p:sldId id="506" r:id="rId11"/>
    <p:sldId id="507" r:id="rId12"/>
    <p:sldId id="508" r:id="rId13"/>
    <p:sldId id="509" r:id="rId14"/>
    <p:sldId id="510" r:id="rId15"/>
    <p:sldId id="511" r:id="rId16"/>
    <p:sldId id="512" r:id="rId17"/>
    <p:sldId id="513" r:id="rId18"/>
    <p:sldId id="514" r:id="rId1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5" autoAdjust="0"/>
    <p:restoredTop sz="95238" autoAdjust="0"/>
  </p:normalViewPr>
  <p:slideViewPr>
    <p:cSldViewPr snapToGrid="0" snapToObjects="1">
      <p:cViewPr varScale="1">
        <p:scale>
          <a:sx n="110" d="100"/>
          <a:sy n="110" d="100"/>
        </p:scale>
        <p:origin x="912" y="96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4/30/2026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09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387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  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  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50334" y="1524000"/>
            <a:ext cx="9912096" cy="3273368"/>
          </a:xfrm>
        </p:spPr>
        <p:txBody>
          <a:bodyPr/>
          <a:lstStyle/>
          <a:p>
            <a:r>
              <a:rPr lang="en-US" dirty="0"/>
              <a:t>An MCP server tour</a:t>
            </a:r>
            <a:br>
              <a:rPr lang="en-US" dirty="0"/>
            </a:br>
            <a:r>
              <a:rPr lang="en-US" dirty="0"/>
              <a:t>Tools and use cases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60414" y="5046115"/>
            <a:ext cx="9912096" cy="356616"/>
          </a:xfrm>
        </p:spPr>
        <p:txBody>
          <a:bodyPr/>
          <a:lstStyle/>
          <a:p>
            <a:r>
              <a:rPr lang="en-US" dirty="0"/>
              <a:t>Tomer Ovadya | April 2026</a:t>
            </a:r>
          </a:p>
        </p:txBody>
      </p:sp>
    </p:spTree>
    <p:extLst>
      <p:ext uri="{BB962C8B-B14F-4D97-AF65-F5344CB8AC3E}">
        <p14:creationId xmlns:p14="http://schemas.microsoft.com/office/powerpoint/2010/main" val="251639344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One MCP client, one proxy, multiple backends — middleware in the middle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proxy sits in the call 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4FDB9-AD3F-C7BE-7523-01E87B0F02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50000" y="3000000"/>
            <a:ext cx="2200000" cy="130000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MCP client</a:t>
            </a:r>
          </a:p>
          <a:p>
            <a:pPr algn="ctr"/>
            <a:endParaRPr sz="1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00000" y="1700000"/>
            <a:ext cx="5800000" cy="4250000"/>
          </a:xfrm>
          <a:prstGeom prst="roundRect">
            <a:avLst/>
          </a:prstGeom>
          <a:solidFill>
            <a:srgbClr val="F4F6FA"/>
          </a:solidFill>
          <a:ln w="317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0000" y="1880000"/>
            <a:ext cx="55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 dirty="0">
                <a:solidFill>
                  <a:srgbClr val="1F3A5F"/>
                </a:solidFill>
                <a:latin typeface="Arial"/>
              </a:rPr>
              <a:t>Our MCP Proxy   (single </a:t>
            </a:r>
            <a:r>
              <a:rPr lang="en-US" sz="1800" b="1" dirty="0">
                <a:solidFill>
                  <a:srgbClr val="1F3A5F"/>
                </a:solidFill>
              </a:rPr>
              <a:t>Server-Sent Events (</a:t>
            </a:r>
            <a:r>
              <a:rPr sz="1800" b="1" i="0" dirty="0">
                <a:solidFill>
                  <a:srgbClr val="1F3A5F"/>
                </a:solidFill>
                <a:latin typeface="Arial"/>
              </a:rPr>
              <a:t>SSE</a:t>
            </a:r>
            <a:r>
              <a:rPr lang="en-US" sz="1800" b="1" i="0" dirty="0">
                <a:solidFill>
                  <a:srgbClr val="1F3A5F"/>
                </a:solidFill>
                <a:latin typeface="Arial"/>
              </a:rPr>
              <a:t>) endpoint</a:t>
            </a:r>
            <a:r>
              <a:rPr sz="1800" b="1" i="0" dirty="0">
                <a:solidFill>
                  <a:srgbClr val="1F3A5F"/>
                </a:solidFill>
                <a:latin typeface="Arial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4667" y="2410000"/>
            <a:ext cx="5000000" cy="80000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0" dirty="0">
                <a:solidFill>
                  <a:srgbClr val="FFFFFF"/>
                </a:solidFill>
                <a:latin typeface="Arial"/>
              </a:rPr>
              <a:t>Scoring in the future </a:t>
            </a:r>
            <a:endParaRPr sz="13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00000" y="3450000"/>
            <a:ext cx="5000000" cy="21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0000" y="3610000"/>
            <a:ext cx="444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76F51"/>
                </a:solidFill>
                <a:latin typeface="Arial"/>
              </a:rPr>
              <a:t>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0000" y="4130000"/>
            <a:ext cx="444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 dirty="0">
                <a:solidFill>
                  <a:srgbClr val="1B2632"/>
                </a:solidFill>
                <a:latin typeface="Arial"/>
              </a:rPr>
              <a:t>one record per call —  who called, with what arguments,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0000" y="4470000"/>
            <a:ext cx="444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B2632"/>
                </a:solidFill>
                <a:latin typeface="Arial"/>
              </a:rPr>
              <a:t>what came back, errors, timing — all in one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0000" y="4950000"/>
            <a:ext cx="444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C0573C"/>
                </a:solidFill>
                <a:latin typeface="Arial"/>
              </a:rPr>
              <a:t>records every call regardless of what the server emits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15333" y="3681750"/>
            <a:ext cx="2050000" cy="900000"/>
          </a:xfrm>
          <a:prstGeom prst="roundRect">
            <a:avLst/>
          </a:prstGeom>
          <a:solidFill>
            <a:srgbClr val="2E5984"/>
          </a:solidFill>
          <a:ln w="19050">
            <a:solidFill>
              <a:srgbClr val="2E5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filesystem 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38985" y="1945714"/>
            <a:ext cx="2050000" cy="900000"/>
          </a:xfrm>
          <a:prstGeom prst="roundRect">
            <a:avLst/>
          </a:prstGeom>
          <a:solidFill>
            <a:srgbClr val="2E5984"/>
          </a:solidFill>
          <a:ln w="19050">
            <a:solidFill>
              <a:srgbClr val="2E5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git 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00000" y="4700000"/>
            <a:ext cx="2050000" cy="900000"/>
          </a:xfrm>
          <a:prstGeom prst="roundRect">
            <a:avLst/>
          </a:prstGeom>
          <a:solidFill>
            <a:srgbClr val="2E5984"/>
          </a:solidFill>
          <a:ln w="19050">
            <a:solidFill>
              <a:srgbClr val="2E5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time  server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0000" y="3650000"/>
            <a:ext cx="1050000" cy="0"/>
          </a:xfrm>
          <a:prstGeom prst="line">
            <a:avLst/>
          </a:prstGeom>
          <a:ln w="25400">
            <a:solidFill>
              <a:srgbClr val="34495E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</p:cNvCxnSpPr>
          <p:nvPr/>
        </p:nvCxnSpPr>
        <p:spPr>
          <a:xfrm>
            <a:off x="9479001" y="2382300"/>
            <a:ext cx="336332" cy="0"/>
          </a:xfrm>
          <a:prstGeom prst="line">
            <a:avLst/>
          </a:prstGeom>
          <a:ln w="25400">
            <a:solidFill>
              <a:srgbClr val="34495E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</p:cNvCxnSpPr>
          <p:nvPr/>
        </p:nvCxnSpPr>
        <p:spPr>
          <a:xfrm>
            <a:off x="9500000" y="4093526"/>
            <a:ext cx="315333" cy="0"/>
          </a:xfrm>
          <a:prstGeom prst="line">
            <a:avLst/>
          </a:prstGeom>
          <a:ln w="25400">
            <a:solidFill>
              <a:srgbClr val="34495E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 flipV="1">
            <a:off x="9538825" y="5150000"/>
            <a:ext cx="261175" cy="8000"/>
          </a:xfrm>
          <a:prstGeom prst="line">
            <a:avLst/>
          </a:prstGeom>
          <a:ln w="25400">
            <a:solidFill>
              <a:srgbClr val="34495E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0000" y="6080000"/>
            <a:ext cx="11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1B2632"/>
                </a:solidFill>
                <a:latin typeface="Arial"/>
              </a:rPr>
              <a:t>The server still emits its own notifications/message — that is the narrator.   The proxy is a passive camera that records every call.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C343A2-C1DD-4DE0-97C1-718E09690532}"/>
              </a:ext>
            </a:extLst>
          </p:cNvPr>
          <p:cNvSpPr/>
          <p:nvPr/>
        </p:nvSpPr>
        <p:spPr>
          <a:xfrm>
            <a:off x="10328237" y="3198167"/>
            <a:ext cx="8835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Local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FD3554-8360-4834-B1BA-4F2AA706099A}"/>
              </a:ext>
            </a:extLst>
          </p:cNvPr>
          <p:cNvSpPr/>
          <p:nvPr/>
        </p:nvSpPr>
        <p:spPr>
          <a:xfrm>
            <a:off x="10398545" y="1433683"/>
            <a:ext cx="7429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317157360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E312-4A02-423D-98C6-6853C98A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2F549-38C5-48A7-9703-89405DBAFD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Goal: Craft a data set with predefined use cases for the specific MCP server</a:t>
            </a:r>
          </a:p>
          <a:p>
            <a:pPr lvl="1"/>
            <a:r>
              <a:rPr lang="en-US" dirty="0"/>
              <a:t>At least 10 low-medium risk scenarios</a:t>
            </a:r>
          </a:p>
          <a:p>
            <a:pPr lvl="1"/>
            <a:r>
              <a:rPr lang="en-US" dirty="0"/>
              <a:t>At least 5 high risk scenarios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MCP under test: Local MCP for </a:t>
            </a:r>
            <a:r>
              <a:rPr lang="en-US" dirty="0" err="1"/>
              <a:t>FileSystem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Label each scenario with correspondent risk and link to relevant MCP affected assets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1B477-3097-4669-9CA8-620C48A09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519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MCP1 under test: Filesystem</a:t>
            </a:r>
            <a:br>
              <a:rPr lang="en-US" sz="1800" dirty="0"/>
            </a:br>
            <a:r>
              <a:rPr lang="en-US" sz="1800" i="1" dirty="0"/>
              <a:t>@modelcontextprotocol/server-filesystem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read_file, write_file, edit_file</a:t>
            </a:r>
          </a:p>
          <a:p>
            <a:pPr lvl="1"/>
            <a:r>
              <a:rPr lang="en-US" dirty="0"/>
              <a:t>create_directory, list_directory</a:t>
            </a:r>
          </a:p>
          <a:p>
            <a:pPr lvl="1"/>
            <a:r>
              <a:rPr lang="en-US" dirty="0"/>
              <a:t>move_file, search_files</a:t>
            </a:r>
          </a:p>
          <a:p>
            <a:pPr lvl="1"/>
            <a:r>
              <a:rPr lang="en-US" dirty="0"/>
              <a:t>get_file_info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Read files</a:t>
            </a:r>
          </a:p>
          <a:p>
            <a:pPr lvl="1"/>
            <a:r>
              <a:rPr lang="en-US" dirty="0"/>
              <a:t>Edit and write files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Steal .env files and SSH keys</a:t>
            </a:r>
          </a:p>
          <a:p>
            <a:pPr lvl="1"/>
            <a:r>
              <a:rPr lang="en-US" dirty="0"/>
              <a:t>Plant a backdoor in a config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MCP2 under test: Git</a:t>
            </a:r>
            <a:br>
              <a:rPr lang="en-US" sz="1800" dirty="0"/>
            </a:br>
            <a:r>
              <a:rPr lang="en-US" sz="1800" i="1" dirty="0"/>
              <a:t>@modelcontextprotocol/server-git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git_status, git_diff, git_log</a:t>
            </a:r>
          </a:p>
          <a:p>
            <a:pPr lvl="1"/>
            <a:r>
              <a:rPr lang="en-US" dirty="0"/>
              <a:t>git_add, git_commit, git_reset</a:t>
            </a:r>
          </a:p>
          <a:p>
            <a:pPr lvl="1"/>
            <a:r>
              <a:rPr lang="en-US" dirty="0"/>
              <a:t>git_create_branch, git_checkout</a:t>
            </a:r>
          </a:p>
          <a:p>
            <a:pPr lvl="1"/>
            <a:r>
              <a:rPr lang="en-US" dirty="0"/>
              <a:t>git_show, git_init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Check repo status</a:t>
            </a:r>
          </a:p>
          <a:p>
            <a:pPr lvl="1"/>
            <a:r>
              <a:rPr lang="en-US" dirty="0"/>
              <a:t>Commit changes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Steal git credentials</a:t>
            </a:r>
          </a:p>
          <a:p>
            <a:pPr lvl="1"/>
            <a:r>
              <a:rPr lang="en-US" dirty="0"/>
              <a:t>Push poisoned commits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MCP3 under test: SQLite</a:t>
            </a:r>
            <a:br>
              <a:rPr lang="en-US" sz="1800" dirty="0"/>
            </a:br>
            <a:r>
              <a:rPr lang="en-US" sz="1800" i="1" dirty="0"/>
              <a:t>@modelcontextprotocol/server-sqlite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read_query, write_query</a:t>
            </a:r>
          </a:p>
          <a:p>
            <a:pPr lvl="1"/>
            <a:r>
              <a:rPr lang="en-US" dirty="0"/>
              <a:t>create_table, list_tables</a:t>
            </a:r>
          </a:p>
          <a:p>
            <a:pPr lvl="1"/>
            <a:r>
              <a:rPr lang="en-US" dirty="0"/>
              <a:t>describe_table</a:t>
            </a:r>
          </a:p>
          <a:p>
            <a:pPr lvl="1"/>
            <a:r>
              <a:rPr lang="en-US" dirty="0"/>
              <a:t>append_insight (notes back to the DB)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Run a query</a:t>
            </a:r>
          </a:p>
          <a:p>
            <a:pPr lvl="1"/>
            <a:r>
              <a:rPr lang="en-US" dirty="0"/>
              <a:t>Save notes to the DB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Dump the database</a:t>
            </a:r>
          </a:p>
          <a:p>
            <a:pPr lvl="1"/>
            <a:r>
              <a:rPr lang="en-US" dirty="0"/>
              <a:t>Drop or rewrite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MCP4 under test: Google Calendar</a:t>
            </a:r>
            <a:br>
              <a:rPr lang="en-US" sz="1800" dirty="0"/>
            </a:br>
            <a:r>
              <a:rPr lang="en-US" sz="1800" i="1" dirty="0"/>
              <a:t>nspady/google-calendar-mcp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list-calendars, list-events</a:t>
            </a:r>
          </a:p>
          <a:p>
            <a:pPr lvl="1"/>
            <a:r>
              <a:rPr lang="en-US" dirty="0"/>
              <a:t>search-events, get-freebusy</a:t>
            </a:r>
          </a:p>
          <a:p>
            <a:pPr lvl="1"/>
            <a:r>
              <a:rPr lang="en-US" dirty="0"/>
              <a:t>create-event, update-event, delete-event</a:t>
            </a:r>
          </a:p>
          <a:p>
            <a:pPr lvl="1"/>
            <a:r>
              <a:rPr lang="en-US" dirty="0"/>
              <a:t>get-current-time, list-colors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Check today’s meetings</a:t>
            </a:r>
          </a:p>
          <a:p>
            <a:pPr lvl="1"/>
            <a:r>
              <a:rPr lang="en-US" dirty="0"/>
              <a:t>Add a new event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Read attendees and meeting topics</a:t>
            </a:r>
          </a:p>
          <a:p>
            <a:pPr lvl="1"/>
            <a:r>
              <a:rPr lang="en-US" dirty="0"/>
              <a:t>Plant phishing meetings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A127-DFCA-49E4-8492-7F8A0162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web SaaS servers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C7358-B1EA-40E6-920D-5378F563A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Hosted services your agent talks to over OAuth or an API key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B7B2-117A-35F0-ED75-56EF90625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39381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MCP</a:t>
            </a:r>
            <a:br>
              <a:rPr lang="en-US" sz="1800" dirty="0"/>
            </a:br>
            <a:r>
              <a:rPr lang="en-US" sz="1800" i="1" dirty="0"/>
              <a:t>github/github-mcp-server (Docker)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list_repos, get_repo, search_code</a:t>
            </a:r>
          </a:p>
          <a:p>
            <a:pPr lvl="1"/>
            <a:r>
              <a:rPr lang="en-US" dirty="0"/>
              <a:t>list_issues, create_issue, get_issue</a:t>
            </a:r>
          </a:p>
          <a:p>
            <a:pPr lvl="1"/>
            <a:r>
              <a:rPr lang="en-US" dirty="0"/>
              <a:t>list_pull_requests, create_pull_request</a:t>
            </a:r>
          </a:p>
          <a:p>
            <a:pPr lvl="1"/>
            <a:r>
              <a:rPr lang="en-US" dirty="0"/>
              <a:t>get_file_contents, create_or_update_file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Open and label issues</a:t>
            </a:r>
          </a:p>
          <a:p>
            <a:pPr lvl="1"/>
            <a:r>
              <a:rPr lang="en-US" dirty="0"/>
              <a:t>Open pull requests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Steal private-repo code</a:t>
            </a:r>
          </a:p>
          <a:p>
            <a:pPr lvl="1"/>
            <a:r>
              <a:rPr lang="en-US" dirty="0"/>
              <a:t>Merge a backdoor PR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Slack MCP</a:t>
            </a:r>
            <a:br>
              <a:rPr lang="en-US" sz="1800" dirty="0"/>
            </a:br>
            <a:r>
              <a:rPr lang="en-US" sz="1800" i="1" dirty="0"/>
              <a:t>@modelcontextprotocol/server-slack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slack_list_channels, slack_get_users</a:t>
            </a:r>
          </a:p>
          <a:p>
            <a:pPr lvl="1"/>
            <a:r>
              <a:rPr lang="en-US" dirty="0"/>
              <a:t>slack_post_message, slack_reply_to_thread</a:t>
            </a:r>
          </a:p>
          <a:p>
            <a:pPr lvl="1"/>
            <a:r>
              <a:rPr lang="en-US" dirty="0"/>
              <a:t>slack_add_reaction</a:t>
            </a:r>
          </a:p>
          <a:p>
            <a:pPr lvl="1"/>
            <a:r>
              <a:rPr lang="en-US" dirty="0"/>
              <a:t>slack_get_channel_history, slack_get_thread_replies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Post a message</a:t>
            </a:r>
          </a:p>
          <a:p>
            <a:pPr lvl="1"/>
            <a:r>
              <a:rPr lang="en-US" dirty="0"/>
              <a:t>Search channels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Read DMs and private channels</a:t>
            </a:r>
          </a:p>
          <a:p>
            <a:pPr lvl="1"/>
            <a:r>
              <a:rPr lang="en-US" dirty="0"/>
              <a:t>Impersonate the user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Notion MCP</a:t>
            </a:r>
            <a:br>
              <a:rPr lang="en-US" sz="1800" dirty="0"/>
            </a:br>
            <a:r>
              <a:rPr lang="en-US" sz="1800" i="1" dirty="0"/>
              <a:t>Notion-hosted MCP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search, get_page, create_page</a:t>
            </a:r>
          </a:p>
          <a:p>
            <a:pPr lvl="1"/>
            <a:r>
              <a:rPr lang="en-US" dirty="0"/>
              <a:t>update_page, append_block_children</a:t>
            </a:r>
          </a:p>
          <a:p>
            <a:pPr lvl="1"/>
            <a:r>
              <a:rPr lang="en-US" dirty="0"/>
              <a:t>get_database, query_database</a:t>
            </a:r>
          </a:p>
          <a:p>
            <a:pPr lvl="1"/>
            <a:r>
              <a:rPr lang="en-US" dirty="0"/>
              <a:t>create_database, get_block_children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Search pages</a:t>
            </a:r>
          </a:p>
          <a:p>
            <a:pPr lvl="1"/>
            <a:r>
              <a:rPr lang="en-US" dirty="0"/>
              <a:t>Create a page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Steal docs and roadmaps</a:t>
            </a:r>
          </a:p>
          <a:p>
            <a:pPr lvl="1"/>
            <a:r>
              <a:rPr lang="en-US" dirty="0"/>
              <a:t>Inject prompt-injection payloads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MCP</a:t>
            </a:r>
            <a:br>
              <a:rPr lang="en-US" sz="1800" dirty="0"/>
            </a:br>
            <a:r>
              <a:rPr lang="en-US" sz="1800" i="1" dirty="0"/>
              <a:t>Linear-hosted MCP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list_issues, get_issue, search_issues</a:t>
            </a:r>
          </a:p>
          <a:p>
            <a:pPr lvl="1"/>
            <a:r>
              <a:rPr lang="en-US" dirty="0"/>
              <a:t>create_issue, update_issue</a:t>
            </a:r>
          </a:p>
          <a:p>
            <a:pPr lvl="1"/>
            <a:r>
              <a:rPr lang="en-US" dirty="0"/>
              <a:t>list_projects, list_teams, list_users</a:t>
            </a:r>
          </a:p>
          <a:p>
            <a:pPr lvl="1"/>
            <a:r>
              <a:rPr lang="en-US" dirty="0"/>
              <a:t>list_comments, create_comment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Create a ticket</a:t>
            </a:r>
          </a:p>
          <a:p>
            <a:pPr lvl="1"/>
            <a:r>
              <a:rPr lang="en-US" dirty="0"/>
              <a:t>Check sprint status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Read internal roadmap</a:t>
            </a:r>
          </a:p>
          <a:p>
            <a:pPr lvl="1"/>
            <a:r>
              <a:rPr lang="en-US" dirty="0"/>
              <a:t>Hide security tickets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Stripe MCP</a:t>
            </a:r>
            <a:br>
              <a:rPr lang="en-US" sz="1800" dirty="0"/>
            </a:br>
            <a:r>
              <a:rPr lang="en-US" sz="1800" i="1" dirty="0"/>
              <a:t>@stripe/mcp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  <a:p>
            <a:pPr lvl="1"/>
            <a:r>
              <a:rPr lang="en-US" dirty="0"/>
              <a:t>customers.create, customers.read</a:t>
            </a:r>
          </a:p>
          <a:p>
            <a:pPr lvl="1"/>
            <a:r>
              <a:rPr lang="en-US" dirty="0"/>
              <a:t>products.create, prices.create</a:t>
            </a:r>
          </a:p>
          <a:p>
            <a:pPr lvl="1"/>
            <a:r>
              <a:rPr lang="en-US" dirty="0"/>
              <a:t>payment_links.create</a:t>
            </a:r>
          </a:p>
          <a:p>
            <a:pPr lvl="1"/>
            <a:r>
              <a:rPr lang="en-US" dirty="0"/>
              <a:t>refunds.create, subscriptions.list, invoices.list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Benign use cases</a:t>
            </a:r>
          </a:p>
          <a:p>
            <a:pPr lvl="1"/>
            <a:r>
              <a:rPr lang="en-US" dirty="0"/>
              <a:t>Create a payment link</a:t>
            </a:r>
          </a:p>
          <a:p>
            <a:pPr lvl="1"/>
            <a:r>
              <a:rPr lang="en-US" dirty="0"/>
              <a:t>Check MRR</a:t>
            </a:r>
          </a:p>
          <a:p>
            <a:r>
              <a:rPr lang="en-US" b="1" dirty="0">
                <a:solidFill>
                  <a:srgbClr val="E1251B"/>
                </a:solidFill>
              </a:rPr>
              <a:t>Malicious use cases</a:t>
            </a:r>
          </a:p>
          <a:p>
            <a:pPr lvl="1"/>
            <a:r>
              <a:rPr lang="en-US" dirty="0"/>
              <a:t>Refund attacker accounts</a:t>
            </a:r>
          </a:p>
          <a:p>
            <a:pPr lvl="1"/>
            <a:r>
              <a:rPr lang="en-US" dirty="0"/>
              <a:t>Steal customer PII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0" name="Ser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35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Local servers run alongside the agent</a:t>
            </a:r>
          </a:p>
          <a:p>
            <a:pPr lvl="1"/>
            <a:r>
              <a:rPr lang="en-US" dirty="0"/>
              <a:t>Filesystem, Git, SQLite, Google Calendar — clone the repo, no hosted endpoint</a:t>
            </a:r>
          </a:p>
          <a:p>
            <a:r>
              <a:rPr lang="en-US" b="1" dirty="0"/>
              <a:t>Web SaaS servers extend the agent into your stack</a:t>
            </a:r>
          </a:p>
          <a:p>
            <a:pPr lvl="1"/>
            <a:r>
              <a:rPr lang="en-US" dirty="0"/>
              <a:t>GitHub, Slack, Notion, Linear, Stripe — cover code, comms, docs, tickets, and money</a:t>
            </a:r>
          </a:p>
          <a:p>
            <a:r>
              <a:rPr lang="en-US" b="1" dirty="0"/>
              <a:t>Every tool is dual-use</a:t>
            </a:r>
          </a:p>
          <a:p>
            <a:pPr lvl="1"/>
            <a:r>
              <a:rPr lang="en-US" dirty="0"/>
              <a:t>What helps a benign agent ship faster also gives a malicious one a foothold — design the gate around tools, not vibes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Nine servers, three takeaways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4FDB9-AD3F-C7BE-7523-01E87B0F02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9357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5119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b888f069-4316-4301-b40e-a42e2759f60d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fbc213cb-2322-46ee-a57c-56e573321373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7657</TotalTime>
  <Words>846</Words>
  <Application>Microsoft Office PowerPoint</Application>
  <PresentationFormat>Custom</PresentationFormat>
  <Paragraphs>158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Lenovo Master</vt:lpstr>
      <vt:lpstr>An MCP server tour Tools and use cases</vt:lpstr>
      <vt:lpstr>How the proxy sits in the call flow</vt:lpstr>
      <vt:lpstr>Assessment methods</vt:lpstr>
      <vt:lpstr>MCP1 under test: Filesystem @modelcontextprotocol/server-filesystem</vt:lpstr>
      <vt:lpstr>MCP2 under test: Git @modelcontextprotocol/server-git</vt:lpstr>
      <vt:lpstr>MCP3 under test: SQLite @modelcontextprotocol/server-sqlite</vt:lpstr>
      <vt:lpstr>MCP4 under test: Google Calendar nspady/google-calendar-mcp</vt:lpstr>
      <vt:lpstr>Five web SaaS servers</vt:lpstr>
      <vt:lpstr>GitHub MCP github/github-mcp-server (Docker)</vt:lpstr>
      <vt:lpstr>Slack MCP @modelcontextprotocol/server-slack</vt:lpstr>
      <vt:lpstr>Notion MCP Notion-hosted MCP</vt:lpstr>
      <vt:lpstr>Linear MCP Linear-hosted MCP</vt:lpstr>
      <vt:lpstr>Stripe MCP @stripe/mcp</vt:lpstr>
      <vt:lpstr>Recap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3</cp:revision>
  <dcterms:created xsi:type="dcterms:W3CDTF">2025-02-26T11:25:58Z</dcterms:created>
  <dcterms:modified xsi:type="dcterms:W3CDTF">2026-04-30T11:05:38Z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