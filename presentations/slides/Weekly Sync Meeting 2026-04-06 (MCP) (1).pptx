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25"/>
  </p:notesMasterIdLst>
  <p:sldIdLst>
    <p:sldId id="2147483401" r:id="rId2"/>
    <p:sldId id="2147483386" r:id="rId3"/>
    <p:sldId id="2147483642" r:id="rId4"/>
    <p:sldId id="2147483574" r:id="rId5"/>
    <p:sldId id="2147483576" r:id="rId6"/>
    <p:sldId id="257" r:id="rId7"/>
    <p:sldId id="256" r:id="rId8"/>
    <p:sldId id="2147483554" r:id="rId9"/>
    <p:sldId id="2147483555" r:id="rId10"/>
    <p:sldId id="2147483557" r:id="rId11"/>
    <p:sldId id="500" r:id="rId12"/>
    <p:sldId id="2147483572" r:id="rId13"/>
    <p:sldId id="2147483644" r:id="rId14"/>
    <p:sldId id="2147483647" r:id="rId15"/>
    <p:sldId id="2147483577" r:id="rId16"/>
    <p:sldId id="264" r:id="rId17"/>
    <p:sldId id="2147483646" r:id="rId18"/>
    <p:sldId id="262" r:id="rId19"/>
    <p:sldId id="259" r:id="rId20"/>
    <p:sldId id="260" r:id="rId21"/>
    <p:sldId id="261" r:id="rId22"/>
    <p:sldId id="258" r:id="rId23"/>
    <p:sldId id="26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98E261-060D-FB9B-0754-86FF9D546F09}" name="Ben Tyner" initials="BT" userId="S::btyner@lenovo.com::5deed283-7f15-4919-ba61-4c63216f9412" providerId="AD"/>
  <p188:author id="{BD1103C9-4F04-6CC4-C027-E622EE12ED50}" name="Song Luo6" initials="" userId="S::sluo6@Lenovo.com::d3b8cb8a-c714-4252-9893-a071fd8d80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9492" autoAdjust="0"/>
  </p:normalViewPr>
  <p:slideViewPr>
    <p:cSldViewPr snapToGrid="0">
      <p:cViewPr varScale="1">
        <p:scale>
          <a:sx n="101" d="100"/>
          <a:sy n="101" d="100"/>
        </p:scale>
        <p:origin x="97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49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49F7C-2645-AD44-B1D7-E233216F9F2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88E23-F122-EE4F-AE33-B6EE3C4E2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109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D256-15AB-C32C-1F7A-290AB8B2D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F00BA-A287-20A6-CE55-65D0EB529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9425" y="371475"/>
            <a:ext cx="5899150" cy="33194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AF1E9-7E48-9A24-C589-7F9C15636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17CA-B050-1F3E-44AD-634F94C7F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9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11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7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10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27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5202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42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488E23-F122-EE4F-AE33-B6EE3C4E225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57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2274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9805527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595903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6217094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75772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8809" y="35"/>
            <a:ext cx="4573191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1001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8323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72"/>
            <a:ext cx="12192000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809" y="36"/>
            <a:ext cx="4573191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337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1655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4784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1303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84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1677165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0297770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696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2531920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5396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3598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8007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0107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4350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3774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5132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8464443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757775"/>
            <a:ext cx="10670779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5799687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9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9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584604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4678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4679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9813525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7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8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8024042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8936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251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7863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8260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2818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09065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9084044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7059777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114976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losing Slide_Pa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7DC3B2-BF59-7EFF-7D1D-9A8C3F9C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2667002" y="-2667001"/>
            <a:ext cx="6857999" cy="12192001"/>
          </a:xfrm>
          <a:prstGeom prst="rect">
            <a:avLst/>
          </a:prstGeom>
        </p:spPr>
      </p:pic>
      <p:sp>
        <p:nvSpPr>
          <p:cNvPr id="107" name="Rectangle 28">
            <a:extLst>
              <a:ext uri="{FF2B5EF4-FFF2-40B4-BE49-F238E27FC236}">
                <a16:creationId xmlns:a16="http://schemas.microsoft.com/office/drawing/2014/main" id="{162181A8-B4A3-6ABE-33D7-3CF58D53B6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59241" y="837416"/>
            <a:ext cx="634346" cy="1898696"/>
          </a:xfrm>
          <a:prstGeom prst="rect">
            <a:avLst/>
          </a:prstGeom>
          <a:solidFill>
            <a:srgbClr val="E1140A"/>
          </a:solidFill>
          <a:ln>
            <a:noFill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874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CD9248-0A2C-4050-B347-2980229F11A8}"/>
              </a:ext>
            </a:extLst>
          </p:cNvPr>
          <p:cNvGrpSpPr/>
          <p:nvPr userDrawn="1"/>
        </p:nvGrpSpPr>
        <p:grpSpPr>
          <a:xfrm>
            <a:off x="1155043" y="3561909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99FEE917-CD84-4C97-B4F9-73DFE2A473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C9364A-BFFF-4F94-9D90-8A71731D6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E572E624-9DE1-4F42-A7F5-36B7B8A2F6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DD8A238C-0295-48D1-8872-FE51165DDE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6849E95A-0C53-4220-85E0-6DFCEA7D1C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056EAF60-5381-416A-895C-D1FAED9FDF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Oval 11">
              <a:extLst>
                <a:ext uri="{FF2B5EF4-FFF2-40B4-BE49-F238E27FC236}">
                  <a16:creationId xmlns:a16="http://schemas.microsoft.com/office/drawing/2014/main" id="{0154DA0C-208D-4580-AFAD-81B221FB1E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9D8385-18A9-B3F2-CD4F-85659B0D324E}"/>
              </a:ext>
            </a:extLst>
          </p:cNvPr>
          <p:cNvGrpSpPr/>
          <p:nvPr userDrawn="1"/>
        </p:nvGrpSpPr>
        <p:grpSpPr>
          <a:xfrm>
            <a:off x="11704170" y="1007069"/>
            <a:ext cx="321578" cy="1552800"/>
            <a:chOff x="7313961" y="501936"/>
            <a:chExt cx="323594" cy="1566108"/>
          </a:xfrm>
        </p:grpSpPr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3BA179E-E03A-BDA6-B43E-BC52081B18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3556" y="1311808"/>
              <a:ext cx="249567" cy="247350"/>
            </a:xfrm>
            <a:custGeom>
              <a:avLst/>
              <a:gdLst>
                <a:gd name="T0" fmla="*/ 0 w 574"/>
                <a:gd name="T1" fmla="*/ 229 h 569"/>
                <a:gd name="T2" fmla="*/ 90 w 574"/>
                <a:gd name="T3" fmla="*/ 413 h 569"/>
                <a:gd name="T4" fmla="*/ 90 w 574"/>
                <a:gd name="T5" fmla="*/ 413 h 569"/>
                <a:gd name="T6" fmla="*/ 90 w 574"/>
                <a:gd name="T7" fmla="*/ 413 h 569"/>
                <a:gd name="T8" fmla="*/ 9 w 574"/>
                <a:gd name="T9" fmla="*/ 413 h 569"/>
                <a:gd name="T10" fmla="*/ 9 w 574"/>
                <a:gd name="T11" fmla="*/ 569 h 569"/>
                <a:gd name="T12" fmla="*/ 574 w 574"/>
                <a:gd name="T13" fmla="*/ 569 h 569"/>
                <a:gd name="T14" fmla="*/ 574 w 574"/>
                <a:gd name="T15" fmla="*/ 413 h 569"/>
                <a:gd name="T16" fmla="*/ 253 w 574"/>
                <a:gd name="T17" fmla="*/ 413 h 569"/>
                <a:gd name="T18" fmla="*/ 133 w 574"/>
                <a:gd name="T19" fmla="*/ 286 h 569"/>
                <a:gd name="T20" fmla="*/ 253 w 574"/>
                <a:gd name="T21" fmla="*/ 155 h 569"/>
                <a:gd name="T22" fmla="*/ 574 w 574"/>
                <a:gd name="T23" fmla="*/ 155 h 569"/>
                <a:gd name="T24" fmla="*/ 574 w 574"/>
                <a:gd name="T25" fmla="*/ 0 h 569"/>
                <a:gd name="T26" fmla="*/ 224 w 574"/>
                <a:gd name="T27" fmla="*/ 0 h 569"/>
                <a:gd name="T28" fmla="*/ 0 w 574"/>
                <a:gd name="T29" fmla="*/ 22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74" h="569">
                  <a:moveTo>
                    <a:pt x="0" y="229"/>
                  </a:moveTo>
                  <a:cubicBezTo>
                    <a:pt x="0" y="294"/>
                    <a:pt x="30" y="368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" y="413"/>
                    <a:pt x="9" y="413"/>
                    <a:pt x="9" y="413"/>
                  </a:cubicBezTo>
                  <a:cubicBezTo>
                    <a:pt x="9" y="569"/>
                    <a:pt x="9" y="569"/>
                    <a:pt x="9" y="569"/>
                  </a:cubicBezTo>
                  <a:cubicBezTo>
                    <a:pt x="574" y="569"/>
                    <a:pt x="574" y="569"/>
                    <a:pt x="574" y="569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195" y="413"/>
                    <a:pt x="133" y="369"/>
                    <a:pt x="133" y="286"/>
                  </a:cubicBezTo>
                  <a:cubicBezTo>
                    <a:pt x="133" y="221"/>
                    <a:pt x="178" y="155"/>
                    <a:pt x="253" y="155"/>
                  </a:cubicBezTo>
                  <a:cubicBezTo>
                    <a:pt x="574" y="155"/>
                    <a:pt x="574" y="155"/>
                    <a:pt x="574" y="15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94" y="0"/>
                    <a:pt x="0" y="93"/>
                    <a:pt x="0" y="2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65F0261C-1D6E-C448-5607-0EE1E298A3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7546" y="755049"/>
              <a:ext cx="245577" cy="276163"/>
            </a:xfrm>
            <a:custGeom>
              <a:avLst/>
              <a:gdLst>
                <a:gd name="T0" fmla="*/ 0 w 554"/>
                <a:gd name="T1" fmla="*/ 174 h 623"/>
                <a:gd name="T2" fmla="*/ 377 w 554"/>
                <a:gd name="T3" fmla="*/ 311 h 623"/>
                <a:gd name="T4" fmla="*/ 0 w 554"/>
                <a:gd name="T5" fmla="*/ 450 h 623"/>
                <a:gd name="T6" fmla="*/ 0 w 554"/>
                <a:gd name="T7" fmla="*/ 623 h 623"/>
                <a:gd name="T8" fmla="*/ 554 w 554"/>
                <a:gd name="T9" fmla="*/ 395 h 623"/>
                <a:gd name="T10" fmla="*/ 554 w 554"/>
                <a:gd name="T11" fmla="*/ 228 h 623"/>
                <a:gd name="T12" fmla="*/ 0 w 554"/>
                <a:gd name="T13" fmla="*/ 0 h 623"/>
                <a:gd name="T14" fmla="*/ 0 w 554"/>
                <a:gd name="T15" fmla="*/ 174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4" h="623">
                  <a:moveTo>
                    <a:pt x="0" y="174"/>
                  </a:moveTo>
                  <a:lnTo>
                    <a:pt x="377" y="311"/>
                  </a:lnTo>
                  <a:lnTo>
                    <a:pt x="0" y="450"/>
                  </a:lnTo>
                  <a:lnTo>
                    <a:pt x="0" y="623"/>
                  </a:lnTo>
                  <a:lnTo>
                    <a:pt x="554" y="395"/>
                  </a:lnTo>
                  <a:lnTo>
                    <a:pt x="554" y="228"/>
                  </a:lnTo>
                  <a:lnTo>
                    <a:pt x="0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47199BBB-42F8-171B-BC7A-793C905E4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583096"/>
              <a:ext cx="253999" cy="256659"/>
            </a:xfrm>
            <a:custGeom>
              <a:avLst/>
              <a:gdLst>
                <a:gd name="T0" fmla="*/ 401 w 584"/>
                <a:gd name="T1" fmla="*/ 110 h 590"/>
                <a:gd name="T2" fmla="*/ 460 w 584"/>
                <a:gd name="T3" fmla="*/ 272 h 590"/>
                <a:gd name="T4" fmla="*/ 415 w 584"/>
                <a:gd name="T5" fmla="*/ 397 h 590"/>
                <a:gd name="T6" fmla="*/ 250 w 584"/>
                <a:gd name="T7" fmla="*/ 0 h 590"/>
                <a:gd name="T8" fmla="*/ 92 w 584"/>
                <a:gd name="T9" fmla="*/ 68 h 590"/>
                <a:gd name="T10" fmla="*/ 0 w 584"/>
                <a:gd name="T11" fmla="*/ 291 h 590"/>
                <a:gd name="T12" fmla="*/ 292 w 584"/>
                <a:gd name="T13" fmla="*/ 590 h 590"/>
                <a:gd name="T14" fmla="*/ 584 w 584"/>
                <a:gd name="T15" fmla="*/ 274 h 590"/>
                <a:gd name="T16" fmla="*/ 476 w 584"/>
                <a:gd name="T17" fmla="*/ 12 h 590"/>
                <a:gd name="T18" fmla="*/ 401 w 584"/>
                <a:gd name="T19" fmla="*/ 110 h 590"/>
                <a:gd name="T20" fmla="*/ 179 w 584"/>
                <a:gd name="T21" fmla="*/ 408 h 590"/>
                <a:gd name="T22" fmla="*/ 123 w 584"/>
                <a:gd name="T23" fmla="*/ 288 h 590"/>
                <a:gd name="T24" fmla="*/ 202 w 584"/>
                <a:gd name="T25" fmla="*/ 168 h 590"/>
                <a:gd name="T26" fmla="*/ 315 w 584"/>
                <a:gd name="T27" fmla="*/ 439 h 590"/>
                <a:gd name="T28" fmla="*/ 179 w 584"/>
                <a:gd name="T29" fmla="*/ 408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4" h="590">
                  <a:moveTo>
                    <a:pt x="401" y="110"/>
                  </a:moveTo>
                  <a:cubicBezTo>
                    <a:pt x="449" y="175"/>
                    <a:pt x="460" y="212"/>
                    <a:pt x="460" y="272"/>
                  </a:cubicBezTo>
                  <a:cubicBezTo>
                    <a:pt x="460" y="325"/>
                    <a:pt x="444" y="367"/>
                    <a:pt x="415" y="397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189" y="9"/>
                    <a:pt x="134" y="32"/>
                    <a:pt x="92" y="68"/>
                  </a:cubicBezTo>
                  <a:cubicBezTo>
                    <a:pt x="32" y="120"/>
                    <a:pt x="0" y="197"/>
                    <a:pt x="0" y="291"/>
                  </a:cubicBezTo>
                  <a:cubicBezTo>
                    <a:pt x="0" y="462"/>
                    <a:pt x="126" y="590"/>
                    <a:pt x="292" y="590"/>
                  </a:cubicBezTo>
                  <a:cubicBezTo>
                    <a:pt x="462" y="590"/>
                    <a:pt x="584" y="462"/>
                    <a:pt x="584" y="274"/>
                  </a:cubicBezTo>
                  <a:cubicBezTo>
                    <a:pt x="584" y="169"/>
                    <a:pt x="534" y="62"/>
                    <a:pt x="476" y="12"/>
                  </a:cubicBezTo>
                  <a:lnTo>
                    <a:pt x="401" y="110"/>
                  </a:lnTo>
                  <a:close/>
                  <a:moveTo>
                    <a:pt x="179" y="408"/>
                  </a:moveTo>
                  <a:cubicBezTo>
                    <a:pt x="144" y="381"/>
                    <a:pt x="123" y="339"/>
                    <a:pt x="123" y="288"/>
                  </a:cubicBezTo>
                  <a:cubicBezTo>
                    <a:pt x="123" y="232"/>
                    <a:pt x="155" y="190"/>
                    <a:pt x="202" y="168"/>
                  </a:cubicBezTo>
                  <a:cubicBezTo>
                    <a:pt x="315" y="439"/>
                    <a:pt x="315" y="439"/>
                    <a:pt x="315" y="439"/>
                  </a:cubicBezTo>
                  <a:cubicBezTo>
                    <a:pt x="257" y="447"/>
                    <a:pt x="212" y="432"/>
                    <a:pt x="179" y="4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Freeform 32">
              <a:extLst>
                <a:ext uri="{FF2B5EF4-FFF2-40B4-BE49-F238E27FC236}">
                  <a16:creationId xmlns:a16="http://schemas.microsoft.com/office/drawing/2014/main" id="{C843087F-6946-6AC0-B471-20C357A0CB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3961" y="1846404"/>
              <a:ext cx="319161" cy="221640"/>
            </a:xfrm>
            <a:custGeom>
              <a:avLst/>
              <a:gdLst>
                <a:gd name="T0" fmla="*/ 580 w 720"/>
                <a:gd name="T1" fmla="*/ 0 h 500"/>
                <a:gd name="T2" fmla="*/ 580 w 720"/>
                <a:gd name="T3" fmla="*/ 346 h 500"/>
                <a:gd name="T4" fmla="*/ 0 w 720"/>
                <a:gd name="T5" fmla="*/ 346 h 500"/>
                <a:gd name="T6" fmla="*/ 0 w 720"/>
                <a:gd name="T7" fmla="*/ 500 h 500"/>
                <a:gd name="T8" fmla="*/ 720 w 720"/>
                <a:gd name="T9" fmla="*/ 500 h 500"/>
                <a:gd name="T10" fmla="*/ 720 w 720"/>
                <a:gd name="T11" fmla="*/ 0 h 500"/>
                <a:gd name="T12" fmla="*/ 580 w 720"/>
                <a:gd name="T13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0" h="500">
                  <a:moveTo>
                    <a:pt x="580" y="0"/>
                  </a:moveTo>
                  <a:lnTo>
                    <a:pt x="580" y="346"/>
                  </a:lnTo>
                  <a:lnTo>
                    <a:pt x="0" y="346"/>
                  </a:lnTo>
                  <a:lnTo>
                    <a:pt x="0" y="500"/>
                  </a:lnTo>
                  <a:lnTo>
                    <a:pt x="720" y="500"/>
                  </a:lnTo>
                  <a:lnTo>
                    <a:pt x="720" y="0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id="{0735E3DE-07F6-5ACE-9B6C-8486746A6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501936"/>
              <a:ext cx="253999" cy="263752"/>
            </a:xfrm>
            <a:custGeom>
              <a:avLst/>
              <a:gdLst>
                <a:gd name="T0" fmla="*/ 584 w 584"/>
                <a:gd name="T1" fmla="*/ 304 h 607"/>
                <a:gd name="T2" fmla="*/ 292 w 584"/>
                <a:gd name="T3" fmla="*/ 607 h 607"/>
                <a:gd name="T4" fmla="*/ 0 w 584"/>
                <a:gd name="T5" fmla="*/ 302 h 607"/>
                <a:gd name="T6" fmla="*/ 292 w 584"/>
                <a:gd name="T7" fmla="*/ 0 h 607"/>
                <a:gd name="T8" fmla="*/ 584 w 584"/>
                <a:gd name="T9" fmla="*/ 304 h 607"/>
                <a:gd name="T10" fmla="*/ 133 w 584"/>
                <a:gd name="T11" fmla="*/ 304 h 607"/>
                <a:gd name="T12" fmla="*/ 292 w 584"/>
                <a:gd name="T13" fmla="*/ 454 h 607"/>
                <a:gd name="T14" fmla="*/ 451 w 584"/>
                <a:gd name="T15" fmla="*/ 302 h 607"/>
                <a:gd name="T16" fmla="*/ 292 w 584"/>
                <a:gd name="T17" fmla="*/ 153 h 607"/>
                <a:gd name="T18" fmla="*/ 133 w 584"/>
                <a:gd name="T19" fmla="*/ 30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4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3"/>
                    <a:pt x="0" y="302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3"/>
                    <a:pt x="584" y="304"/>
                  </a:cubicBezTo>
                  <a:moveTo>
                    <a:pt x="133" y="304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7"/>
                    <a:pt x="451" y="302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19"/>
                    <a:pt x="133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34">
              <a:extLst>
                <a:ext uri="{FF2B5EF4-FFF2-40B4-BE49-F238E27FC236}">
                  <a16:creationId xmlns:a16="http://schemas.microsoft.com/office/drawing/2014/main" id="{E908C976-1C06-60D5-6B16-65E7558C46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021017"/>
              <a:ext cx="253999" cy="263752"/>
            </a:xfrm>
            <a:custGeom>
              <a:avLst/>
              <a:gdLst>
                <a:gd name="T0" fmla="*/ 584 w 584"/>
                <a:gd name="T1" fmla="*/ 305 h 607"/>
                <a:gd name="T2" fmla="*/ 292 w 584"/>
                <a:gd name="T3" fmla="*/ 607 h 607"/>
                <a:gd name="T4" fmla="*/ 0 w 584"/>
                <a:gd name="T5" fmla="*/ 303 h 607"/>
                <a:gd name="T6" fmla="*/ 292 w 584"/>
                <a:gd name="T7" fmla="*/ 0 h 607"/>
                <a:gd name="T8" fmla="*/ 584 w 584"/>
                <a:gd name="T9" fmla="*/ 305 h 607"/>
                <a:gd name="T10" fmla="*/ 133 w 584"/>
                <a:gd name="T11" fmla="*/ 305 h 607"/>
                <a:gd name="T12" fmla="*/ 292 w 584"/>
                <a:gd name="T13" fmla="*/ 454 h 607"/>
                <a:gd name="T14" fmla="*/ 451 w 584"/>
                <a:gd name="T15" fmla="*/ 303 h 607"/>
                <a:gd name="T16" fmla="*/ 292 w 584"/>
                <a:gd name="T17" fmla="*/ 153 h 607"/>
                <a:gd name="T18" fmla="*/ 133 w 584"/>
                <a:gd name="T19" fmla="*/ 30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5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4"/>
                    <a:pt x="0" y="303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4"/>
                    <a:pt x="584" y="305"/>
                  </a:cubicBezTo>
                  <a:moveTo>
                    <a:pt x="133" y="305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8"/>
                    <a:pt x="451" y="303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20"/>
                    <a:pt x="133" y="3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53E22CE-6CE9-A7DF-E1E4-32283C5D79F2}"/>
              </a:ext>
            </a:extLst>
          </p:cNvPr>
          <p:cNvGrpSpPr/>
          <p:nvPr userDrawn="1"/>
        </p:nvGrpSpPr>
        <p:grpSpPr>
          <a:xfrm>
            <a:off x="9392772" y="1007070"/>
            <a:ext cx="1966475" cy="1042086"/>
            <a:chOff x="4988072" y="501936"/>
            <a:chExt cx="1978802" cy="1051017"/>
          </a:xfrm>
          <a:solidFill>
            <a:sysClr val="window" lastClr="FFFFFF"/>
          </a:solidFill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46832762-1FDB-79DE-0116-590EFE1BF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F88E21DB-AACA-7BB4-F6D2-1F4C5401CE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52B3821B-BD3F-5903-AC9F-3A823316CE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615787A-DBE6-8A88-69F5-5A743A360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64925F2E-2156-2133-05C7-39B4E06355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B7C49DB2-058E-4C3A-3CD8-D3775C452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237CF234-6919-09AE-586F-E8BFF9CB21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A12BEBB4-72BA-02AE-B04E-FC837D76C7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3E1F52B7-F750-92A7-3526-2180033C1F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15E86207-681D-E5D3-DB63-9B332801F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2624DD06-4563-34ED-B02F-203711C214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6539804E-49D9-F9AE-8083-4F05BD6A0C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90B50D40-99CE-1473-15B4-5299FEAC0C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Rectangle 18">
              <a:extLst>
                <a:ext uri="{FF2B5EF4-FFF2-40B4-BE49-F238E27FC236}">
                  <a16:creationId xmlns:a16="http://schemas.microsoft.com/office/drawing/2014/main" id="{BF8AE83E-83AC-9994-A3D5-5CB40E41A4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F2967061-6675-42C3-4CA5-569ADCB8ED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01FB6753-B1D5-6F70-B47F-094F054C4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6F959949-86D4-DB5C-2349-B15105187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80D4118D-EC2F-95B2-B283-DD48787D88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BAB0657A-C6D3-999C-2939-5E9A691259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BA5CB107-22E8-2533-3520-1D74DF98D3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8BBD5819-AF33-CE21-FFB0-86AA50C86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Rectangle 26">
              <a:extLst>
                <a:ext uri="{FF2B5EF4-FFF2-40B4-BE49-F238E27FC236}">
                  <a16:creationId xmlns:a16="http://schemas.microsoft.com/office/drawing/2014/main" id="{F8CB981B-6D5D-5C6C-01F0-D4E50481962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Rectangle 27">
              <a:extLst>
                <a:ext uri="{FF2B5EF4-FFF2-40B4-BE49-F238E27FC236}">
                  <a16:creationId xmlns:a16="http://schemas.microsoft.com/office/drawing/2014/main" id="{4ACCDF81-2136-4911-AFA1-0B67ED5BCD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84202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201234" cy="153888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2017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742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742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15" indent="-171415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70" indent="-228514">
              <a:lnSpc>
                <a:spcPct val="90000"/>
              </a:lnSpc>
              <a:spcBef>
                <a:spcPts val="499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770" indent="-150228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802" indent="-156574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140" indent="-150228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336FA78-0CE7-7D62-37F5-4FB8EEBC8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9530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6177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497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</a:t>
            </a:r>
            <a:r>
              <a:rPr lang="he-IL" sz="1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2157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801" r:id="rId38"/>
    <p:sldLayoutId id="2147483844" r:id="rId39"/>
    <p:sldLayoutId id="2147483845" r:id="rId40"/>
    <p:sldLayoutId id="2147483846" r:id="rId41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5.emnlp-main.6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5.emnlp-main.62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0755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67B289-254C-4A4F-B9CC-0DDB7949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94" y="592278"/>
            <a:ext cx="10322603" cy="3273368"/>
          </a:xfrm>
        </p:spPr>
        <p:txBody>
          <a:bodyPr/>
          <a:lstStyle/>
          <a:p>
            <a:r>
              <a:rPr lang="en-US" sz="5400" dirty="0"/>
              <a:t>Weekly status meeting on </a:t>
            </a:r>
            <a:br>
              <a:rPr lang="en-US" sz="5400" dirty="0"/>
            </a:br>
            <a:r>
              <a:rPr lang="en-US" sz="5400" dirty="0"/>
              <a:t>MCP Security Score project</a:t>
            </a:r>
            <a:endParaRPr lang="en-IL" sz="48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13E41C5E-FE97-4C09-94EE-ACF6056DE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493" y="4390332"/>
            <a:ext cx="10054750" cy="2001232"/>
          </a:xfrm>
        </p:spPr>
        <p:txBody>
          <a:bodyPr/>
          <a:lstStyle/>
          <a:p>
            <a:r>
              <a:rPr lang="en-US" sz="2400" dirty="0"/>
              <a:t>05/20/2026</a:t>
            </a:r>
          </a:p>
        </p:txBody>
      </p:sp>
    </p:spTree>
    <p:extLst>
      <p:ext uri="{BB962C8B-B14F-4D97-AF65-F5344CB8AC3E}">
        <p14:creationId xmlns:p14="http://schemas.microsoft.com/office/powerpoint/2010/main" val="32709973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BF55C-2FA1-1AFF-9D9C-1EB75A89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6CBC9C4-B078-B0B7-DCFF-6C002548FECB}"/>
              </a:ext>
            </a:extLst>
          </p:cNvPr>
          <p:cNvSpPr/>
          <p:nvPr/>
        </p:nvSpPr>
        <p:spPr>
          <a:xfrm rot="16200000">
            <a:off x="1473878" y="2664121"/>
            <a:ext cx="1557271" cy="615608"/>
          </a:xfrm>
          <a:prstGeom prst="rect">
            <a:avLst/>
          </a:prstGeom>
          <a:solidFill>
            <a:srgbClr val="007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 Guardian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8FBAF08-9F5E-BA3B-569B-6DAB854CB4C3}"/>
              </a:ext>
            </a:extLst>
          </p:cNvPr>
          <p:cNvGraphicFramePr>
            <a:graphicFrameLocks noGrp="1"/>
          </p:cNvGraphicFramePr>
          <p:nvPr/>
        </p:nvGraphicFramePr>
        <p:xfrm>
          <a:off x="2587387" y="1615243"/>
          <a:ext cx="7372642" cy="54846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03750">
                  <a:extLst>
                    <a:ext uri="{9D8B030D-6E8A-4147-A177-3AD203B41FA5}">
                      <a16:colId xmlns:a16="http://schemas.microsoft.com/office/drawing/2014/main" val="3738311955"/>
                    </a:ext>
                  </a:extLst>
                </a:gridCol>
                <a:gridCol w="939410">
                  <a:extLst>
                    <a:ext uri="{9D8B030D-6E8A-4147-A177-3AD203B41FA5}">
                      <a16:colId xmlns:a16="http://schemas.microsoft.com/office/drawing/2014/main" val="461803244"/>
                    </a:ext>
                  </a:extLst>
                </a:gridCol>
                <a:gridCol w="921581">
                  <a:extLst>
                    <a:ext uri="{9D8B030D-6E8A-4147-A177-3AD203B41FA5}">
                      <a16:colId xmlns:a16="http://schemas.microsoft.com/office/drawing/2014/main" val="1068970609"/>
                    </a:ext>
                  </a:extLst>
                </a:gridCol>
                <a:gridCol w="921581">
                  <a:extLst>
                    <a:ext uri="{9D8B030D-6E8A-4147-A177-3AD203B41FA5}">
                      <a16:colId xmlns:a16="http://schemas.microsoft.com/office/drawing/2014/main" val="2756060863"/>
                    </a:ext>
                  </a:extLst>
                </a:gridCol>
                <a:gridCol w="921581">
                  <a:extLst>
                    <a:ext uri="{9D8B030D-6E8A-4147-A177-3AD203B41FA5}">
                      <a16:colId xmlns:a16="http://schemas.microsoft.com/office/drawing/2014/main" val="1693389861"/>
                    </a:ext>
                  </a:extLst>
                </a:gridCol>
                <a:gridCol w="921581">
                  <a:extLst>
                    <a:ext uri="{9D8B030D-6E8A-4147-A177-3AD203B41FA5}">
                      <a16:colId xmlns:a16="http://schemas.microsoft.com/office/drawing/2014/main" val="1882115373"/>
                    </a:ext>
                  </a:extLst>
                </a:gridCol>
                <a:gridCol w="921579">
                  <a:extLst>
                    <a:ext uri="{9D8B030D-6E8A-4147-A177-3AD203B41FA5}">
                      <a16:colId xmlns:a16="http://schemas.microsoft.com/office/drawing/2014/main" val="3145605956"/>
                    </a:ext>
                  </a:extLst>
                </a:gridCol>
                <a:gridCol w="921579">
                  <a:extLst>
                    <a:ext uri="{9D8B030D-6E8A-4147-A177-3AD203B41FA5}">
                      <a16:colId xmlns:a16="http://schemas.microsoft.com/office/drawing/2014/main" val="1177454057"/>
                    </a:ext>
                  </a:extLst>
                </a:gridCol>
              </a:tblGrid>
              <a:tr h="304682">
                <a:tc gridSpan="4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1</a:t>
                      </a:r>
                      <a:endParaRPr lang="en-US" altLang="zh-TW" sz="1400" b="1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itchFamily="2" charset="-122"/>
                        <a:cs typeface="Arial" panose="020B0604020202020204" pitchFamily="34" charset="0"/>
                      </a:endParaRP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400" b="1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2</a:t>
                      </a:r>
                      <a:endParaRPr lang="en-US" altLang="zh-TW" sz="1400" b="1"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黑体" pitchFamily="2" charset="-122"/>
                        <a:cs typeface="Arial" panose="020B0604020202020204" pitchFamily="34" charset="0"/>
                      </a:endParaRP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1218987" rtl="0" eaLnBrk="1" fontAlgn="t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900" b="1" kern="1200">
                        <a:solidFill>
                          <a:schemeClr val="tx1"/>
                        </a:solidFill>
                        <a:latin typeface="+mn-lt"/>
                        <a:ea typeface="黑体" pitchFamily="2" charset="-122"/>
                        <a:cs typeface="Calibri" pitchFamily="34" charset="0"/>
                      </a:endParaRPr>
                    </a:p>
                  </a:txBody>
                  <a:tcPr marL="91368" marR="91368" marT="45684" marB="45684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875872"/>
                  </a:ext>
                </a:extLst>
              </a:tr>
              <a:tr h="243730"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91354" marR="91354" marT="45677" marB="45677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34472"/>
                  </a:ext>
                </a:extLst>
              </a:tr>
            </a:tbl>
          </a:graphicData>
        </a:graphic>
      </p:graphicFrame>
      <p:sp>
        <p:nvSpPr>
          <p:cNvPr id="138" name="Rectangle 137">
            <a:extLst>
              <a:ext uri="{FF2B5EF4-FFF2-40B4-BE49-F238E27FC236}">
                <a16:creationId xmlns:a16="http://schemas.microsoft.com/office/drawing/2014/main" id="{46DEE79F-453A-C4D9-DBC0-3B33A431D863}"/>
              </a:ext>
            </a:extLst>
          </p:cNvPr>
          <p:cNvSpPr/>
          <p:nvPr/>
        </p:nvSpPr>
        <p:spPr>
          <a:xfrm rot="16200000">
            <a:off x="5491345" y="-712726"/>
            <a:ext cx="1557269" cy="7356997"/>
          </a:xfrm>
          <a:prstGeom prst="rect">
            <a:avLst/>
          </a:prstGeom>
          <a:noFill/>
          <a:ln w="3175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7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@</a:t>
            </a: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82377978-36AB-0548-47E4-DF7ED6125FFE}"/>
              </a:ext>
            </a:extLst>
          </p:cNvPr>
          <p:cNvSpPr txBox="1">
            <a:spLocks/>
          </p:cNvSpPr>
          <p:nvPr/>
        </p:nvSpPr>
        <p:spPr>
          <a:xfrm>
            <a:off x="228482" y="220110"/>
            <a:ext cx="11222158" cy="609347"/>
          </a:xfrm>
          <a:prstGeom prst="rect">
            <a:avLst/>
          </a:prstGeom>
        </p:spPr>
        <p:txBody>
          <a:bodyPr vert="horz" lIns="121869" tIns="60934" rIns="121869" bIns="60934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862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Solutions Roadmap – MCP Risk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59BEA-3116-F46D-3C2B-66E1BC501C09}"/>
              </a:ext>
            </a:extLst>
          </p:cNvPr>
          <p:cNvSpPr/>
          <p:nvPr/>
        </p:nvSpPr>
        <p:spPr>
          <a:xfrm>
            <a:off x="2587386" y="2582056"/>
            <a:ext cx="1813163" cy="372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Testbed Implementation (Lenovo use cases)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B5FBEC64-3D43-12D0-34F1-41A647B1B960}"/>
              </a:ext>
            </a:extLst>
          </p:cNvPr>
          <p:cNvSpPr txBox="1">
            <a:spLocks/>
          </p:cNvSpPr>
          <p:nvPr/>
        </p:nvSpPr>
        <p:spPr>
          <a:xfrm>
            <a:off x="11668676" y="6400345"/>
            <a:ext cx="438845" cy="155424"/>
          </a:xfrm>
          <a:prstGeom prst="rect">
            <a:avLst/>
          </a:prstGeom>
        </p:spPr>
        <p:txBody>
          <a:bodyPr vert="horz" lIns="91426" tIns="45713" rIns="91426" bIns="45713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2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52667-A128-B213-4D94-AC9B0D294B76}"/>
              </a:ext>
            </a:extLst>
          </p:cNvPr>
          <p:cNvSpPr txBox="1"/>
          <p:nvPr/>
        </p:nvSpPr>
        <p:spPr>
          <a:xfrm>
            <a:off x="3705765" y="4109588"/>
            <a:ext cx="1389567" cy="571797"/>
          </a:xfrm>
          <a:prstGeom prst="rect">
            <a:avLst/>
          </a:prstGeom>
          <a:noFill/>
          <a:ln w="19050">
            <a:solidFill>
              <a:srgbClr val="7A116B"/>
            </a:solidFill>
            <a:miter lim="800000"/>
            <a:headEnd/>
            <a:tailEnd/>
          </a:ln>
        </p:spPr>
        <p:txBody>
          <a:bodyPr vert="horz" wrap="square" lIns="76175" tIns="38087" rIns="76175" bIns="38087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83795" rtl="0" eaLnBrk="1" fontAlgn="base" latinLnBrk="0" hangingPunct="1">
              <a:lnSpc>
                <a:spcPct val="104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75000"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Swagger" pitchFamily="2" charset="0"/>
                <a:cs typeface="Arial" panose="020B0604020202020204" pitchFamily="34" charset="0"/>
              </a:rPr>
              <a:t>We are here: End of Q2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2458D-3527-A3AF-8D8C-28855E6D7FDD}"/>
              </a:ext>
            </a:extLst>
          </p:cNvPr>
          <p:cNvSpPr/>
          <p:nvPr/>
        </p:nvSpPr>
        <p:spPr>
          <a:xfrm>
            <a:off x="6285911" y="2187137"/>
            <a:ext cx="3666162" cy="1572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Phase II</a:t>
            </a:r>
          </a:p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(Waiting for plan)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6A0247-C838-4C03-8967-204860835E98}"/>
              </a:ext>
            </a:extLst>
          </p:cNvPr>
          <p:cNvSpPr/>
          <p:nvPr/>
        </p:nvSpPr>
        <p:spPr>
          <a:xfrm>
            <a:off x="2601444" y="2194836"/>
            <a:ext cx="696596" cy="372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D4F97C-B273-4DEB-9F1F-4F36078B3805}"/>
              </a:ext>
            </a:extLst>
          </p:cNvPr>
          <p:cNvSpPr/>
          <p:nvPr/>
        </p:nvSpPr>
        <p:spPr>
          <a:xfrm>
            <a:off x="2580358" y="2962160"/>
            <a:ext cx="1813163" cy="372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Proposed Method Design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F27E67-82EA-410B-BA4D-4C77CDB5A608}"/>
              </a:ext>
            </a:extLst>
          </p:cNvPr>
          <p:cNvSpPr/>
          <p:nvPr/>
        </p:nvSpPr>
        <p:spPr>
          <a:xfrm>
            <a:off x="2580359" y="3349884"/>
            <a:ext cx="3666162" cy="3724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2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and Ongoing Evaluation (version every 3 months, starting T+6)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7E05ECF-4764-2733-C1D2-9B4C6A60D5D0}"/>
              </a:ext>
            </a:extLst>
          </p:cNvPr>
          <p:cNvCxnSpPr>
            <a:cxnSpLocks/>
          </p:cNvCxnSpPr>
          <p:nvPr/>
        </p:nvCxnSpPr>
        <p:spPr>
          <a:xfrm>
            <a:off x="4400549" y="1439127"/>
            <a:ext cx="0" cy="2551175"/>
          </a:xfrm>
          <a:prstGeom prst="line">
            <a:avLst/>
          </a:prstGeom>
          <a:ln>
            <a:solidFill>
              <a:srgbClr val="4D134A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E02AC-9977-482A-B539-656136390483}"/>
              </a:ext>
            </a:extLst>
          </p:cNvPr>
          <p:cNvSpPr/>
          <p:nvPr/>
        </p:nvSpPr>
        <p:spPr>
          <a:xfrm>
            <a:off x="4292211" y="5341449"/>
            <a:ext cx="13318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Close 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Deliverables</a:t>
            </a:r>
            <a:br>
              <a:rPr lang="en-US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July, 31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2E053B6-0A6A-4E81-9559-10BC6EFFED40}"/>
              </a:ext>
            </a:extLst>
          </p:cNvPr>
          <p:cNvSpPr/>
          <p:nvPr/>
        </p:nvSpPr>
        <p:spPr>
          <a:xfrm>
            <a:off x="5746728" y="5242756"/>
            <a:ext cx="349272" cy="843719"/>
          </a:xfrm>
          <a:prstGeom prst="leftBrac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225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E3B8-7286-42F7-BF78-C8EBE4B6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EE8AF-C223-4CDB-B911-9B45082EE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Goal: To calculate risk score for requests from AI agents to MCP Servers according to the couple of parameters</a:t>
            </a:r>
          </a:p>
          <a:p>
            <a:endParaRPr lang="en-US" dirty="0"/>
          </a:p>
          <a:p>
            <a:r>
              <a:rPr lang="en-US" dirty="0"/>
              <a:t>Solution: Calculate score according to potential damage on MCP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EBBB6-D09D-4CED-8437-72A16D9DD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22119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82E5-31B4-4062-932A-58135085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MCP changes the Threat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AA2FF-72DE-4631-B873-034B736C3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63615A1B-AAB3-4DDA-9B62-B70D4755FCF1}"/>
              </a:ext>
            </a:extLst>
          </p:cNvPr>
          <p:cNvSpPr/>
          <p:nvPr/>
        </p:nvSpPr>
        <p:spPr>
          <a:xfrm>
            <a:off x="760610" y="1123025"/>
            <a:ext cx="4952212" cy="5484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Traditional SW System</a:t>
            </a:r>
          </a:p>
        </p:txBody>
      </p:sp>
      <p:sp>
        <p:nvSpPr>
          <p:cNvPr id="6" name="Shape 24">
            <a:extLst>
              <a:ext uri="{FF2B5EF4-FFF2-40B4-BE49-F238E27FC236}">
                <a16:creationId xmlns:a16="http://schemas.microsoft.com/office/drawing/2014/main" id="{CD990E9D-6993-4E49-904D-B8316F347773}"/>
              </a:ext>
            </a:extLst>
          </p:cNvPr>
          <p:cNvSpPr/>
          <p:nvPr/>
        </p:nvSpPr>
        <p:spPr>
          <a:xfrm>
            <a:off x="5763588" y="1123025"/>
            <a:ext cx="5667802" cy="54849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MCP &amp; AI Agents</a:t>
            </a:r>
          </a:p>
        </p:txBody>
      </p:sp>
      <p:sp>
        <p:nvSpPr>
          <p:cNvPr id="7" name="Google Shape;544;p3">
            <a:extLst>
              <a:ext uri="{FF2B5EF4-FFF2-40B4-BE49-F238E27FC236}">
                <a16:creationId xmlns:a16="http://schemas.microsoft.com/office/drawing/2014/main" id="{7CBD79BE-F6AF-436F-8402-1F1B0AFC1BDE}"/>
              </a:ext>
            </a:extLst>
          </p:cNvPr>
          <p:cNvSpPr/>
          <p:nvPr/>
        </p:nvSpPr>
        <p:spPr>
          <a:xfrm>
            <a:off x="6008914" y="1933443"/>
            <a:ext cx="5400705" cy="41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The system operates through an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agent-mediated flow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 from user to LLM to MCP tools and downstream assets.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Data and instructions 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are processed within a unified token space, making them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indistinguishable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Decision-making is delegated to the LLM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, which interprets inputs and acts autonomously.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The LLM functions as an active system actor, generating tool calls rather than merely routing requests.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Tool execution is dynamic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, with context-driven chaining that evolves during runtime.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System behavior is non-deterministic, where identical inputs may lead to different actions.</a:t>
            </a:r>
          </a:p>
        </p:txBody>
      </p:sp>
      <p:sp>
        <p:nvSpPr>
          <p:cNvPr id="8" name="Google Shape;544;p3">
            <a:extLst>
              <a:ext uri="{FF2B5EF4-FFF2-40B4-BE49-F238E27FC236}">
                <a16:creationId xmlns:a16="http://schemas.microsoft.com/office/drawing/2014/main" id="{D31DA1D2-6480-4604-9B59-F194B09115B3}"/>
              </a:ext>
            </a:extLst>
          </p:cNvPr>
          <p:cNvSpPr/>
          <p:nvPr/>
        </p:nvSpPr>
        <p:spPr>
          <a:xfrm>
            <a:off x="782381" y="1933443"/>
            <a:ext cx="5042263" cy="416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The system follows a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linear flow</a:t>
            </a:r>
            <a:r>
              <a:rPr lang="en-US" sz="1600" dirty="0">
                <a:ea typeface="Arial"/>
                <a:cs typeface="Arial"/>
                <a:sym typeface="Arial"/>
              </a:rPr>
              <a:t>, e.g. 3-tier-application f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rom user to application to database.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Data and executable 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instructions are strictly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separated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Inputs are trusted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, with the user acting as the primary decision-maker.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Control flow is explicit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, based on predefined and auditable logic.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System interactions are bounded</a:t>
            </a:r>
            <a:r>
              <a:rPr lang="en-US" sz="1600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, with limited cross-system access.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Execution is deterministic, where identical inputs produce consistent outcomes</a:t>
            </a:r>
            <a:endParaRPr sz="1600" b="1" dirty="0">
              <a:solidFill>
                <a:schemeClr val="accent5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A2013-45A7-4D88-AFB6-59F0CCAE4BBB}"/>
              </a:ext>
            </a:extLst>
          </p:cNvPr>
          <p:cNvSpPr/>
          <p:nvPr/>
        </p:nvSpPr>
        <p:spPr>
          <a:xfrm>
            <a:off x="684410" y="6230806"/>
            <a:ext cx="1064900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The trust boundary is expanded,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ea typeface="Arial"/>
                <a:cs typeface="Arial"/>
                <a:sym typeface="Arial"/>
              </a:rPr>
              <a:t>allowing external content to influence internal system operations</a:t>
            </a:r>
            <a:r>
              <a:rPr lang="en-US" dirty="0">
                <a:solidFill>
                  <a:srgbClr val="222222"/>
                </a:solidFill>
                <a:ea typeface="Arial"/>
                <a:cs typeface="Arial"/>
                <a:sym typeface="Arial"/>
              </a:rPr>
              <a:t>.</a:t>
            </a:r>
            <a:endParaRPr lang="en-US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8575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E689-0550-4D6F-B1AD-CA539136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Illustrative MCP Use Case: </a:t>
            </a:r>
            <a:r>
              <a:rPr lang="en-US" sz="2400" dirty="0"/>
              <a:t>Same MCP Server, Different Intent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C42C5-C941-40F7-8EAE-AC73451DF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z="1200" smtClean="0"/>
              <a:pPr/>
              <a:t>5</a:t>
            </a:fld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CA01F1-E00E-4E8D-BC52-A1DC79FA5A1E}"/>
              </a:ext>
            </a:extLst>
          </p:cNvPr>
          <p:cNvSpPr/>
          <p:nvPr/>
        </p:nvSpPr>
        <p:spPr>
          <a:xfrm>
            <a:off x="196849" y="938223"/>
            <a:ext cx="576072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486A99-0E79-4A9E-B671-E0DE9E2959B0}"/>
              </a:ext>
            </a:extLst>
          </p:cNvPr>
          <p:cNvSpPr/>
          <p:nvPr/>
        </p:nvSpPr>
        <p:spPr>
          <a:xfrm>
            <a:off x="196849" y="938223"/>
            <a:ext cx="5760720" cy="4572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CE35B6-D5E4-449F-ACB3-F5EF740F99E8}"/>
              </a:ext>
            </a:extLst>
          </p:cNvPr>
          <p:cNvSpPr txBox="1"/>
          <p:nvPr/>
        </p:nvSpPr>
        <p:spPr>
          <a:xfrm>
            <a:off x="425449" y="939069"/>
            <a:ext cx="5303520" cy="45550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0" dirty="0">
                <a:solidFill>
                  <a:srgbClr val="FFFFFF"/>
                </a:solidFill>
                <a:latin typeface="Calibri"/>
              </a:rPr>
              <a:t>Benign Scenario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6454F968-58EC-43F1-9A82-9D7901581AD0}"/>
              </a:ext>
            </a:extLst>
          </p:cNvPr>
          <p:cNvSpPr/>
          <p:nvPr/>
        </p:nvSpPr>
        <p:spPr>
          <a:xfrm>
            <a:off x="425449" y="1578303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EAF3E6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5ED2D30E-753F-4340-98D4-C43CBEF186C7}"/>
              </a:ext>
            </a:extLst>
          </p:cNvPr>
          <p:cNvSpPr/>
          <p:nvPr/>
        </p:nvSpPr>
        <p:spPr>
          <a:xfrm>
            <a:off x="608329" y="1669743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97075B5-DF48-46D5-B0D3-F48E0217F199}"/>
              </a:ext>
            </a:extLst>
          </p:cNvPr>
          <p:cNvSpPr txBox="1"/>
          <p:nvPr/>
        </p:nvSpPr>
        <p:spPr>
          <a:xfrm>
            <a:off x="608329" y="1700473"/>
            <a:ext cx="640080" cy="5786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2BEE45-9D95-4955-BEAD-025839314D94}"/>
              </a:ext>
            </a:extLst>
          </p:cNvPr>
          <p:cNvSpPr txBox="1"/>
          <p:nvPr/>
        </p:nvSpPr>
        <p:spPr>
          <a:xfrm>
            <a:off x="1413001" y="1585353"/>
            <a:ext cx="4334256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dirty="0">
                <a:solidFill>
                  <a:srgbClr val="21295C"/>
                </a:solidFill>
                <a:latin typeface="Calibri"/>
              </a:rPr>
              <a:t>AI Agent  (LLM Client)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6C9BA7D-2D8F-4199-967C-AB1B0C586192}"/>
              </a:ext>
            </a:extLst>
          </p:cNvPr>
          <p:cNvSpPr txBox="1"/>
          <p:nvPr/>
        </p:nvSpPr>
        <p:spPr>
          <a:xfrm>
            <a:off x="1413001" y="1892724"/>
            <a:ext cx="4517022" cy="39395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555B6A"/>
                </a:solidFill>
                <a:latin typeface="Calibri"/>
              </a:rPr>
              <a:t>User instruction: </a:t>
            </a:r>
            <a:r>
              <a:rPr lang="en-US" sz="1600" b="1" dirty="0">
                <a:solidFill>
                  <a:srgbClr val="555B6A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21295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“Show me customer #42.”</a:t>
            </a:r>
          </a:p>
        </p:txBody>
      </p:sp>
      <p:sp>
        <p:nvSpPr>
          <p:cNvPr id="13" name="Down Arrow 13">
            <a:extLst>
              <a:ext uri="{FF2B5EF4-FFF2-40B4-BE49-F238E27FC236}">
                <a16:creationId xmlns:a16="http://schemas.microsoft.com/office/drawing/2014/main" id="{5198ABDD-4E6E-45D3-99FB-F9818F5CE8E6}"/>
              </a:ext>
            </a:extLst>
          </p:cNvPr>
          <p:cNvSpPr/>
          <p:nvPr/>
        </p:nvSpPr>
        <p:spPr>
          <a:xfrm>
            <a:off x="2848609" y="2474415"/>
            <a:ext cx="457200" cy="292608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97BC62"/>
          </a:solidFill>
          <a:ln w="12700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4C14E0F2-5A9C-4F1A-BB60-E2AF1E4356F9}"/>
              </a:ext>
            </a:extLst>
          </p:cNvPr>
          <p:cNvSpPr/>
          <p:nvPr/>
        </p:nvSpPr>
        <p:spPr>
          <a:xfrm>
            <a:off x="425449" y="2840175"/>
            <a:ext cx="5303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FDF951C3-C045-4491-818A-ADB7B7829A70}"/>
              </a:ext>
            </a:extLst>
          </p:cNvPr>
          <p:cNvSpPr/>
          <p:nvPr/>
        </p:nvSpPr>
        <p:spPr>
          <a:xfrm>
            <a:off x="425449" y="2840175"/>
            <a:ext cx="5303520" cy="256032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A6E97A4-D20D-41AE-9264-1601FB7BA0CB}"/>
              </a:ext>
            </a:extLst>
          </p:cNvPr>
          <p:cNvSpPr txBox="1"/>
          <p:nvPr/>
        </p:nvSpPr>
        <p:spPr>
          <a:xfrm>
            <a:off x="608329" y="2771215"/>
            <a:ext cx="4937760" cy="39395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MCP Protocol  ·  JSON-RPC tool call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C1C73EB-7B86-413C-A874-3E876CD78E8B}"/>
              </a:ext>
            </a:extLst>
          </p:cNvPr>
          <p:cNvSpPr txBox="1"/>
          <p:nvPr/>
        </p:nvSpPr>
        <p:spPr>
          <a:xfrm>
            <a:off x="565913" y="3136529"/>
            <a:ext cx="512064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dirty="0">
                <a:solidFill>
                  <a:srgbClr val="2C5F2D"/>
                </a:solidFill>
                <a:latin typeface="Consolas"/>
              </a:rPr>
              <a:t>{</a:t>
            </a:r>
            <a:r>
              <a:rPr lang="en-US" sz="1600" b="0" dirty="0">
                <a:solidFill>
                  <a:srgbClr val="2C5F2D"/>
                </a:solidFill>
                <a:latin typeface="Consolas"/>
              </a:rPr>
              <a:t> </a:t>
            </a:r>
            <a:r>
              <a:rPr sz="1600" b="0" dirty="0">
                <a:solidFill>
                  <a:srgbClr val="2C5F2D"/>
                </a:solidFill>
                <a:latin typeface="Consolas"/>
              </a:rPr>
              <a:t>"tool":"</a:t>
            </a:r>
            <a:r>
              <a:rPr sz="1600" b="0" dirty="0" err="1">
                <a:solidFill>
                  <a:srgbClr val="2C5F2D"/>
                </a:solidFill>
                <a:latin typeface="Consolas"/>
              </a:rPr>
              <a:t>read_row</a:t>
            </a:r>
            <a:r>
              <a:rPr sz="1600" b="0" dirty="0">
                <a:solidFill>
                  <a:srgbClr val="2C5F2D"/>
                </a:solidFill>
                <a:latin typeface="Consolas"/>
              </a:rPr>
              <a:t>",
  "</a:t>
            </a:r>
            <a:r>
              <a:rPr sz="1600" b="0" dirty="0" err="1">
                <a:solidFill>
                  <a:srgbClr val="2C5F2D"/>
                </a:solidFill>
                <a:latin typeface="Consolas"/>
              </a:rPr>
              <a:t>args</a:t>
            </a:r>
            <a:r>
              <a:rPr sz="1600" b="0" dirty="0">
                <a:solidFill>
                  <a:srgbClr val="2C5F2D"/>
                </a:solidFill>
                <a:latin typeface="Consolas"/>
              </a:rPr>
              <a:t>":{"</a:t>
            </a:r>
            <a:r>
              <a:rPr sz="1600" b="0" dirty="0" err="1">
                <a:solidFill>
                  <a:srgbClr val="2C5F2D"/>
                </a:solidFill>
                <a:latin typeface="Consolas"/>
              </a:rPr>
              <a:t>table":"customers</a:t>
            </a:r>
            <a:r>
              <a:rPr sz="1600" b="0" dirty="0">
                <a:solidFill>
                  <a:srgbClr val="2C5F2D"/>
                </a:solidFill>
                <a:latin typeface="Consolas"/>
              </a:rPr>
              <a:t>", "id": 42}}</a:t>
            </a:r>
          </a:p>
        </p:txBody>
      </p:sp>
      <p:sp>
        <p:nvSpPr>
          <p:cNvPr id="18" name="Down Arrow 18">
            <a:extLst>
              <a:ext uri="{FF2B5EF4-FFF2-40B4-BE49-F238E27FC236}">
                <a16:creationId xmlns:a16="http://schemas.microsoft.com/office/drawing/2014/main" id="{C42BFD35-4D21-451D-8971-20ECD4A0859F}"/>
              </a:ext>
            </a:extLst>
          </p:cNvPr>
          <p:cNvSpPr/>
          <p:nvPr/>
        </p:nvSpPr>
        <p:spPr>
          <a:xfrm>
            <a:off x="2848609" y="3873447"/>
            <a:ext cx="457200" cy="292608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97BC62"/>
          </a:solidFill>
          <a:ln w="12700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2E539027-9E44-4A86-AB5C-A18522475294}"/>
              </a:ext>
            </a:extLst>
          </p:cNvPr>
          <p:cNvSpPr/>
          <p:nvPr/>
        </p:nvSpPr>
        <p:spPr>
          <a:xfrm>
            <a:off x="425449" y="4239207"/>
            <a:ext cx="5303520" cy="1325880"/>
          </a:xfrm>
          <a:prstGeom prst="roundRect">
            <a:avLst>
              <a:gd name="adj" fmla="val 10000"/>
            </a:avLst>
          </a:prstGeom>
          <a:solidFill>
            <a:srgbClr val="EAF3E6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50D392D-2BC3-42F3-B37E-786FB99DF284}"/>
              </a:ext>
            </a:extLst>
          </p:cNvPr>
          <p:cNvSpPr txBox="1"/>
          <p:nvPr/>
        </p:nvSpPr>
        <p:spPr>
          <a:xfrm>
            <a:off x="590041" y="4294071"/>
            <a:ext cx="4974336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>
                <a:solidFill>
                  <a:srgbClr val="21295C"/>
                </a:solidFill>
                <a:latin typeface="Calibri"/>
              </a:rPr>
              <a:t>Local MCP Database Server</a:t>
            </a: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209B8B22-C2A7-4119-9A94-349A3B2DB193}"/>
              </a:ext>
            </a:extLst>
          </p:cNvPr>
          <p:cNvSpPr/>
          <p:nvPr/>
        </p:nvSpPr>
        <p:spPr>
          <a:xfrm>
            <a:off x="590041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D819EC1-7BEC-4D22-B753-E799B22BAE19}"/>
              </a:ext>
            </a:extLst>
          </p:cNvPr>
          <p:cNvSpPr txBox="1"/>
          <p:nvPr/>
        </p:nvSpPr>
        <p:spPr>
          <a:xfrm>
            <a:off x="590041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read_row</a:t>
            </a: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ED08A94E-BF27-40D8-9C83-AE54ACB0C701}"/>
              </a:ext>
            </a:extLst>
          </p:cNvPr>
          <p:cNvSpPr/>
          <p:nvPr/>
        </p:nvSpPr>
        <p:spPr>
          <a:xfrm>
            <a:off x="2272537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99B85E0-5C64-41BB-9A2A-6E6278323A88}"/>
              </a:ext>
            </a:extLst>
          </p:cNvPr>
          <p:cNvSpPr txBox="1"/>
          <p:nvPr/>
        </p:nvSpPr>
        <p:spPr>
          <a:xfrm>
            <a:off x="2272537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>
                <a:solidFill>
                  <a:srgbClr val="21295C"/>
                </a:solidFill>
                <a:latin typeface="Consolas"/>
              </a:rPr>
              <a:t>list_tables</a:t>
            </a:r>
          </a:p>
        </p:txBody>
      </p:sp>
      <p:sp>
        <p:nvSpPr>
          <p:cNvPr id="25" name="Rounded Rectangle 25">
            <a:extLst>
              <a:ext uri="{FF2B5EF4-FFF2-40B4-BE49-F238E27FC236}">
                <a16:creationId xmlns:a16="http://schemas.microsoft.com/office/drawing/2014/main" id="{1A5A9DE4-F3DB-4C9F-BF43-9FBB6C4D0BFC}"/>
              </a:ext>
            </a:extLst>
          </p:cNvPr>
          <p:cNvSpPr/>
          <p:nvPr/>
        </p:nvSpPr>
        <p:spPr>
          <a:xfrm>
            <a:off x="3955033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563B8E2-4936-46DC-97A8-28814BB73D80}"/>
              </a:ext>
            </a:extLst>
          </p:cNvPr>
          <p:cNvSpPr txBox="1"/>
          <p:nvPr/>
        </p:nvSpPr>
        <p:spPr>
          <a:xfrm>
            <a:off x="3955033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 dirty="0" err="1">
                <a:solidFill>
                  <a:srgbClr val="21295C"/>
                </a:solidFill>
                <a:latin typeface="Consolas"/>
              </a:rPr>
              <a:t>delete_table</a:t>
            </a:r>
            <a:endParaRPr sz="1200" b="0" dirty="0">
              <a:solidFill>
                <a:srgbClr val="21295C"/>
              </a:solidFill>
              <a:latin typeface="Consolas"/>
            </a:endParaRPr>
          </a:p>
        </p:txBody>
      </p:sp>
      <p:sp>
        <p:nvSpPr>
          <p:cNvPr id="27" name="Can 27">
            <a:extLst>
              <a:ext uri="{FF2B5EF4-FFF2-40B4-BE49-F238E27FC236}">
                <a16:creationId xmlns:a16="http://schemas.microsoft.com/office/drawing/2014/main" id="{55C5F4B2-EF78-4A1F-8FEA-A7A5C970C022}"/>
              </a:ext>
            </a:extLst>
          </p:cNvPr>
          <p:cNvSpPr/>
          <p:nvPr/>
        </p:nvSpPr>
        <p:spPr>
          <a:xfrm>
            <a:off x="2734309" y="5040575"/>
            <a:ext cx="685800" cy="329184"/>
          </a:xfrm>
          <a:prstGeom prst="can">
            <a:avLst/>
          </a:prstGeom>
          <a:solidFill>
            <a:srgbClr val="FFFFFF"/>
          </a:solidFill>
          <a:ln w="15875">
            <a:solidFill>
              <a:srgbClr val="4A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9F2B93C-AF15-49E4-AE02-7A2F3A11A96C}"/>
              </a:ext>
            </a:extLst>
          </p:cNvPr>
          <p:cNvSpPr txBox="1"/>
          <p:nvPr/>
        </p:nvSpPr>
        <p:spPr>
          <a:xfrm>
            <a:off x="590041" y="5351471"/>
            <a:ext cx="497433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dirty="0">
                <a:solidFill>
                  <a:srgbClr val="21295C"/>
                </a:solidFill>
                <a:latin typeface="Calibri"/>
              </a:rPr>
              <a:t>SQL customers table</a:t>
            </a:r>
          </a:p>
        </p:txBody>
      </p:sp>
      <p:sp>
        <p:nvSpPr>
          <p:cNvPr id="29" name="Rounded Rectangle 29">
            <a:extLst>
              <a:ext uri="{FF2B5EF4-FFF2-40B4-BE49-F238E27FC236}">
                <a16:creationId xmlns:a16="http://schemas.microsoft.com/office/drawing/2014/main" id="{5FF39FDA-B1BD-41AF-89D7-27CE2EC7E473}"/>
              </a:ext>
            </a:extLst>
          </p:cNvPr>
          <p:cNvSpPr/>
          <p:nvPr/>
        </p:nvSpPr>
        <p:spPr>
          <a:xfrm>
            <a:off x="425449" y="5656527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EAF3E6"/>
          </a:solidFill>
          <a:ln w="15875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72EA47-725D-4C0F-BBB2-94D41FA34DBA}"/>
              </a:ext>
            </a:extLst>
          </p:cNvPr>
          <p:cNvSpPr/>
          <p:nvPr/>
        </p:nvSpPr>
        <p:spPr>
          <a:xfrm>
            <a:off x="553465" y="5715963"/>
            <a:ext cx="292608" cy="292608"/>
          </a:xfrm>
          <a:prstGeom prst="ellipse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93656EA-0BC3-49CA-92F5-314320E54468}"/>
              </a:ext>
            </a:extLst>
          </p:cNvPr>
          <p:cNvSpPr txBox="1"/>
          <p:nvPr/>
        </p:nvSpPr>
        <p:spPr>
          <a:xfrm>
            <a:off x="553465" y="5708378"/>
            <a:ext cx="29260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5E20121-D7F8-4871-B0C5-E607D2922B8A}"/>
              </a:ext>
            </a:extLst>
          </p:cNvPr>
          <p:cNvSpPr txBox="1"/>
          <p:nvPr/>
        </p:nvSpPr>
        <p:spPr>
          <a:xfrm>
            <a:off x="937513" y="5665290"/>
            <a:ext cx="4736592" cy="39395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2C5F2D"/>
                </a:solidFill>
                <a:latin typeface="Calibri"/>
              </a:rPr>
              <a:t>Legitimate read  ·  low risk  ·  allow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D0C0A56-E7EF-4776-B11C-191EB2B8C9A2}"/>
              </a:ext>
            </a:extLst>
          </p:cNvPr>
          <p:cNvSpPr txBox="1"/>
          <p:nvPr/>
        </p:nvSpPr>
        <p:spPr>
          <a:xfrm>
            <a:off x="425449" y="6141159"/>
            <a:ext cx="5303520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1295C"/>
                </a:solidFill>
                <a:latin typeface="Calibri"/>
              </a:rPr>
              <a:t>Single row returned. Read-only intent matches a low-impact tool.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BC941D-47E1-4E3F-834B-3AB23CDB47C4}"/>
              </a:ext>
            </a:extLst>
          </p:cNvPr>
          <p:cNvSpPr/>
          <p:nvPr/>
        </p:nvSpPr>
        <p:spPr>
          <a:xfrm>
            <a:off x="6140449" y="938223"/>
            <a:ext cx="5760720" cy="5806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44F236-F3B3-458C-AB3A-FC510CFF9A84}"/>
              </a:ext>
            </a:extLst>
          </p:cNvPr>
          <p:cNvSpPr/>
          <p:nvPr/>
        </p:nvSpPr>
        <p:spPr>
          <a:xfrm>
            <a:off x="6140449" y="938223"/>
            <a:ext cx="5760720" cy="4572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9E0F88E-CF44-4BD6-9EE8-58EDE3B5D048}"/>
              </a:ext>
            </a:extLst>
          </p:cNvPr>
          <p:cNvSpPr txBox="1"/>
          <p:nvPr/>
        </p:nvSpPr>
        <p:spPr>
          <a:xfrm>
            <a:off x="6369049" y="939069"/>
            <a:ext cx="5303520" cy="45550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Malicious Scenario</a:t>
            </a:r>
          </a:p>
        </p:txBody>
      </p:sp>
      <p:sp>
        <p:nvSpPr>
          <p:cNvPr id="37" name="Rounded Rectangle 37">
            <a:extLst>
              <a:ext uri="{FF2B5EF4-FFF2-40B4-BE49-F238E27FC236}">
                <a16:creationId xmlns:a16="http://schemas.microsoft.com/office/drawing/2014/main" id="{B70CCB89-3999-465E-A83B-941643D65D96}"/>
              </a:ext>
            </a:extLst>
          </p:cNvPr>
          <p:cNvSpPr/>
          <p:nvPr/>
        </p:nvSpPr>
        <p:spPr>
          <a:xfrm>
            <a:off x="6369049" y="1578303"/>
            <a:ext cx="5303520" cy="822960"/>
          </a:xfrm>
          <a:prstGeom prst="roundRect">
            <a:avLst>
              <a:gd name="adj" fmla="val 10000"/>
            </a:avLst>
          </a:prstGeom>
          <a:solidFill>
            <a:srgbClr val="FCE8E2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38" name="Rounded Rectangle 38">
            <a:extLst>
              <a:ext uri="{FF2B5EF4-FFF2-40B4-BE49-F238E27FC236}">
                <a16:creationId xmlns:a16="http://schemas.microsoft.com/office/drawing/2014/main" id="{6D2FF051-856F-4CBB-A20C-22FBDE697794}"/>
              </a:ext>
            </a:extLst>
          </p:cNvPr>
          <p:cNvSpPr/>
          <p:nvPr/>
        </p:nvSpPr>
        <p:spPr>
          <a:xfrm>
            <a:off x="6551929" y="1669743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C329243-498E-49DB-A062-CDB3192A0051}"/>
              </a:ext>
            </a:extLst>
          </p:cNvPr>
          <p:cNvSpPr txBox="1"/>
          <p:nvPr/>
        </p:nvSpPr>
        <p:spPr>
          <a:xfrm>
            <a:off x="6551929" y="1700473"/>
            <a:ext cx="640080" cy="5786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638B2FE2-AE79-4EA5-A388-DD11DE1BE617}"/>
              </a:ext>
            </a:extLst>
          </p:cNvPr>
          <p:cNvSpPr txBox="1"/>
          <p:nvPr/>
        </p:nvSpPr>
        <p:spPr>
          <a:xfrm>
            <a:off x="7356601" y="1585353"/>
            <a:ext cx="4334256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>
                <a:solidFill>
                  <a:srgbClr val="21295C"/>
                </a:solidFill>
                <a:latin typeface="Calibri"/>
              </a:rPr>
              <a:t>AI Agent  (LLM Client)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58F42DD5-0C81-4D6F-A25E-4724788AD01D}"/>
              </a:ext>
            </a:extLst>
          </p:cNvPr>
          <p:cNvSpPr txBox="1"/>
          <p:nvPr/>
        </p:nvSpPr>
        <p:spPr>
          <a:xfrm>
            <a:off x="7356600" y="1826622"/>
            <a:ext cx="4334257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defTabSz="457200">
              <a:defRPr sz="1600" b="1">
                <a:solidFill>
                  <a:srgbClr val="555B6A"/>
                </a:solidFill>
                <a:latin typeface="Calibri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dirty="0"/>
              <a:t>User instruction: </a:t>
            </a:r>
            <a:r>
              <a:rPr dirty="0">
                <a:latin typeface="Cascadia Code" panose="020B0609020000020004" pitchFamily="49" charset="0"/>
                <a:cs typeface="Cascadia Code" panose="020B0609020000020004" pitchFamily="49" charset="0"/>
              </a:rPr>
              <a:t>“Drop the customers table.”</a:t>
            </a:r>
          </a:p>
        </p:txBody>
      </p:sp>
      <p:sp>
        <p:nvSpPr>
          <p:cNvPr id="42" name="Down Arrow 42">
            <a:extLst>
              <a:ext uri="{FF2B5EF4-FFF2-40B4-BE49-F238E27FC236}">
                <a16:creationId xmlns:a16="http://schemas.microsoft.com/office/drawing/2014/main" id="{B4582761-8E01-41AC-8736-6115C7FC6BDF}"/>
              </a:ext>
            </a:extLst>
          </p:cNvPr>
          <p:cNvSpPr/>
          <p:nvPr/>
        </p:nvSpPr>
        <p:spPr>
          <a:xfrm>
            <a:off x="8792209" y="2474415"/>
            <a:ext cx="457200" cy="292608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E8917A"/>
          </a:solidFill>
          <a:ln w="12700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43" name="Rounded Rectangle 43">
            <a:extLst>
              <a:ext uri="{FF2B5EF4-FFF2-40B4-BE49-F238E27FC236}">
                <a16:creationId xmlns:a16="http://schemas.microsoft.com/office/drawing/2014/main" id="{8A57F4F2-B422-404D-8F1D-D63942DA6900}"/>
              </a:ext>
            </a:extLst>
          </p:cNvPr>
          <p:cNvSpPr/>
          <p:nvPr/>
        </p:nvSpPr>
        <p:spPr>
          <a:xfrm>
            <a:off x="6369049" y="2840175"/>
            <a:ext cx="5303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44" name="Rounded Rectangle 44">
            <a:extLst>
              <a:ext uri="{FF2B5EF4-FFF2-40B4-BE49-F238E27FC236}">
                <a16:creationId xmlns:a16="http://schemas.microsoft.com/office/drawing/2014/main" id="{EDD6E163-DF1A-4D91-AE5E-6760AAEB4E2A}"/>
              </a:ext>
            </a:extLst>
          </p:cNvPr>
          <p:cNvSpPr/>
          <p:nvPr/>
        </p:nvSpPr>
        <p:spPr>
          <a:xfrm>
            <a:off x="6369049" y="2840175"/>
            <a:ext cx="5303520" cy="256032"/>
          </a:xfrm>
          <a:prstGeom prst="roundRect">
            <a:avLst>
              <a:gd name="adj" fmla="val 10000"/>
            </a:avLst>
          </a:prstGeom>
          <a:solidFill>
            <a:srgbClr val="E8917A"/>
          </a:solidFill>
          <a:ln>
            <a:solidFill>
              <a:srgbClr val="E891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6F9DF8B4-B376-4D65-A3DC-D1A571AAEB53}"/>
              </a:ext>
            </a:extLst>
          </p:cNvPr>
          <p:cNvSpPr txBox="1"/>
          <p:nvPr/>
        </p:nvSpPr>
        <p:spPr>
          <a:xfrm>
            <a:off x="6551929" y="2771215"/>
            <a:ext cx="4937760" cy="39395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MCP Protocol  ·  JSON-RPC tool call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B8E6A9B-C7B4-49EE-A6FB-5E1C04BFD1C7}"/>
              </a:ext>
            </a:extLst>
          </p:cNvPr>
          <p:cNvSpPr txBox="1"/>
          <p:nvPr/>
        </p:nvSpPr>
        <p:spPr>
          <a:xfrm>
            <a:off x="6509513" y="3136529"/>
            <a:ext cx="48463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dirty="0">
                <a:solidFill>
                  <a:srgbClr val="B85042"/>
                </a:solidFill>
                <a:latin typeface="Consolas"/>
              </a:rPr>
              <a:t>{"tool":"</a:t>
            </a:r>
            <a:r>
              <a:rPr sz="1600" b="0" dirty="0" err="1">
                <a:solidFill>
                  <a:srgbClr val="B85042"/>
                </a:solidFill>
                <a:latin typeface="Consolas"/>
              </a:rPr>
              <a:t>delete_table</a:t>
            </a:r>
            <a:r>
              <a:rPr sz="1600" b="0" dirty="0">
                <a:solidFill>
                  <a:srgbClr val="B85042"/>
                </a:solidFill>
                <a:latin typeface="Consolas"/>
              </a:rPr>
              <a:t>",
 "</a:t>
            </a:r>
            <a:r>
              <a:rPr sz="1600" b="0" dirty="0" err="1">
                <a:solidFill>
                  <a:srgbClr val="B85042"/>
                </a:solidFill>
                <a:latin typeface="Consolas"/>
              </a:rPr>
              <a:t>args</a:t>
            </a:r>
            <a:r>
              <a:rPr sz="1600" b="0" dirty="0">
                <a:solidFill>
                  <a:srgbClr val="B85042"/>
                </a:solidFill>
                <a:latin typeface="Consolas"/>
              </a:rPr>
              <a:t>":{"</a:t>
            </a:r>
            <a:r>
              <a:rPr sz="1600" b="0" dirty="0" err="1">
                <a:solidFill>
                  <a:srgbClr val="B85042"/>
                </a:solidFill>
                <a:latin typeface="Consolas"/>
              </a:rPr>
              <a:t>table":"customers</a:t>
            </a:r>
            <a:r>
              <a:rPr sz="1600" b="0" dirty="0">
                <a:solidFill>
                  <a:srgbClr val="B85042"/>
                </a:solidFill>
                <a:latin typeface="Consolas"/>
              </a:rPr>
              <a:t>"}</a:t>
            </a:r>
            <a:r>
              <a:rPr lang="en-US" sz="1600" dirty="0">
                <a:solidFill>
                  <a:srgbClr val="B85042"/>
                </a:solidFill>
                <a:latin typeface="Consolas"/>
              </a:rPr>
              <a:t>}</a:t>
            </a:r>
            <a:endParaRPr sz="1600" b="0" dirty="0">
              <a:solidFill>
                <a:srgbClr val="B85042"/>
              </a:solidFill>
              <a:latin typeface="Consolas"/>
            </a:endParaRPr>
          </a:p>
        </p:txBody>
      </p:sp>
      <p:sp>
        <p:nvSpPr>
          <p:cNvPr id="47" name="Down Arrow 47">
            <a:extLst>
              <a:ext uri="{FF2B5EF4-FFF2-40B4-BE49-F238E27FC236}">
                <a16:creationId xmlns:a16="http://schemas.microsoft.com/office/drawing/2014/main" id="{DC7F5A41-FA3F-4D20-920E-91238A729262}"/>
              </a:ext>
            </a:extLst>
          </p:cNvPr>
          <p:cNvSpPr/>
          <p:nvPr/>
        </p:nvSpPr>
        <p:spPr>
          <a:xfrm>
            <a:off x="8792209" y="3873447"/>
            <a:ext cx="457200" cy="292608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E8917A"/>
          </a:solidFill>
          <a:ln w="12700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48" name="Rounded Rectangle 48">
            <a:extLst>
              <a:ext uri="{FF2B5EF4-FFF2-40B4-BE49-F238E27FC236}">
                <a16:creationId xmlns:a16="http://schemas.microsoft.com/office/drawing/2014/main" id="{652C90B9-0B88-4E26-8C45-281C21714B0D}"/>
              </a:ext>
            </a:extLst>
          </p:cNvPr>
          <p:cNvSpPr/>
          <p:nvPr/>
        </p:nvSpPr>
        <p:spPr>
          <a:xfrm>
            <a:off x="6369049" y="4239207"/>
            <a:ext cx="5303520" cy="1325880"/>
          </a:xfrm>
          <a:prstGeom prst="roundRect">
            <a:avLst>
              <a:gd name="adj" fmla="val 10000"/>
            </a:avLst>
          </a:prstGeom>
          <a:solidFill>
            <a:srgbClr val="FCE8E2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65773D8C-E7AE-4247-AEFF-9267025A1860}"/>
              </a:ext>
            </a:extLst>
          </p:cNvPr>
          <p:cNvSpPr txBox="1"/>
          <p:nvPr/>
        </p:nvSpPr>
        <p:spPr>
          <a:xfrm>
            <a:off x="6533641" y="4294071"/>
            <a:ext cx="4974336" cy="4247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>
                <a:solidFill>
                  <a:srgbClr val="21295C"/>
                </a:solidFill>
                <a:latin typeface="Calibri"/>
              </a:rPr>
              <a:t>Local MCP Database Server</a:t>
            </a:r>
          </a:p>
        </p:txBody>
      </p:sp>
      <p:sp>
        <p:nvSpPr>
          <p:cNvPr id="50" name="Rounded Rectangle 50">
            <a:extLst>
              <a:ext uri="{FF2B5EF4-FFF2-40B4-BE49-F238E27FC236}">
                <a16:creationId xmlns:a16="http://schemas.microsoft.com/office/drawing/2014/main" id="{4899A424-4ABD-434C-A82F-4ED3F658DA3C}"/>
              </a:ext>
            </a:extLst>
          </p:cNvPr>
          <p:cNvSpPr/>
          <p:nvPr/>
        </p:nvSpPr>
        <p:spPr>
          <a:xfrm>
            <a:off x="6533641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499E9075-0616-4608-98ED-404C4275E8B4}"/>
              </a:ext>
            </a:extLst>
          </p:cNvPr>
          <p:cNvSpPr txBox="1"/>
          <p:nvPr/>
        </p:nvSpPr>
        <p:spPr>
          <a:xfrm>
            <a:off x="6533641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>
                <a:solidFill>
                  <a:srgbClr val="21295C"/>
                </a:solidFill>
                <a:latin typeface="Consolas"/>
              </a:rPr>
              <a:t>read_row</a:t>
            </a:r>
          </a:p>
        </p:txBody>
      </p:sp>
      <p:sp>
        <p:nvSpPr>
          <p:cNvPr id="52" name="Rounded Rectangle 52">
            <a:extLst>
              <a:ext uri="{FF2B5EF4-FFF2-40B4-BE49-F238E27FC236}">
                <a16:creationId xmlns:a16="http://schemas.microsoft.com/office/drawing/2014/main" id="{CF93DDD2-A363-4A3B-8926-8FB810FAA9FC}"/>
              </a:ext>
            </a:extLst>
          </p:cNvPr>
          <p:cNvSpPr/>
          <p:nvPr/>
        </p:nvSpPr>
        <p:spPr>
          <a:xfrm>
            <a:off x="8216137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04D66DB-9C2C-4EDB-ADCC-66F5BB0F7B95}"/>
              </a:ext>
            </a:extLst>
          </p:cNvPr>
          <p:cNvSpPr txBox="1"/>
          <p:nvPr/>
        </p:nvSpPr>
        <p:spPr>
          <a:xfrm>
            <a:off x="8216137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0">
                <a:solidFill>
                  <a:srgbClr val="21295C"/>
                </a:solidFill>
                <a:latin typeface="Consolas"/>
              </a:rPr>
              <a:t>list_tables</a:t>
            </a:r>
          </a:p>
        </p:txBody>
      </p:sp>
      <p:sp>
        <p:nvSpPr>
          <p:cNvPr id="54" name="Rounded Rectangle 54">
            <a:extLst>
              <a:ext uri="{FF2B5EF4-FFF2-40B4-BE49-F238E27FC236}">
                <a16:creationId xmlns:a16="http://schemas.microsoft.com/office/drawing/2014/main" id="{B1588D85-E647-46DF-B2CF-557824B29D3B}"/>
              </a:ext>
            </a:extLst>
          </p:cNvPr>
          <p:cNvSpPr/>
          <p:nvPr/>
        </p:nvSpPr>
        <p:spPr>
          <a:xfrm>
            <a:off x="9898633" y="4656527"/>
            <a:ext cx="1609344" cy="347472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587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7B0B1FB8-3C32-44F4-8E20-A3921DAA9D09}"/>
              </a:ext>
            </a:extLst>
          </p:cNvPr>
          <p:cNvSpPr txBox="1"/>
          <p:nvPr/>
        </p:nvSpPr>
        <p:spPr>
          <a:xfrm>
            <a:off x="9898633" y="4664064"/>
            <a:ext cx="1609344" cy="33239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delete_table</a:t>
            </a:r>
          </a:p>
        </p:txBody>
      </p:sp>
      <p:sp>
        <p:nvSpPr>
          <p:cNvPr id="56" name="Can 56">
            <a:extLst>
              <a:ext uri="{FF2B5EF4-FFF2-40B4-BE49-F238E27FC236}">
                <a16:creationId xmlns:a16="http://schemas.microsoft.com/office/drawing/2014/main" id="{059E45D6-4875-435B-AB7C-A015B856B423}"/>
              </a:ext>
            </a:extLst>
          </p:cNvPr>
          <p:cNvSpPr/>
          <p:nvPr/>
        </p:nvSpPr>
        <p:spPr>
          <a:xfrm>
            <a:off x="8677909" y="5040575"/>
            <a:ext cx="685800" cy="329184"/>
          </a:xfrm>
          <a:prstGeom prst="can">
            <a:avLst/>
          </a:prstGeom>
          <a:solidFill>
            <a:srgbClr val="FFFFFF"/>
          </a:solidFill>
          <a:ln w="15875">
            <a:solidFill>
              <a:srgbClr val="8E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71261FC7-0DC6-44CA-960B-362C9A7A7258}"/>
              </a:ext>
            </a:extLst>
          </p:cNvPr>
          <p:cNvSpPr txBox="1"/>
          <p:nvPr/>
        </p:nvSpPr>
        <p:spPr>
          <a:xfrm>
            <a:off x="6533641" y="5351471"/>
            <a:ext cx="497433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dirty="0">
                <a:solidFill>
                  <a:srgbClr val="21295C"/>
                </a:solidFill>
                <a:latin typeface="Calibri"/>
              </a:rPr>
              <a:t>SQL customers table</a:t>
            </a:r>
          </a:p>
        </p:txBody>
      </p:sp>
      <p:sp>
        <p:nvSpPr>
          <p:cNvPr id="58" name="Rounded Rectangle 58">
            <a:extLst>
              <a:ext uri="{FF2B5EF4-FFF2-40B4-BE49-F238E27FC236}">
                <a16:creationId xmlns:a16="http://schemas.microsoft.com/office/drawing/2014/main" id="{05EC2684-3BF0-4CA3-BB0F-49CB2F546BBF}"/>
              </a:ext>
            </a:extLst>
          </p:cNvPr>
          <p:cNvSpPr/>
          <p:nvPr/>
        </p:nvSpPr>
        <p:spPr>
          <a:xfrm>
            <a:off x="6369049" y="5656527"/>
            <a:ext cx="5303520" cy="411480"/>
          </a:xfrm>
          <a:prstGeom prst="roundRect">
            <a:avLst>
              <a:gd name="adj" fmla="val 10000"/>
            </a:avLst>
          </a:prstGeom>
          <a:solidFill>
            <a:srgbClr val="FCE8E2"/>
          </a:solidFill>
          <a:ln w="15875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7DEA1B2-BB1C-4B25-8B71-51DD7ED7540D}"/>
              </a:ext>
            </a:extLst>
          </p:cNvPr>
          <p:cNvSpPr/>
          <p:nvPr/>
        </p:nvSpPr>
        <p:spPr>
          <a:xfrm>
            <a:off x="6497065" y="5715963"/>
            <a:ext cx="292608" cy="292608"/>
          </a:xfrm>
          <a:prstGeom prst="ellipse">
            <a:avLst/>
          </a:prstGeom>
          <a:solidFill>
            <a:srgbClr val="B85042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80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0FC9BD49-87BE-4838-A335-082FF8EF8304}"/>
              </a:ext>
            </a:extLst>
          </p:cNvPr>
          <p:cNvSpPr txBox="1"/>
          <p:nvPr/>
        </p:nvSpPr>
        <p:spPr>
          <a:xfrm>
            <a:off x="6497065" y="5708378"/>
            <a:ext cx="29260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482F1F3E-12B5-41A8-B775-5F3DEE2CE298}"/>
              </a:ext>
            </a:extLst>
          </p:cNvPr>
          <p:cNvSpPr txBox="1"/>
          <p:nvPr/>
        </p:nvSpPr>
        <p:spPr>
          <a:xfrm>
            <a:off x="6881113" y="5665290"/>
            <a:ext cx="4736592" cy="39395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>
                <a:solidFill>
                  <a:srgbClr val="B85042"/>
                </a:solidFill>
                <a:latin typeface="Calibri"/>
              </a:rPr>
              <a:t>Destructive call  ·  high risk  ·  deny / gate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FB66FC45-5420-4BAE-A8DB-B90ABCE1047C}"/>
              </a:ext>
            </a:extLst>
          </p:cNvPr>
          <p:cNvSpPr txBox="1"/>
          <p:nvPr/>
        </p:nvSpPr>
        <p:spPr>
          <a:xfrm>
            <a:off x="6369049" y="6141159"/>
            <a:ext cx="5303520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>
                <a:solidFill>
                  <a:srgbClr val="21295C"/>
                </a:solidFill>
                <a:latin typeface="Calibri"/>
              </a:rPr>
              <a:t>Same server, same protocol — but a destructive tool with irreversible impact.</a:t>
            </a:r>
          </a:p>
        </p:txBody>
      </p:sp>
    </p:spTree>
    <p:extLst>
      <p:ext uri="{BB962C8B-B14F-4D97-AF65-F5344CB8AC3E}">
        <p14:creationId xmlns:p14="http://schemas.microsoft.com/office/powerpoint/2010/main" val="9843161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"/>
          <p:cNvSpPr/>
          <p:nvPr/>
        </p:nvSpPr>
        <p:spPr>
          <a:xfrm>
            <a:off x="1588" y="893"/>
            <a:ext cx="12188825" cy="85321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80" name="Google Shape;480;p2"/>
          <p:cNvSpPr/>
          <p:nvPr/>
        </p:nvSpPr>
        <p:spPr>
          <a:xfrm>
            <a:off x="611030" y="893"/>
            <a:ext cx="10969943" cy="85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933" b="1" dirty="0">
                <a:solidFill>
                  <a:srgbClr val="FFFFFF"/>
                </a:solidFill>
                <a:latin typeface="+mj-lt"/>
                <a:ea typeface="Arial Black"/>
                <a:cs typeface="Arial Black"/>
                <a:sym typeface="Arial Black"/>
              </a:rPr>
              <a:t>Gateway Topology – Defense Architecture</a:t>
            </a:r>
            <a:endParaRPr sz="2933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"/>
          <p:cNvSpPr/>
          <p:nvPr/>
        </p:nvSpPr>
        <p:spPr>
          <a:xfrm>
            <a:off x="611030" y="1036944"/>
            <a:ext cx="10969943" cy="42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400" i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Proposed deployment: a scoring proxy between agents and MCP servers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"/>
          <p:cNvSpPr/>
          <p:nvPr/>
        </p:nvSpPr>
        <p:spPr>
          <a:xfrm>
            <a:off x="428197" y="1810508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9E0DF"/>
          </a:solidFill>
          <a:ln w="15225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83" name="Google Shape;483;p2"/>
          <p:cNvSpPr/>
          <p:nvPr/>
        </p:nvSpPr>
        <p:spPr>
          <a:xfrm>
            <a:off x="428197" y="1810508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 sz="1333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"/>
          <p:cNvCxnSpPr/>
          <p:nvPr/>
        </p:nvCxnSpPr>
        <p:spPr>
          <a:xfrm>
            <a:off x="1829912" y="2145699"/>
            <a:ext cx="304721" cy="0"/>
          </a:xfrm>
          <a:prstGeom prst="straightConnector1">
            <a:avLst/>
          </a:prstGeom>
          <a:noFill/>
          <a:ln w="19050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5" name="Google Shape;485;p2"/>
          <p:cNvSpPr/>
          <p:nvPr/>
        </p:nvSpPr>
        <p:spPr>
          <a:xfrm>
            <a:off x="2134633" y="1810508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ADBD8"/>
          </a:solidFill>
          <a:ln w="15225" cap="flat" cmpd="sng">
            <a:solidFill>
              <a:srgbClr val="E74C3C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86" name="Google Shape;486;p2"/>
          <p:cNvSpPr/>
          <p:nvPr/>
        </p:nvSpPr>
        <p:spPr>
          <a:xfrm>
            <a:off x="2134633" y="1810508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Agent 1</a:t>
            </a:r>
            <a:endParaRPr sz="1333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"/>
          <p:cNvSpPr/>
          <p:nvPr/>
        </p:nvSpPr>
        <p:spPr>
          <a:xfrm>
            <a:off x="428197" y="2444326"/>
            <a:ext cx="3108150" cy="30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066" i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Intentional misuse</a:t>
            </a:r>
            <a:endParaRPr sz="10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"/>
          <p:cNvSpPr/>
          <p:nvPr/>
        </p:nvSpPr>
        <p:spPr>
          <a:xfrm>
            <a:off x="428197" y="2968446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EF5E7"/>
          </a:solidFill>
          <a:ln w="152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89" name="Google Shape;489;p2"/>
          <p:cNvSpPr/>
          <p:nvPr/>
        </p:nvSpPr>
        <p:spPr>
          <a:xfrm>
            <a:off x="428197" y="2968446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2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2"/>
          <p:cNvCxnSpPr/>
          <p:nvPr/>
        </p:nvCxnSpPr>
        <p:spPr>
          <a:xfrm>
            <a:off x="1829912" y="3303637"/>
            <a:ext cx="304721" cy="0"/>
          </a:xfrm>
          <a:prstGeom prst="straightConnector1">
            <a:avLst/>
          </a:prstGeom>
          <a:noFill/>
          <a:ln w="19050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1" name="Google Shape;491;p2"/>
          <p:cNvSpPr/>
          <p:nvPr/>
        </p:nvSpPr>
        <p:spPr>
          <a:xfrm>
            <a:off x="2134633" y="2968446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FDF2E9"/>
          </a:solidFill>
          <a:ln w="15225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2" name="Google Shape;492;p2"/>
          <p:cNvSpPr/>
          <p:nvPr/>
        </p:nvSpPr>
        <p:spPr>
          <a:xfrm>
            <a:off x="2134633" y="2968446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Agent 2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"/>
          <p:cNvSpPr/>
          <p:nvPr/>
        </p:nvSpPr>
        <p:spPr>
          <a:xfrm>
            <a:off x="428197" y="3602264"/>
            <a:ext cx="3108150" cy="30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066" i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Unintentional misuse</a:t>
            </a:r>
            <a:endParaRPr sz="10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"/>
          <p:cNvSpPr/>
          <p:nvPr/>
        </p:nvSpPr>
        <p:spPr>
          <a:xfrm>
            <a:off x="428197" y="4126384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25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5" name="Google Shape;495;p2"/>
          <p:cNvSpPr/>
          <p:nvPr/>
        </p:nvSpPr>
        <p:spPr>
          <a:xfrm>
            <a:off x="428197" y="4126384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3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"/>
          <p:cNvCxnSpPr/>
          <p:nvPr/>
        </p:nvCxnSpPr>
        <p:spPr>
          <a:xfrm>
            <a:off x="1829912" y="4461576"/>
            <a:ext cx="304721" cy="0"/>
          </a:xfrm>
          <a:prstGeom prst="straightConnector1">
            <a:avLst/>
          </a:prstGeom>
          <a:noFill/>
          <a:ln w="19050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7" name="Google Shape;497;p2"/>
          <p:cNvSpPr/>
          <p:nvPr/>
        </p:nvSpPr>
        <p:spPr>
          <a:xfrm>
            <a:off x="2134633" y="4126384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D5F5E3"/>
          </a:solidFill>
          <a:ln w="15225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8" name="Google Shape;498;p2"/>
          <p:cNvSpPr/>
          <p:nvPr/>
        </p:nvSpPr>
        <p:spPr>
          <a:xfrm>
            <a:off x="2134633" y="4126384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Agent 3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"/>
          <p:cNvSpPr/>
          <p:nvPr/>
        </p:nvSpPr>
        <p:spPr>
          <a:xfrm>
            <a:off x="428197" y="4760203"/>
            <a:ext cx="3108150" cy="30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066" i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Normal usage</a:t>
            </a:r>
            <a:endParaRPr sz="10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"/>
          <p:cNvSpPr/>
          <p:nvPr/>
        </p:nvSpPr>
        <p:spPr>
          <a:xfrm>
            <a:off x="428197" y="5284323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25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01" name="Google Shape;501;p2"/>
          <p:cNvSpPr/>
          <p:nvPr/>
        </p:nvSpPr>
        <p:spPr>
          <a:xfrm>
            <a:off x="428197" y="5284323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User N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2"/>
          <p:cNvCxnSpPr/>
          <p:nvPr/>
        </p:nvCxnSpPr>
        <p:spPr>
          <a:xfrm>
            <a:off x="1829912" y="5619514"/>
            <a:ext cx="304721" cy="0"/>
          </a:xfrm>
          <a:prstGeom prst="straightConnector1">
            <a:avLst/>
          </a:prstGeom>
          <a:noFill/>
          <a:ln w="19050" cap="flat" cmpd="sng">
            <a:solidFill>
              <a:srgbClr val="AAAA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p2"/>
          <p:cNvSpPr/>
          <p:nvPr/>
        </p:nvSpPr>
        <p:spPr>
          <a:xfrm>
            <a:off x="2134633" y="5284323"/>
            <a:ext cx="1401715" cy="670385"/>
          </a:xfrm>
          <a:prstGeom prst="roundRect">
            <a:avLst>
              <a:gd name="adj" fmla="val 9091"/>
            </a:avLst>
          </a:prstGeom>
          <a:solidFill>
            <a:srgbClr val="D5F5E3"/>
          </a:solidFill>
          <a:ln w="15225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04" name="Google Shape;504;p2"/>
          <p:cNvSpPr/>
          <p:nvPr/>
        </p:nvSpPr>
        <p:spPr>
          <a:xfrm>
            <a:off x="2134633" y="5284323"/>
            <a:ext cx="1401715" cy="6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333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Agent N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"/>
          <p:cNvSpPr/>
          <p:nvPr/>
        </p:nvSpPr>
        <p:spPr>
          <a:xfrm>
            <a:off x="428197" y="5918141"/>
            <a:ext cx="3108150" cy="30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066" i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Normal usage</a:t>
            </a:r>
            <a:endParaRPr sz="10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"/>
          <p:cNvSpPr/>
          <p:nvPr/>
        </p:nvSpPr>
        <p:spPr>
          <a:xfrm>
            <a:off x="428197" y="4918658"/>
            <a:ext cx="3108150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133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"/>
          <p:cNvSpPr/>
          <p:nvPr/>
        </p:nvSpPr>
        <p:spPr>
          <a:xfrm>
            <a:off x="4145788" y="1810507"/>
            <a:ext cx="3900424" cy="4266089"/>
          </a:xfrm>
          <a:prstGeom prst="roundRect">
            <a:avLst>
              <a:gd name="adj" fmla="val 3750"/>
            </a:avLst>
          </a:prstGeom>
          <a:solidFill>
            <a:srgbClr val="FFF5F5"/>
          </a:solidFill>
          <a:ln w="25400" cap="flat" cmpd="sng">
            <a:solidFill>
              <a:srgbClr val="E2231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162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08" name="Google Shape;508;p2"/>
          <p:cNvSpPr/>
          <p:nvPr/>
        </p:nvSpPr>
        <p:spPr>
          <a:xfrm>
            <a:off x="4145788" y="1993340"/>
            <a:ext cx="3900424" cy="54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399" b="1">
                <a:solidFill>
                  <a:srgbClr val="C0392B"/>
                </a:solidFill>
                <a:latin typeface="Arial Black"/>
                <a:ea typeface="Arial Black"/>
                <a:cs typeface="Arial Black"/>
                <a:sym typeface="Arial Black"/>
              </a:rPr>
              <a:t>Gateway / Proxy</a:t>
            </a:r>
            <a:endParaRPr sz="23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"/>
          <p:cNvSpPr/>
          <p:nvPr/>
        </p:nvSpPr>
        <p:spPr>
          <a:xfrm>
            <a:off x="4450510" y="2724669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0" name="Google Shape;510;p2"/>
          <p:cNvSpPr/>
          <p:nvPr/>
        </p:nvSpPr>
        <p:spPr>
          <a:xfrm>
            <a:off x="4450510" y="2724669"/>
            <a:ext cx="3290983" cy="60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Observe every request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"/>
          <p:cNvSpPr/>
          <p:nvPr/>
        </p:nvSpPr>
        <p:spPr>
          <a:xfrm>
            <a:off x="4450510" y="3395055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2" name="Google Shape;512;p2"/>
          <p:cNvSpPr/>
          <p:nvPr/>
        </p:nvSpPr>
        <p:spPr>
          <a:xfrm>
            <a:off x="4450510" y="3395055"/>
            <a:ext cx="3290983" cy="60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 dirty="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Assign misuse score</a:t>
            </a:r>
            <a:endParaRPr sz="1466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"/>
          <p:cNvSpPr/>
          <p:nvPr/>
        </p:nvSpPr>
        <p:spPr>
          <a:xfrm>
            <a:off x="4450510" y="4065440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4" name="Google Shape;514;p2"/>
          <p:cNvSpPr/>
          <p:nvPr/>
        </p:nvSpPr>
        <p:spPr>
          <a:xfrm>
            <a:off x="4450510" y="4065440"/>
            <a:ext cx="3290983" cy="60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Drop / degrade above threshold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"/>
          <p:cNvSpPr/>
          <p:nvPr/>
        </p:nvSpPr>
        <p:spPr>
          <a:xfrm>
            <a:off x="4450510" y="4735825"/>
            <a:ext cx="3290983" cy="609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6" name="Google Shape;516;p2"/>
          <p:cNvSpPr/>
          <p:nvPr/>
        </p:nvSpPr>
        <p:spPr>
          <a:xfrm>
            <a:off x="4450510" y="4735825"/>
            <a:ext cx="3290983" cy="60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Treat agent output as suspicious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2"/>
          <p:cNvCxnSpPr/>
          <p:nvPr/>
        </p:nvCxnSpPr>
        <p:spPr>
          <a:xfrm>
            <a:off x="3536348" y="2145699"/>
            <a:ext cx="609441" cy="0"/>
          </a:xfrm>
          <a:prstGeom prst="straightConnector1">
            <a:avLst/>
          </a:prstGeom>
          <a:noFill/>
          <a:ln w="15225" cap="flat" cmpd="sng">
            <a:solidFill>
              <a:srgbClr val="BBBBBB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18" name="Google Shape;518;p2"/>
          <p:cNvCxnSpPr/>
          <p:nvPr/>
        </p:nvCxnSpPr>
        <p:spPr>
          <a:xfrm>
            <a:off x="3536348" y="3303637"/>
            <a:ext cx="609441" cy="0"/>
          </a:xfrm>
          <a:prstGeom prst="straightConnector1">
            <a:avLst/>
          </a:prstGeom>
          <a:noFill/>
          <a:ln w="15225" cap="flat" cmpd="sng">
            <a:solidFill>
              <a:srgbClr val="BBBBBB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19" name="Google Shape;519;p2"/>
          <p:cNvCxnSpPr/>
          <p:nvPr/>
        </p:nvCxnSpPr>
        <p:spPr>
          <a:xfrm>
            <a:off x="3536348" y="4461576"/>
            <a:ext cx="609441" cy="0"/>
          </a:xfrm>
          <a:prstGeom prst="straightConnector1">
            <a:avLst/>
          </a:prstGeom>
          <a:noFill/>
          <a:ln w="15225" cap="flat" cmpd="sng">
            <a:solidFill>
              <a:srgbClr val="BBBBBB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520" name="Google Shape;520;p2"/>
          <p:cNvCxnSpPr/>
          <p:nvPr/>
        </p:nvCxnSpPr>
        <p:spPr>
          <a:xfrm>
            <a:off x="3536348" y="5619514"/>
            <a:ext cx="609441" cy="0"/>
          </a:xfrm>
          <a:prstGeom prst="straightConnector1">
            <a:avLst/>
          </a:prstGeom>
          <a:noFill/>
          <a:ln w="15225" cap="flat" cmpd="sng">
            <a:solidFill>
              <a:srgbClr val="BBBBBB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21" name="Google Shape;521;p2"/>
          <p:cNvSpPr/>
          <p:nvPr/>
        </p:nvSpPr>
        <p:spPr>
          <a:xfrm>
            <a:off x="9265096" y="2237115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22" name="Google Shape;522;p2"/>
          <p:cNvSpPr/>
          <p:nvPr/>
        </p:nvSpPr>
        <p:spPr>
          <a:xfrm>
            <a:off x="9265096" y="2237115"/>
            <a:ext cx="2437765" cy="85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MCP Server 1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1066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Shared downstream service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2"/>
          <p:cNvCxnSpPr/>
          <p:nvPr/>
        </p:nvCxnSpPr>
        <p:spPr>
          <a:xfrm>
            <a:off x="8046213" y="2663724"/>
            <a:ext cx="1218883" cy="0"/>
          </a:xfrm>
          <a:prstGeom prst="straightConnector1">
            <a:avLst/>
          </a:prstGeom>
          <a:noFill/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p2"/>
          <p:cNvSpPr/>
          <p:nvPr/>
        </p:nvSpPr>
        <p:spPr>
          <a:xfrm>
            <a:off x="9265096" y="3699774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25" name="Google Shape;525;p2"/>
          <p:cNvSpPr/>
          <p:nvPr/>
        </p:nvSpPr>
        <p:spPr>
          <a:xfrm>
            <a:off x="9265096" y="3699774"/>
            <a:ext cx="2437765" cy="85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MCP Server 2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1066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Shared downstream service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2"/>
          <p:cNvCxnSpPr/>
          <p:nvPr/>
        </p:nvCxnSpPr>
        <p:spPr>
          <a:xfrm>
            <a:off x="8046213" y="4126383"/>
            <a:ext cx="1218883" cy="0"/>
          </a:xfrm>
          <a:prstGeom prst="straightConnector1">
            <a:avLst/>
          </a:prstGeom>
          <a:noFill/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7" name="Google Shape;527;p2"/>
          <p:cNvSpPr/>
          <p:nvPr/>
        </p:nvSpPr>
        <p:spPr>
          <a:xfrm>
            <a:off x="9265096" y="5162433"/>
            <a:ext cx="2437765" cy="853218"/>
          </a:xfrm>
          <a:prstGeom prst="roundRect">
            <a:avLst>
              <a:gd name="adj" fmla="val 8571"/>
            </a:avLst>
          </a:prstGeom>
          <a:solidFill>
            <a:srgbClr val="E8F8F5"/>
          </a:solidFill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162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28" name="Google Shape;528;p2"/>
          <p:cNvSpPr/>
          <p:nvPr/>
        </p:nvSpPr>
        <p:spPr>
          <a:xfrm>
            <a:off x="9265096" y="5162433"/>
            <a:ext cx="2437765" cy="85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1466" b="1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MCP Server M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1066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Shared downstream service</a:t>
            </a:r>
            <a:endParaRPr sz="14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2"/>
          <p:cNvCxnSpPr/>
          <p:nvPr/>
        </p:nvCxnSpPr>
        <p:spPr>
          <a:xfrm>
            <a:off x="8046213" y="5589042"/>
            <a:ext cx="1218883" cy="0"/>
          </a:xfrm>
          <a:prstGeom prst="straightConnector1">
            <a:avLst/>
          </a:prstGeom>
          <a:noFill/>
          <a:ln w="1905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Google Shape;530;p2"/>
          <p:cNvSpPr/>
          <p:nvPr/>
        </p:nvSpPr>
        <p:spPr>
          <a:xfrm>
            <a:off x="9265096" y="4613937"/>
            <a:ext cx="2437765" cy="365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2133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6A97-9C8C-4E51-9B40-4D455BBD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5400" noProof="0" dirty="0"/>
            </a:br>
            <a:r>
              <a:rPr lang="en-US" sz="5400" noProof="0" dirty="0"/>
              <a:t>MCP Risks Taxonomies – </a:t>
            </a:r>
            <a:br>
              <a:rPr lang="en-US" sz="5400" noProof="0" dirty="0"/>
            </a:br>
            <a:r>
              <a:rPr lang="en-US" sz="4400" noProof="0" dirty="0"/>
              <a:t>Main highlights from Literature review report	</a:t>
            </a:r>
            <a:endParaRPr lang="en-US" sz="54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25360-C912-4E4A-9B09-4090FA205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806529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466D-9E60-4035-9778-9F73EE29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MCIP: Protecting MCP Safety via Model Contextual Integrity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42FE-E275-4505-884A-A02008C11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0611" y="1466850"/>
            <a:ext cx="11078964" cy="4629150"/>
          </a:xfrm>
        </p:spPr>
        <p:txBody>
          <a:bodyPr/>
          <a:lstStyle/>
          <a:p>
            <a:r>
              <a:rPr lang="en-US" dirty="0"/>
              <a:t>MCIP (Model Contextual Integrity Protocol) is a safety-enhanced version of MCP that addresses MCP's missing security mechanisms while retaining the original functionalities of MCP</a:t>
            </a:r>
          </a:p>
          <a:p>
            <a:pPr lvl="1"/>
            <a:r>
              <a:rPr lang="en-US" dirty="0"/>
              <a:t>MCP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interactions occur as natural language dialogues</a:t>
            </a:r>
            <a:r>
              <a:rPr lang="en-US" dirty="0"/>
              <a:t>, making it difficult to track, audit, and detect security violations. </a:t>
            </a:r>
          </a:p>
          <a:p>
            <a:pPr lvl="1"/>
            <a:r>
              <a:rPr lang="en-US" dirty="0"/>
              <a:t>Without structured logging, organizations cannot answer critical questions like "Who accessed what data?" or "Which tools were called inappropriately?“</a:t>
            </a:r>
          </a:p>
          <a:p>
            <a:r>
              <a:rPr lang="en-US" dirty="0"/>
              <a:t>MCIP addresses tracking gaps by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adding structured logging.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E438E-F92D-4D90-8F8A-836C29F68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39440F7-0BC1-4714-BCF3-3B0D822A8DC5}"/>
              </a:ext>
            </a:extLst>
          </p:cNvPr>
          <p:cNvSpPr txBox="1">
            <a:spLocks/>
          </p:cNvSpPr>
          <p:nvPr/>
        </p:nvSpPr>
        <p:spPr bwMode="gray">
          <a:xfrm>
            <a:off x="760476" y="917031"/>
            <a:ext cx="11260074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7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18987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04746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Huihao</a:t>
            </a:r>
            <a:r>
              <a:rPr lang="en-US" sz="1400" dirty="0"/>
              <a:t> Jing, </a:t>
            </a:r>
            <a:r>
              <a:rPr lang="en-US" sz="1400" dirty="0" err="1"/>
              <a:t>Haoran</a:t>
            </a:r>
            <a:r>
              <a:rPr lang="en-US" sz="1400" dirty="0"/>
              <a:t> Li, </a:t>
            </a:r>
            <a:r>
              <a:rPr lang="en-US" sz="1400" dirty="0" err="1"/>
              <a:t>Wenbin</a:t>
            </a:r>
            <a:r>
              <a:rPr lang="en-US" sz="1400" dirty="0"/>
              <a:t> Hu, Qi Hu, Xu Heli, </a:t>
            </a:r>
            <a:r>
              <a:rPr lang="en-US" sz="1400" dirty="0" err="1"/>
              <a:t>Tianshu</a:t>
            </a:r>
            <a:r>
              <a:rPr lang="en-US" sz="1400" dirty="0"/>
              <a:t> Chu, </a:t>
            </a:r>
            <a:r>
              <a:rPr lang="en-US" sz="1400" dirty="0" err="1"/>
              <a:t>Peizhao</a:t>
            </a:r>
            <a:r>
              <a:rPr lang="en-US" sz="1400" dirty="0"/>
              <a:t> Hu, and </a:t>
            </a:r>
            <a:r>
              <a:rPr lang="en-US" sz="1400" dirty="0" err="1"/>
              <a:t>Yangqiu</a:t>
            </a:r>
            <a:r>
              <a:rPr lang="en-US" sz="1400" dirty="0"/>
              <a:t> Song. 2025. Proceedings of the 2025 Conference on Empirical Methods in Natural Language Processing. </a:t>
            </a:r>
            <a:r>
              <a:rPr lang="en-US" sz="1400" dirty="0">
                <a:hlinkClick r:id="rId3"/>
              </a:rPr>
              <a:t>https://aclanthology.org/2025.emnlp-main.62/</a:t>
            </a:r>
            <a:r>
              <a:rPr lang="en-US" sz="1400" dirty="0"/>
              <a:t> 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94E872E-B8BA-43EC-9836-99245E7F2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gray">
          <a:xfrm>
            <a:off x="2300379" y="4822906"/>
            <a:ext cx="3547137" cy="4776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5B32EF-B08C-4423-AD9B-329EAC7DA5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96"/>
          <a:stretch/>
        </p:blipFill>
        <p:spPr>
          <a:xfrm>
            <a:off x="6965674" y="3709128"/>
            <a:ext cx="2997476" cy="29417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1AE1AA-DF7F-48BF-A95F-D460CA1568B7}"/>
              </a:ext>
            </a:extLst>
          </p:cNvPr>
          <p:cNvSpPr txBox="1"/>
          <p:nvPr/>
        </p:nvSpPr>
        <p:spPr>
          <a:xfrm>
            <a:off x="4853791" y="5586095"/>
            <a:ext cx="198745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AutoNum type="arabicPeriod"/>
              <a:defRPr sz="1400" b="1"/>
            </a:lvl1pPr>
          </a:lstStyle>
          <a:p>
            <a:pPr marL="0" indent="0">
              <a:buNone/>
            </a:pPr>
            <a:r>
              <a:rPr lang="en-US" b="0" i="1" dirty="0"/>
              <a:t>Tracking Log Formats</a:t>
            </a:r>
          </a:p>
        </p:txBody>
      </p:sp>
    </p:spTree>
    <p:extLst>
      <p:ext uri="{BB962C8B-B14F-4D97-AF65-F5344CB8AC3E}">
        <p14:creationId xmlns:p14="http://schemas.microsoft.com/office/powerpoint/2010/main" val="4210684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466D-9E60-4035-9778-9F73EE29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MCIP: Protecting MCP Safety via Model Contextual Integrity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E438E-F92D-4D90-8F8A-836C29F68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39440F7-0BC1-4714-BCF3-3B0D822A8DC5}"/>
              </a:ext>
            </a:extLst>
          </p:cNvPr>
          <p:cNvSpPr txBox="1">
            <a:spLocks/>
          </p:cNvSpPr>
          <p:nvPr/>
        </p:nvSpPr>
        <p:spPr bwMode="gray">
          <a:xfrm>
            <a:off x="760476" y="917031"/>
            <a:ext cx="11260074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7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18987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04746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Huihao</a:t>
            </a:r>
            <a:r>
              <a:rPr lang="en-US" sz="1400" dirty="0"/>
              <a:t> Jing, </a:t>
            </a:r>
            <a:r>
              <a:rPr lang="en-US" sz="1400" dirty="0" err="1"/>
              <a:t>Haoran</a:t>
            </a:r>
            <a:r>
              <a:rPr lang="en-US" sz="1400" dirty="0"/>
              <a:t> Li, </a:t>
            </a:r>
            <a:r>
              <a:rPr lang="en-US" sz="1400" dirty="0" err="1"/>
              <a:t>Wenbin</a:t>
            </a:r>
            <a:r>
              <a:rPr lang="en-US" sz="1400" dirty="0"/>
              <a:t> Hu, Qi Hu, Xu Heli, </a:t>
            </a:r>
            <a:r>
              <a:rPr lang="en-US" sz="1400" dirty="0" err="1"/>
              <a:t>Tianshu</a:t>
            </a:r>
            <a:r>
              <a:rPr lang="en-US" sz="1400" dirty="0"/>
              <a:t> Chu, </a:t>
            </a:r>
            <a:r>
              <a:rPr lang="en-US" sz="1400" dirty="0" err="1"/>
              <a:t>Peizhao</a:t>
            </a:r>
            <a:r>
              <a:rPr lang="en-US" sz="1400" dirty="0"/>
              <a:t> Hu, and </a:t>
            </a:r>
            <a:r>
              <a:rPr lang="en-US" sz="1400" dirty="0" err="1"/>
              <a:t>Yangqiu</a:t>
            </a:r>
            <a:r>
              <a:rPr lang="en-US" sz="1400" dirty="0"/>
              <a:t> Song. 2025. Proceedings of the 2025 Conference on Empirical Methods in Natural Language Processing. </a:t>
            </a:r>
            <a:r>
              <a:rPr lang="en-US" sz="1400" dirty="0">
                <a:hlinkClick r:id="rId3"/>
              </a:rPr>
              <a:t>https://aclanthology.org/2025.emnlp-main.62/</a:t>
            </a:r>
            <a:r>
              <a:rPr lang="en-US" sz="1400" dirty="0"/>
              <a:t>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CE1AD4-DFC5-41C2-B202-D02F6386A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0611" y="1543050"/>
            <a:ext cx="5925939" cy="4552950"/>
          </a:xfrm>
        </p:spPr>
        <p:txBody>
          <a:bodyPr/>
          <a:lstStyle/>
          <a:p>
            <a:r>
              <a:rPr lang="en-US" dirty="0"/>
              <a:t>Taxonomy of safety risks for MCP. </a:t>
            </a:r>
          </a:p>
          <a:p>
            <a:pPr lvl="1"/>
            <a:r>
              <a:rPr lang="en-US" dirty="0"/>
              <a:t>The leftmost column of the table shows the </a:t>
            </a:r>
            <a:br>
              <a:rPr lang="en-US" dirty="0"/>
            </a:br>
            <a:r>
              <a:rPr lang="en-US" dirty="0"/>
              <a:t>phase in which each risk occurs. </a:t>
            </a:r>
          </a:p>
          <a:p>
            <a:pPr lvl="1"/>
            <a:r>
              <a:rPr lang="en-US" dirty="0"/>
              <a:t>The main body maps risks by their source, scope, type, and corresponding MAESTRO layers</a:t>
            </a:r>
          </a:p>
          <a:p>
            <a:pPr lvl="1"/>
            <a:r>
              <a:rPr lang="en-US" dirty="0"/>
              <a:t>Lists 15 unsafe behaviors across three phases (Config, Interaction, Termination), each marked as coming from the server or the client and linked to MAESTRO framework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F53BA2-9F1C-4A81-8C8D-CE14749A58A0}"/>
              </a:ext>
            </a:extLst>
          </p:cNvPr>
          <p:cNvSpPr/>
          <p:nvPr/>
        </p:nvSpPr>
        <p:spPr>
          <a:xfrm>
            <a:off x="1288918" y="4961007"/>
            <a:ext cx="486932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sz="2000" dirty="0"/>
              <a:t>Pure attack analysis only with mapping to Maestro framework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A7DEBE-8F75-49C1-BB3E-62CB8A2DA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513" y="1234568"/>
            <a:ext cx="5534954" cy="54953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825F99-24E2-4B80-8169-1C0458C1A81C}"/>
              </a:ext>
            </a:extLst>
          </p:cNvPr>
          <p:cNvSpPr/>
          <p:nvPr/>
        </p:nvSpPr>
        <p:spPr>
          <a:xfrm>
            <a:off x="6787662" y="6307015"/>
            <a:ext cx="5137805" cy="422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2251ED-F3BD-4643-8C3C-937F95799186}"/>
              </a:ext>
            </a:extLst>
          </p:cNvPr>
          <p:cNvSpPr/>
          <p:nvPr/>
        </p:nvSpPr>
        <p:spPr>
          <a:xfrm>
            <a:off x="6787662" y="3751385"/>
            <a:ext cx="5137805" cy="18720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3154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3D8B-CAD2-4D32-8BBB-576F0583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MCP-DPT: A Defense-Placement Taxonomy and Coverage Analysis for Model Context Protocol Security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99D4E-8455-4AF4-8EBF-33E7D62AE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0612" y="1590674"/>
            <a:ext cx="4335264" cy="450532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MCP-DPT</a:t>
            </a:r>
            <a:r>
              <a:rPr lang="en-US" dirty="0"/>
              <a:t> organizes MCP attacks according to the part of the system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should defend against.</a:t>
            </a:r>
          </a:p>
          <a:p>
            <a:r>
              <a:rPr lang="en-US" dirty="0"/>
              <a:t>Defines 6 layers and maps 49 attacks against 13 defenses to show who is responsible for each one.</a:t>
            </a:r>
          </a:p>
          <a:p>
            <a:pPr lvl="1"/>
            <a:r>
              <a:rPr lang="en-US" dirty="0"/>
              <a:t>The layer view makes it easy to see which parts of the system have weak coverage</a:t>
            </a:r>
          </a:p>
          <a:p>
            <a:pPr lvl="1"/>
            <a:r>
              <a:rPr lang="en-US" b="1" dirty="0"/>
              <a:t>Limitation</a:t>
            </a:r>
            <a:r>
              <a:rPr lang="en-US" dirty="0"/>
              <a:t>: The attack impact isn’t clear – two attacks at the same layer may impact differently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CA03-C008-43C5-BCDB-E0E732B34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5A85357-5482-4C14-8D39-E9809F501094}"/>
              </a:ext>
            </a:extLst>
          </p:cNvPr>
          <p:cNvSpPr txBox="1">
            <a:spLocks/>
          </p:cNvSpPr>
          <p:nvPr/>
        </p:nvSpPr>
        <p:spPr bwMode="gray">
          <a:xfrm>
            <a:off x="766100" y="1204802"/>
            <a:ext cx="11425899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85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7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218987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None/>
              <a:defRPr sz="21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04746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Rostamzadeh</a:t>
            </a:r>
            <a:r>
              <a:rPr lang="en-US" sz="1400" dirty="0"/>
              <a:t>, M., Narula, S., </a:t>
            </a:r>
            <a:r>
              <a:rPr lang="en-US" sz="1400" dirty="0" err="1"/>
              <a:t>Birhan</a:t>
            </a:r>
            <a:r>
              <a:rPr lang="en-US" sz="1400" dirty="0"/>
              <a:t>, N., </a:t>
            </a:r>
            <a:r>
              <a:rPr lang="en-US" sz="1400" dirty="0" err="1"/>
              <a:t>Ghasemigol</a:t>
            </a:r>
            <a:r>
              <a:rPr lang="en-US" sz="1400" dirty="0"/>
              <a:t>, M. and </a:t>
            </a:r>
            <a:r>
              <a:rPr lang="en-US" sz="1400" dirty="0" err="1"/>
              <a:t>Takabi</a:t>
            </a:r>
            <a:r>
              <a:rPr lang="en-US" sz="1400" dirty="0"/>
              <a:t>, D., 2026. </a:t>
            </a:r>
            <a:r>
              <a:rPr lang="en-US" sz="1400" dirty="0" err="1"/>
              <a:t>arXiv</a:t>
            </a:r>
            <a:r>
              <a:rPr lang="en-US" sz="1400" dirty="0"/>
              <a:t> preprint arXiv:2604.07551. </a:t>
            </a:r>
            <a:r>
              <a:rPr lang="en-US" sz="1400" dirty="0">
                <a:hlinkClick r:id="rId3"/>
              </a:rPr>
              <a:t>https://arxiv.org/abs/2604.07551</a:t>
            </a:r>
            <a:r>
              <a:rPr lang="en-US" sz="14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188244-DF0D-47BA-A3EC-E84FBF11F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094" y="1590674"/>
            <a:ext cx="6829501" cy="45053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EDF0C3-C856-4031-9854-79422CD4FDF8}"/>
              </a:ext>
            </a:extLst>
          </p:cNvPr>
          <p:cNvSpPr/>
          <p:nvPr/>
        </p:nvSpPr>
        <p:spPr>
          <a:xfrm>
            <a:off x="679329" y="6220261"/>
            <a:ext cx="1114564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/>
            <a:r>
              <a:rPr lang="en-US" sz="2000" dirty="0"/>
              <a:t>Classify attacks from defense perspective. Affected MCP assets are out of the scope. No scoring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053540-3C01-4A4C-8779-3B88FABCC9E6}"/>
              </a:ext>
            </a:extLst>
          </p:cNvPr>
          <p:cNvSpPr/>
          <p:nvPr/>
        </p:nvSpPr>
        <p:spPr>
          <a:xfrm>
            <a:off x="5384800" y="4495800"/>
            <a:ext cx="1917700" cy="5334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9653A0-59B6-4EFB-8FA9-9D2F45C6F946}"/>
              </a:ext>
            </a:extLst>
          </p:cNvPr>
          <p:cNvSpPr/>
          <p:nvPr/>
        </p:nvSpPr>
        <p:spPr>
          <a:xfrm>
            <a:off x="7302500" y="4495800"/>
            <a:ext cx="1917700" cy="48895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29268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Picture 509">
            <a:extLst>
              <a:ext uri="{FF2B5EF4-FFF2-40B4-BE49-F238E27FC236}">
                <a16:creationId xmlns:a16="http://schemas.microsoft.com/office/drawing/2014/main" id="{974184AF-FD16-4DDC-A9A9-1FEA6674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610" y="1077316"/>
            <a:ext cx="10673828" cy="52248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59DD90-183F-4A08-B429-2E0D6670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security taxonomies – Summary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A9430-7144-4F2F-8407-1153D87FC536}"/>
              </a:ext>
            </a:extLst>
          </p:cNvPr>
          <p:cNvSpPr/>
          <p:nvPr/>
        </p:nvSpPr>
        <p:spPr>
          <a:xfrm>
            <a:off x="1076325" y="4514850"/>
            <a:ext cx="10039350" cy="3429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8DBDA-46B1-4F3A-B724-30E063D3CABE}"/>
              </a:ext>
            </a:extLst>
          </p:cNvPr>
          <p:cNvSpPr/>
          <p:nvPr/>
        </p:nvSpPr>
        <p:spPr>
          <a:xfrm>
            <a:off x="1076325" y="2727511"/>
            <a:ext cx="10039350" cy="3429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"/>
          <p:cNvSpPr/>
          <p:nvPr/>
        </p:nvSpPr>
        <p:spPr>
          <a:xfrm>
            <a:off x="1588" y="893"/>
            <a:ext cx="12188825" cy="853218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7" name="Google Shape;537;p3"/>
          <p:cNvSpPr/>
          <p:nvPr/>
        </p:nvSpPr>
        <p:spPr>
          <a:xfrm>
            <a:off x="489141" y="61837"/>
            <a:ext cx="10969943" cy="731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ea typeface="Arial Black"/>
                <a:cs typeface="Arial Black"/>
                <a:sym typeface="Arial Black"/>
              </a:rPr>
              <a:t>Selected Misuse Matrix</a:t>
            </a:r>
            <a:endParaRPr lang="en-US" sz="3200" b="1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"/>
          <p:cNvSpPr/>
          <p:nvPr/>
        </p:nvSpPr>
        <p:spPr>
          <a:xfrm>
            <a:off x="1588" y="6400027"/>
            <a:ext cx="73133" cy="457081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9" name="Google Shape;539;p3"/>
          <p:cNvSpPr/>
          <p:nvPr/>
        </p:nvSpPr>
        <p:spPr>
          <a:xfrm>
            <a:off x="11337196" y="6460971"/>
            <a:ext cx="609441" cy="24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566;p4">
            <a:extLst>
              <a:ext uri="{FF2B5EF4-FFF2-40B4-BE49-F238E27FC236}">
                <a16:creationId xmlns:a16="http://schemas.microsoft.com/office/drawing/2014/main" id="{C0DA6DD6-382F-4B62-901F-8E3D80B90F97}"/>
              </a:ext>
            </a:extLst>
          </p:cNvPr>
          <p:cNvSpPr/>
          <p:nvPr/>
        </p:nvSpPr>
        <p:spPr>
          <a:xfrm>
            <a:off x="6187504" y="4398264"/>
            <a:ext cx="1901952" cy="530352"/>
          </a:xfrm>
          <a:prstGeom prst="rect">
            <a:avLst/>
          </a:prstGeom>
          <a:solidFill>
            <a:srgbClr val="FFF5D6"/>
          </a:solidFill>
          <a:ln w="9525" cap="flat" cmpd="sng">
            <a:solidFill>
              <a:srgbClr val="E8D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569;p4">
            <a:extLst>
              <a:ext uri="{FF2B5EF4-FFF2-40B4-BE49-F238E27FC236}">
                <a16:creationId xmlns:a16="http://schemas.microsoft.com/office/drawing/2014/main" id="{25A1CED5-E3F0-4891-934D-CB13A059FCA1}"/>
              </a:ext>
            </a:extLst>
          </p:cNvPr>
          <p:cNvSpPr/>
          <p:nvPr/>
        </p:nvSpPr>
        <p:spPr>
          <a:xfrm>
            <a:off x="344488" y="1143000"/>
            <a:ext cx="190195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9" name="Google Shape;570;p4">
            <a:extLst>
              <a:ext uri="{FF2B5EF4-FFF2-40B4-BE49-F238E27FC236}">
                <a16:creationId xmlns:a16="http://schemas.microsoft.com/office/drawing/2014/main" id="{7CAE663C-71AE-4382-BD7D-05F558F52C8A}"/>
              </a:ext>
            </a:extLst>
          </p:cNvPr>
          <p:cNvSpPr/>
          <p:nvPr/>
        </p:nvSpPr>
        <p:spPr>
          <a:xfrm>
            <a:off x="344488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 cap="smal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SERVER COMPROMISE</a:t>
            </a:r>
            <a:endParaRPr sz="1000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571;p4">
            <a:extLst>
              <a:ext uri="{FF2B5EF4-FFF2-40B4-BE49-F238E27FC236}">
                <a16:creationId xmlns:a16="http://schemas.microsoft.com/office/drawing/2014/main" id="{F1CD0BB2-104B-4B2B-B339-F3F812BF575E}"/>
              </a:ext>
            </a:extLst>
          </p:cNvPr>
          <p:cNvSpPr/>
          <p:nvPr/>
        </p:nvSpPr>
        <p:spPr>
          <a:xfrm>
            <a:off x="344488" y="156362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" name="Google Shape;572;p4">
            <a:extLst>
              <a:ext uri="{FF2B5EF4-FFF2-40B4-BE49-F238E27FC236}">
                <a16:creationId xmlns:a16="http://schemas.microsoft.com/office/drawing/2014/main" id="{1F3F3743-DFF5-46AD-A4D5-BE568CCF8E9D}"/>
              </a:ext>
            </a:extLst>
          </p:cNvPr>
          <p:cNvSpPr/>
          <p:nvPr/>
        </p:nvSpPr>
        <p:spPr>
          <a:xfrm>
            <a:off x="417640" y="156362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Reverse Shell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573;p4">
            <a:extLst>
              <a:ext uri="{FF2B5EF4-FFF2-40B4-BE49-F238E27FC236}">
                <a16:creationId xmlns:a16="http://schemas.microsoft.com/office/drawing/2014/main" id="{F9E27966-D539-403E-A1F0-807ECE066A56}"/>
              </a:ext>
            </a:extLst>
          </p:cNvPr>
          <p:cNvSpPr/>
          <p:nvPr/>
        </p:nvSpPr>
        <p:spPr>
          <a:xfrm>
            <a:off x="344488" y="213055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3" name="Google Shape;574;p4">
            <a:extLst>
              <a:ext uri="{FF2B5EF4-FFF2-40B4-BE49-F238E27FC236}">
                <a16:creationId xmlns:a16="http://schemas.microsoft.com/office/drawing/2014/main" id="{A051041B-E57C-44AE-82ED-F2FDF4B7C139}"/>
              </a:ext>
            </a:extLst>
          </p:cNvPr>
          <p:cNvSpPr/>
          <p:nvPr/>
        </p:nvSpPr>
        <p:spPr>
          <a:xfrm>
            <a:off x="417640" y="213055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SSH Key Injection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575;p4">
            <a:extLst>
              <a:ext uri="{FF2B5EF4-FFF2-40B4-BE49-F238E27FC236}">
                <a16:creationId xmlns:a16="http://schemas.microsoft.com/office/drawing/2014/main" id="{7546C7AF-F7C0-4BB6-98FC-ACCD7F311125}"/>
              </a:ext>
            </a:extLst>
          </p:cNvPr>
          <p:cNvSpPr/>
          <p:nvPr/>
        </p:nvSpPr>
        <p:spPr>
          <a:xfrm>
            <a:off x="344488" y="2697480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5" name="Google Shape;576;p4">
            <a:extLst>
              <a:ext uri="{FF2B5EF4-FFF2-40B4-BE49-F238E27FC236}">
                <a16:creationId xmlns:a16="http://schemas.microsoft.com/office/drawing/2014/main" id="{4E9658A9-34AE-438A-B47E-766625B64AA8}"/>
              </a:ext>
            </a:extLst>
          </p:cNvPr>
          <p:cNvSpPr/>
          <p:nvPr/>
        </p:nvSpPr>
        <p:spPr>
          <a:xfrm>
            <a:off x="417640" y="2697480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Log Tampering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Evidence Destruction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577;p4">
            <a:extLst>
              <a:ext uri="{FF2B5EF4-FFF2-40B4-BE49-F238E27FC236}">
                <a16:creationId xmlns:a16="http://schemas.microsoft.com/office/drawing/2014/main" id="{9EBAAF87-DF42-47CE-895F-52976CDEC033}"/>
              </a:ext>
            </a:extLst>
          </p:cNvPr>
          <p:cNvSpPr/>
          <p:nvPr/>
        </p:nvSpPr>
        <p:spPr>
          <a:xfrm>
            <a:off x="344488" y="3264408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7" name="Google Shape;578;p4">
            <a:extLst>
              <a:ext uri="{FF2B5EF4-FFF2-40B4-BE49-F238E27FC236}">
                <a16:creationId xmlns:a16="http://schemas.microsoft.com/office/drawing/2014/main" id="{AB43BFB0-B0A0-4D05-A4CB-448A97115F46}"/>
              </a:ext>
            </a:extLst>
          </p:cNvPr>
          <p:cNvSpPr/>
          <p:nvPr/>
        </p:nvSpPr>
        <p:spPr>
          <a:xfrm>
            <a:off x="417640" y="3264408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Semantic Data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Poisoning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579;p4">
            <a:extLst>
              <a:ext uri="{FF2B5EF4-FFF2-40B4-BE49-F238E27FC236}">
                <a16:creationId xmlns:a16="http://schemas.microsoft.com/office/drawing/2014/main" id="{B2107557-5F9B-43F6-ACEF-38EF858CFC89}"/>
              </a:ext>
            </a:extLst>
          </p:cNvPr>
          <p:cNvSpPr/>
          <p:nvPr/>
        </p:nvSpPr>
        <p:spPr>
          <a:xfrm>
            <a:off x="344488" y="3831336"/>
            <a:ext cx="1901952" cy="530352"/>
          </a:xfrm>
          <a:prstGeom prst="rect">
            <a:avLst/>
          </a:prstGeom>
          <a:solidFill>
            <a:srgbClr val="FFF5D6"/>
          </a:solidFill>
          <a:ln w="9525" cap="flat" cmpd="sng">
            <a:solidFill>
              <a:srgbClr val="E8D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9" name="Google Shape;580;p4">
            <a:extLst>
              <a:ext uri="{FF2B5EF4-FFF2-40B4-BE49-F238E27FC236}">
                <a16:creationId xmlns:a16="http://schemas.microsoft.com/office/drawing/2014/main" id="{CBE67BAC-9163-46FB-9237-EDCD734A442F}"/>
              </a:ext>
            </a:extLst>
          </p:cNvPr>
          <p:cNvSpPr/>
          <p:nvPr/>
        </p:nvSpPr>
        <p:spPr>
          <a:xfrm>
            <a:off x="417640" y="3831336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6600"/>
              </a:buClr>
              <a:buSzPts val="900"/>
            </a:pPr>
            <a:r>
              <a:rPr lang="en-US" sz="900" b="1" dirty="0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SQL Injection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581;p4">
            <a:extLst>
              <a:ext uri="{FF2B5EF4-FFF2-40B4-BE49-F238E27FC236}">
                <a16:creationId xmlns:a16="http://schemas.microsoft.com/office/drawing/2014/main" id="{70C4A36E-6276-480F-9C77-2BAFAEEDDFBC}"/>
              </a:ext>
            </a:extLst>
          </p:cNvPr>
          <p:cNvSpPr/>
          <p:nvPr/>
        </p:nvSpPr>
        <p:spPr>
          <a:xfrm>
            <a:off x="344488" y="4398264"/>
            <a:ext cx="1901952" cy="530352"/>
          </a:xfrm>
          <a:prstGeom prst="rect">
            <a:avLst/>
          </a:prstGeom>
          <a:solidFill>
            <a:srgbClr val="FFF5D6"/>
          </a:solidFill>
          <a:ln w="9525" cap="flat" cmpd="sng">
            <a:solidFill>
              <a:srgbClr val="E8D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1" name="Google Shape;582;p4">
            <a:extLst>
              <a:ext uri="{FF2B5EF4-FFF2-40B4-BE49-F238E27FC236}">
                <a16:creationId xmlns:a16="http://schemas.microsoft.com/office/drawing/2014/main" id="{D74AB96F-7DCA-448A-B6D2-B6861249CEFC}"/>
              </a:ext>
            </a:extLst>
          </p:cNvPr>
          <p:cNvSpPr/>
          <p:nvPr/>
        </p:nvSpPr>
        <p:spPr>
          <a:xfrm>
            <a:off x="417640" y="439826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6600"/>
              </a:buClr>
              <a:buSzPts val="900"/>
            </a:pPr>
            <a:r>
              <a:rPr lang="en-US" sz="900" b="1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State Corruption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583;p4">
            <a:extLst>
              <a:ext uri="{FF2B5EF4-FFF2-40B4-BE49-F238E27FC236}">
                <a16:creationId xmlns:a16="http://schemas.microsoft.com/office/drawing/2014/main" id="{20F0C1AE-7DD4-4A53-BFC4-391DFB9B4D88}"/>
              </a:ext>
            </a:extLst>
          </p:cNvPr>
          <p:cNvSpPr/>
          <p:nvPr/>
        </p:nvSpPr>
        <p:spPr>
          <a:xfrm>
            <a:off x="2292160" y="1143000"/>
            <a:ext cx="1901952" cy="384048"/>
          </a:xfrm>
          <a:prstGeom prst="rect">
            <a:avLst/>
          </a:prstGeom>
          <a:solidFill>
            <a:srgbClr val="E67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3" name="Google Shape;584;p4">
            <a:extLst>
              <a:ext uri="{FF2B5EF4-FFF2-40B4-BE49-F238E27FC236}">
                <a16:creationId xmlns:a16="http://schemas.microsoft.com/office/drawing/2014/main" id="{ED531613-F1E2-482F-9BF0-FB883DF77204}"/>
              </a:ext>
            </a:extLst>
          </p:cNvPr>
          <p:cNvSpPr/>
          <p:nvPr/>
        </p:nvSpPr>
        <p:spPr>
          <a:xfrm>
            <a:off x="2292160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 cap="smal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EXFILTRATION</a:t>
            </a:r>
            <a:endParaRPr sz="1000" cap="small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585;p4">
            <a:extLst>
              <a:ext uri="{FF2B5EF4-FFF2-40B4-BE49-F238E27FC236}">
                <a16:creationId xmlns:a16="http://schemas.microsoft.com/office/drawing/2014/main" id="{87B5A942-9ACB-4322-B776-CDAFAA219E16}"/>
              </a:ext>
            </a:extLst>
          </p:cNvPr>
          <p:cNvSpPr/>
          <p:nvPr/>
        </p:nvSpPr>
        <p:spPr>
          <a:xfrm>
            <a:off x="2292160" y="156362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5" name="Google Shape;586;p4">
            <a:extLst>
              <a:ext uri="{FF2B5EF4-FFF2-40B4-BE49-F238E27FC236}">
                <a16:creationId xmlns:a16="http://schemas.microsoft.com/office/drawing/2014/main" id="{7D1D2D91-B437-4F27-8BCC-216B7CEBB04B}"/>
              </a:ext>
            </a:extLst>
          </p:cNvPr>
          <p:cNvSpPr/>
          <p:nvPr/>
        </p:nvSpPr>
        <p:spPr>
          <a:xfrm>
            <a:off x="2365312" y="156362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Env Var Exposure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Token Extraction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587;p4">
            <a:extLst>
              <a:ext uri="{FF2B5EF4-FFF2-40B4-BE49-F238E27FC236}">
                <a16:creationId xmlns:a16="http://schemas.microsoft.com/office/drawing/2014/main" id="{08C6FDB6-788B-4860-B1E0-7BD8084B583B}"/>
              </a:ext>
            </a:extLst>
          </p:cNvPr>
          <p:cNvSpPr/>
          <p:nvPr/>
        </p:nvSpPr>
        <p:spPr>
          <a:xfrm>
            <a:off x="2292160" y="213055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7" name="Google Shape;588;p4">
            <a:extLst>
              <a:ext uri="{FF2B5EF4-FFF2-40B4-BE49-F238E27FC236}">
                <a16:creationId xmlns:a16="http://schemas.microsoft.com/office/drawing/2014/main" id="{0F9DD199-CDC6-45EB-BEA5-979796F0E1BE}"/>
              </a:ext>
            </a:extLst>
          </p:cNvPr>
          <p:cNvSpPr/>
          <p:nvPr/>
        </p:nvSpPr>
        <p:spPr>
          <a:xfrm>
            <a:off x="2365312" y="213055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Database Credential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Exposure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589;p4">
            <a:extLst>
              <a:ext uri="{FF2B5EF4-FFF2-40B4-BE49-F238E27FC236}">
                <a16:creationId xmlns:a16="http://schemas.microsoft.com/office/drawing/2014/main" id="{898F4CEC-90F9-4748-A651-58EC52580490}"/>
              </a:ext>
            </a:extLst>
          </p:cNvPr>
          <p:cNvSpPr/>
          <p:nvPr/>
        </p:nvSpPr>
        <p:spPr>
          <a:xfrm>
            <a:off x="2292160" y="2697480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9" name="Google Shape;590;p4">
            <a:extLst>
              <a:ext uri="{FF2B5EF4-FFF2-40B4-BE49-F238E27FC236}">
                <a16:creationId xmlns:a16="http://schemas.microsoft.com/office/drawing/2014/main" id="{AD5A9454-2578-4265-84B6-272A450D8F5C}"/>
              </a:ext>
            </a:extLst>
          </p:cNvPr>
          <p:cNvSpPr/>
          <p:nvPr/>
        </p:nvSpPr>
        <p:spPr>
          <a:xfrm>
            <a:off x="2365312" y="2697480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SSRF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91;p4">
            <a:extLst>
              <a:ext uri="{FF2B5EF4-FFF2-40B4-BE49-F238E27FC236}">
                <a16:creationId xmlns:a16="http://schemas.microsoft.com/office/drawing/2014/main" id="{30449570-81A0-4A06-9970-84327C3C94B8}"/>
              </a:ext>
            </a:extLst>
          </p:cNvPr>
          <p:cNvSpPr/>
          <p:nvPr/>
        </p:nvSpPr>
        <p:spPr>
          <a:xfrm>
            <a:off x="2292160" y="3264408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1" name="Google Shape;592;p4">
            <a:extLst>
              <a:ext uri="{FF2B5EF4-FFF2-40B4-BE49-F238E27FC236}">
                <a16:creationId xmlns:a16="http://schemas.microsoft.com/office/drawing/2014/main" id="{5B73BA71-F6C8-4408-8A57-B121E8C32A94}"/>
              </a:ext>
            </a:extLst>
          </p:cNvPr>
          <p:cNvSpPr/>
          <p:nvPr/>
        </p:nvSpPr>
        <p:spPr>
          <a:xfrm>
            <a:off x="2365312" y="3264408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Scraping / Systematic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 Extraction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93;p4">
            <a:extLst>
              <a:ext uri="{FF2B5EF4-FFF2-40B4-BE49-F238E27FC236}">
                <a16:creationId xmlns:a16="http://schemas.microsoft.com/office/drawing/2014/main" id="{6903ACEB-DEC1-46A8-A88E-3C5CBBD5981A}"/>
              </a:ext>
            </a:extLst>
          </p:cNvPr>
          <p:cNvSpPr/>
          <p:nvPr/>
        </p:nvSpPr>
        <p:spPr>
          <a:xfrm>
            <a:off x="2292160" y="3831336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3" name="Google Shape;594;p4">
            <a:extLst>
              <a:ext uri="{FF2B5EF4-FFF2-40B4-BE49-F238E27FC236}">
                <a16:creationId xmlns:a16="http://schemas.microsoft.com/office/drawing/2014/main" id="{F1818E75-1BD1-4D0C-8B5A-030890377C3C}"/>
              </a:ext>
            </a:extLst>
          </p:cNvPr>
          <p:cNvSpPr/>
          <p:nvPr/>
        </p:nvSpPr>
        <p:spPr>
          <a:xfrm>
            <a:off x="2365312" y="3831336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Multi-Tenant Data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Leakage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95;p4">
            <a:extLst>
              <a:ext uri="{FF2B5EF4-FFF2-40B4-BE49-F238E27FC236}">
                <a16:creationId xmlns:a16="http://schemas.microsoft.com/office/drawing/2014/main" id="{CF9CBBDF-E1F8-4208-AE00-E912BF013093}"/>
              </a:ext>
            </a:extLst>
          </p:cNvPr>
          <p:cNvSpPr/>
          <p:nvPr/>
        </p:nvSpPr>
        <p:spPr>
          <a:xfrm>
            <a:off x="2292160" y="439826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5" name="Google Shape;596;p4">
            <a:extLst>
              <a:ext uri="{FF2B5EF4-FFF2-40B4-BE49-F238E27FC236}">
                <a16:creationId xmlns:a16="http://schemas.microsoft.com/office/drawing/2014/main" id="{9B2E1C05-033A-454E-979C-573F02B350F1}"/>
              </a:ext>
            </a:extLst>
          </p:cNvPr>
          <p:cNvSpPr/>
          <p:nvPr/>
        </p:nvSpPr>
        <p:spPr>
          <a:xfrm>
            <a:off x="2365312" y="439826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Timing Side-Channel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sz="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97;p4">
            <a:extLst>
              <a:ext uri="{FF2B5EF4-FFF2-40B4-BE49-F238E27FC236}">
                <a16:creationId xmlns:a16="http://schemas.microsoft.com/office/drawing/2014/main" id="{2AF3AE73-8381-4599-86A7-E7633EA94DB7}"/>
              </a:ext>
            </a:extLst>
          </p:cNvPr>
          <p:cNvSpPr/>
          <p:nvPr/>
        </p:nvSpPr>
        <p:spPr>
          <a:xfrm>
            <a:off x="2292160" y="496519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7" name="Google Shape;598;p4">
            <a:extLst>
              <a:ext uri="{FF2B5EF4-FFF2-40B4-BE49-F238E27FC236}">
                <a16:creationId xmlns:a16="http://schemas.microsoft.com/office/drawing/2014/main" id="{9A604C6A-F837-43A9-BCCC-F4180D61C957}"/>
              </a:ext>
            </a:extLst>
          </p:cNvPr>
          <p:cNvSpPr/>
          <p:nvPr/>
        </p:nvSpPr>
        <p:spPr>
          <a:xfrm>
            <a:off x="2365312" y="496519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Behavioral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Fingerprinting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99;p4">
            <a:extLst>
              <a:ext uri="{FF2B5EF4-FFF2-40B4-BE49-F238E27FC236}">
                <a16:creationId xmlns:a16="http://schemas.microsoft.com/office/drawing/2014/main" id="{093A76CD-FB0E-48FC-821C-8A29D752D7AD}"/>
              </a:ext>
            </a:extLst>
          </p:cNvPr>
          <p:cNvSpPr/>
          <p:nvPr/>
        </p:nvSpPr>
        <p:spPr>
          <a:xfrm>
            <a:off x="4239832" y="1143000"/>
            <a:ext cx="1901952" cy="38404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cap="small"/>
          </a:p>
        </p:txBody>
      </p:sp>
      <p:sp>
        <p:nvSpPr>
          <p:cNvPr id="59" name="Google Shape;600;p4">
            <a:extLst>
              <a:ext uri="{FF2B5EF4-FFF2-40B4-BE49-F238E27FC236}">
                <a16:creationId xmlns:a16="http://schemas.microsoft.com/office/drawing/2014/main" id="{AD864012-899D-4F87-AF30-6105FF8665DB}"/>
              </a:ext>
            </a:extLst>
          </p:cNvPr>
          <p:cNvSpPr/>
          <p:nvPr/>
        </p:nvSpPr>
        <p:spPr>
          <a:xfrm>
            <a:off x="4239832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ACCESS CONTROL ABUSE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1;p4">
            <a:extLst>
              <a:ext uri="{FF2B5EF4-FFF2-40B4-BE49-F238E27FC236}">
                <a16:creationId xmlns:a16="http://schemas.microsoft.com/office/drawing/2014/main" id="{75E44077-087B-4AFE-9619-0CC4F35F91F5}"/>
              </a:ext>
            </a:extLst>
          </p:cNvPr>
          <p:cNvSpPr/>
          <p:nvPr/>
        </p:nvSpPr>
        <p:spPr>
          <a:xfrm>
            <a:off x="4239832" y="156362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1" name="Google Shape;602;p4">
            <a:extLst>
              <a:ext uri="{FF2B5EF4-FFF2-40B4-BE49-F238E27FC236}">
                <a16:creationId xmlns:a16="http://schemas.microsoft.com/office/drawing/2014/main" id="{F5F1059F-37BE-489A-BCA3-995116077818}"/>
              </a:ext>
            </a:extLst>
          </p:cNvPr>
          <p:cNvSpPr/>
          <p:nvPr/>
        </p:nvSpPr>
        <p:spPr>
          <a:xfrm>
            <a:off x="4312984" y="156362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Privilege Escalation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via Tool Chaining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03;p4">
            <a:extLst>
              <a:ext uri="{FF2B5EF4-FFF2-40B4-BE49-F238E27FC236}">
                <a16:creationId xmlns:a16="http://schemas.microsoft.com/office/drawing/2014/main" id="{8AACF890-C248-4506-97E4-3BBFCA6ED84B}"/>
              </a:ext>
            </a:extLst>
          </p:cNvPr>
          <p:cNvSpPr/>
          <p:nvPr/>
        </p:nvSpPr>
        <p:spPr>
          <a:xfrm>
            <a:off x="4239832" y="213055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3" name="Google Shape;604;p4">
            <a:extLst>
              <a:ext uri="{FF2B5EF4-FFF2-40B4-BE49-F238E27FC236}">
                <a16:creationId xmlns:a16="http://schemas.microsoft.com/office/drawing/2014/main" id="{F8A98890-50CD-4297-99E4-C38CD90659DD}"/>
              </a:ext>
            </a:extLst>
          </p:cNvPr>
          <p:cNvSpPr/>
          <p:nvPr/>
        </p:nvSpPr>
        <p:spPr>
          <a:xfrm>
            <a:off x="4312984" y="213055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Session Abuse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Temporal Accumulation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05;p4">
            <a:extLst>
              <a:ext uri="{FF2B5EF4-FFF2-40B4-BE49-F238E27FC236}">
                <a16:creationId xmlns:a16="http://schemas.microsoft.com/office/drawing/2014/main" id="{1DE8DB8F-9DF3-44B4-B693-2AA383B371E9}"/>
              </a:ext>
            </a:extLst>
          </p:cNvPr>
          <p:cNvSpPr/>
          <p:nvPr/>
        </p:nvSpPr>
        <p:spPr>
          <a:xfrm>
            <a:off x="4239832" y="2697480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5" name="Google Shape;606;p4">
            <a:extLst>
              <a:ext uri="{FF2B5EF4-FFF2-40B4-BE49-F238E27FC236}">
                <a16:creationId xmlns:a16="http://schemas.microsoft.com/office/drawing/2014/main" id="{1D3EE097-D2DD-468E-AB14-4AAECA716904}"/>
              </a:ext>
            </a:extLst>
          </p:cNvPr>
          <p:cNvSpPr/>
          <p:nvPr/>
        </p:nvSpPr>
        <p:spPr>
          <a:xfrm>
            <a:off x="4239832" y="3264408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6" name="Google Shape;607;p4">
            <a:extLst>
              <a:ext uri="{FF2B5EF4-FFF2-40B4-BE49-F238E27FC236}">
                <a16:creationId xmlns:a16="http://schemas.microsoft.com/office/drawing/2014/main" id="{55FF7699-07C3-406D-8467-857A912110A3}"/>
              </a:ext>
            </a:extLst>
          </p:cNvPr>
          <p:cNvSpPr/>
          <p:nvPr/>
        </p:nvSpPr>
        <p:spPr>
          <a:xfrm>
            <a:off x="4312984" y="3264408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Throttle Bypass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08;p4">
            <a:extLst>
              <a:ext uri="{FF2B5EF4-FFF2-40B4-BE49-F238E27FC236}">
                <a16:creationId xmlns:a16="http://schemas.microsoft.com/office/drawing/2014/main" id="{AC853DD5-B729-4BEA-BD13-C26898234106}"/>
              </a:ext>
            </a:extLst>
          </p:cNvPr>
          <p:cNvSpPr/>
          <p:nvPr/>
        </p:nvSpPr>
        <p:spPr>
          <a:xfrm>
            <a:off x="4239832" y="3831336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8" name="Google Shape;609;p4">
            <a:extLst>
              <a:ext uri="{FF2B5EF4-FFF2-40B4-BE49-F238E27FC236}">
                <a16:creationId xmlns:a16="http://schemas.microsoft.com/office/drawing/2014/main" id="{0B3F87F1-0EC2-4D94-85A2-815FA694ACD4}"/>
              </a:ext>
            </a:extLst>
          </p:cNvPr>
          <p:cNvSpPr/>
          <p:nvPr/>
        </p:nvSpPr>
        <p:spPr>
          <a:xfrm>
            <a:off x="4312984" y="3831336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Browser-Initiated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Tool Execution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(CSRF / DNS Rebind)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10;p4">
            <a:extLst>
              <a:ext uri="{FF2B5EF4-FFF2-40B4-BE49-F238E27FC236}">
                <a16:creationId xmlns:a16="http://schemas.microsoft.com/office/drawing/2014/main" id="{C34D8196-A375-449F-81AA-76534FAEEA5B}"/>
              </a:ext>
            </a:extLst>
          </p:cNvPr>
          <p:cNvSpPr/>
          <p:nvPr/>
        </p:nvSpPr>
        <p:spPr>
          <a:xfrm>
            <a:off x="4239832" y="439826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0" name="Google Shape;611;p4">
            <a:extLst>
              <a:ext uri="{FF2B5EF4-FFF2-40B4-BE49-F238E27FC236}">
                <a16:creationId xmlns:a16="http://schemas.microsoft.com/office/drawing/2014/main" id="{15C40988-6A1E-4711-9D17-9A67106A35D1}"/>
              </a:ext>
            </a:extLst>
          </p:cNvPr>
          <p:cNvSpPr/>
          <p:nvPr/>
        </p:nvSpPr>
        <p:spPr>
          <a:xfrm>
            <a:off x="4312984" y="439826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SSE Stream Hijacking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Session Takeover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612;p4">
            <a:extLst>
              <a:ext uri="{FF2B5EF4-FFF2-40B4-BE49-F238E27FC236}">
                <a16:creationId xmlns:a16="http://schemas.microsoft.com/office/drawing/2014/main" id="{DA1A233D-4583-4EED-9EF9-B7B59021FCCE}"/>
              </a:ext>
            </a:extLst>
          </p:cNvPr>
          <p:cNvSpPr/>
          <p:nvPr/>
        </p:nvSpPr>
        <p:spPr>
          <a:xfrm>
            <a:off x="4276409" y="2697467"/>
            <a:ext cx="17556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OAuth Delegation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Confused Deputy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613;p4">
            <a:extLst>
              <a:ext uri="{FF2B5EF4-FFF2-40B4-BE49-F238E27FC236}">
                <a16:creationId xmlns:a16="http://schemas.microsoft.com/office/drawing/2014/main" id="{740CA871-C75D-42BA-9C2A-A9466DAE50DB}"/>
              </a:ext>
            </a:extLst>
          </p:cNvPr>
          <p:cNvSpPr/>
          <p:nvPr/>
        </p:nvSpPr>
        <p:spPr>
          <a:xfrm>
            <a:off x="6187504" y="1143000"/>
            <a:ext cx="1901952" cy="384048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cap="small"/>
          </a:p>
        </p:txBody>
      </p:sp>
      <p:sp>
        <p:nvSpPr>
          <p:cNvPr id="73" name="Google Shape;614;p4">
            <a:extLst>
              <a:ext uri="{FF2B5EF4-FFF2-40B4-BE49-F238E27FC236}">
                <a16:creationId xmlns:a16="http://schemas.microsoft.com/office/drawing/2014/main" id="{1384DA78-8F92-4273-A139-21ECDEAB9702}"/>
              </a:ext>
            </a:extLst>
          </p:cNvPr>
          <p:cNvSpPr/>
          <p:nvPr/>
        </p:nvSpPr>
        <p:spPr>
          <a:xfrm>
            <a:off x="6187504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EXHAUSTION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615;p4">
            <a:extLst>
              <a:ext uri="{FF2B5EF4-FFF2-40B4-BE49-F238E27FC236}">
                <a16:creationId xmlns:a16="http://schemas.microsoft.com/office/drawing/2014/main" id="{5547C59B-368A-403D-8BA5-ED3895674372}"/>
              </a:ext>
            </a:extLst>
          </p:cNvPr>
          <p:cNvSpPr/>
          <p:nvPr/>
        </p:nvSpPr>
        <p:spPr>
          <a:xfrm>
            <a:off x="6187504" y="156362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5" name="Google Shape;616;p4">
            <a:extLst>
              <a:ext uri="{FF2B5EF4-FFF2-40B4-BE49-F238E27FC236}">
                <a16:creationId xmlns:a16="http://schemas.microsoft.com/office/drawing/2014/main" id="{4CB3825B-B8F2-4CF2-8A31-5BE84515A67B}"/>
              </a:ext>
            </a:extLst>
          </p:cNvPr>
          <p:cNvSpPr/>
          <p:nvPr/>
        </p:nvSpPr>
        <p:spPr>
          <a:xfrm>
            <a:off x="6260656" y="156362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Resource Exhaustion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617;p4">
            <a:extLst>
              <a:ext uri="{FF2B5EF4-FFF2-40B4-BE49-F238E27FC236}">
                <a16:creationId xmlns:a16="http://schemas.microsoft.com/office/drawing/2014/main" id="{CD8DA6BA-E71F-48EC-8B8F-C86D8564A059}"/>
              </a:ext>
            </a:extLst>
          </p:cNvPr>
          <p:cNvSpPr/>
          <p:nvPr/>
        </p:nvSpPr>
        <p:spPr>
          <a:xfrm>
            <a:off x="6187504" y="213055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7" name="Google Shape;618;p4">
            <a:extLst>
              <a:ext uri="{FF2B5EF4-FFF2-40B4-BE49-F238E27FC236}">
                <a16:creationId xmlns:a16="http://schemas.microsoft.com/office/drawing/2014/main" id="{209F0F49-F37D-4D8F-A526-558D52984A8B}"/>
              </a:ext>
            </a:extLst>
          </p:cNvPr>
          <p:cNvSpPr/>
          <p:nvPr/>
        </p:nvSpPr>
        <p:spPr>
          <a:xfrm>
            <a:off x="6260656" y="213055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Recursive &amp; Circular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Task Exhaustion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619;p4">
            <a:extLst>
              <a:ext uri="{FF2B5EF4-FFF2-40B4-BE49-F238E27FC236}">
                <a16:creationId xmlns:a16="http://schemas.microsoft.com/office/drawing/2014/main" id="{CBC87744-C0CD-429E-841C-E4C809612178}"/>
              </a:ext>
            </a:extLst>
          </p:cNvPr>
          <p:cNvSpPr/>
          <p:nvPr/>
        </p:nvSpPr>
        <p:spPr>
          <a:xfrm>
            <a:off x="6187504" y="2697480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" name="Google Shape;620;p4">
            <a:extLst>
              <a:ext uri="{FF2B5EF4-FFF2-40B4-BE49-F238E27FC236}">
                <a16:creationId xmlns:a16="http://schemas.microsoft.com/office/drawing/2014/main" id="{9DDD38A1-AFA8-411C-BEBC-188FD267D276}"/>
              </a:ext>
            </a:extLst>
          </p:cNvPr>
          <p:cNvSpPr/>
          <p:nvPr/>
        </p:nvSpPr>
        <p:spPr>
          <a:xfrm>
            <a:off x="6260656" y="2697480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Denial of Wallet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621;p4">
            <a:extLst>
              <a:ext uri="{FF2B5EF4-FFF2-40B4-BE49-F238E27FC236}">
                <a16:creationId xmlns:a16="http://schemas.microsoft.com/office/drawing/2014/main" id="{D13DBD7B-1A59-479C-90F1-AA85E5E6C7B1}"/>
              </a:ext>
            </a:extLst>
          </p:cNvPr>
          <p:cNvSpPr/>
          <p:nvPr/>
        </p:nvSpPr>
        <p:spPr>
          <a:xfrm>
            <a:off x="6187504" y="3264408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1" name="Google Shape;622;p4">
            <a:extLst>
              <a:ext uri="{FF2B5EF4-FFF2-40B4-BE49-F238E27FC236}">
                <a16:creationId xmlns:a16="http://schemas.microsoft.com/office/drawing/2014/main" id="{9FA52E34-2F6F-4E0E-BD02-03AC9C322F08}"/>
              </a:ext>
            </a:extLst>
          </p:cNvPr>
          <p:cNvSpPr/>
          <p:nvPr/>
        </p:nvSpPr>
        <p:spPr>
          <a:xfrm>
            <a:off x="6260656" y="3264408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Resource Lock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Starvation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623;p4">
            <a:extLst>
              <a:ext uri="{FF2B5EF4-FFF2-40B4-BE49-F238E27FC236}">
                <a16:creationId xmlns:a16="http://schemas.microsoft.com/office/drawing/2014/main" id="{497F7E54-0C67-4B6E-A378-197FD48DC709}"/>
              </a:ext>
            </a:extLst>
          </p:cNvPr>
          <p:cNvSpPr/>
          <p:nvPr/>
        </p:nvSpPr>
        <p:spPr>
          <a:xfrm>
            <a:off x="6187504" y="3831336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624;p4">
            <a:extLst>
              <a:ext uri="{FF2B5EF4-FFF2-40B4-BE49-F238E27FC236}">
                <a16:creationId xmlns:a16="http://schemas.microsoft.com/office/drawing/2014/main" id="{9A385576-380C-47B7-981D-1331F75C9BB8}"/>
              </a:ext>
            </a:extLst>
          </p:cNvPr>
          <p:cNvSpPr/>
          <p:nvPr/>
        </p:nvSpPr>
        <p:spPr>
          <a:xfrm>
            <a:off x="6260656" y="3831336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Replay Attacks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625;p4">
            <a:extLst>
              <a:ext uri="{FF2B5EF4-FFF2-40B4-BE49-F238E27FC236}">
                <a16:creationId xmlns:a16="http://schemas.microsoft.com/office/drawing/2014/main" id="{2FA312D4-E112-4F92-8BE7-AD803EE6D3A2}"/>
              </a:ext>
            </a:extLst>
          </p:cNvPr>
          <p:cNvSpPr/>
          <p:nvPr/>
        </p:nvSpPr>
        <p:spPr>
          <a:xfrm>
            <a:off x="6260656" y="439826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900" b="1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Idempotency Abuse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626;p4">
            <a:extLst>
              <a:ext uri="{FF2B5EF4-FFF2-40B4-BE49-F238E27FC236}">
                <a16:creationId xmlns:a16="http://schemas.microsoft.com/office/drawing/2014/main" id="{02C2BA8C-089B-46AF-A8D4-6F46CD0206F2}"/>
              </a:ext>
            </a:extLst>
          </p:cNvPr>
          <p:cNvSpPr/>
          <p:nvPr/>
        </p:nvSpPr>
        <p:spPr>
          <a:xfrm>
            <a:off x="6187504" y="4965192"/>
            <a:ext cx="1901952" cy="530352"/>
          </a:xfrm>
          <a:prstGeom prst="rect">
            <a:avLst/>
          </a:prstGeom>
          <a:solidFill>
            <a:srgbClr val="FFF5D6"/>
          </a:solidFill>
          <a:ln w="9525" cap="flat" cmpd="sng">
            <a:solidFill>
              <a:srgbClr val="E8DD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6" name="Google Shape;627;p4">
            <a:extLst>
              <a:ext uri="{FF2B5EF4-FFF2-40B4-BE49-F238E27FC236}">
                <a16:creationId xmlns:a16="http://schemas.microsoft.com/office/drawing/2014/main" id="{B68F1589-D123-4C11-BA56-087A7EE800D6}"/>
              </a:ext>
            </a:extLst>
          </p:cNvPr>
          <p:cNvSpPr/>
          <p:nvPr/>
        </p:nvSpPr>
        <p:spPr>
          <a:xfrm>
            <a:off x="6260656" y="496519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C6600"/>
              </a:buClr>
              <a:buSzPts val="900"/>
            </a:pPr>
            <a:r>
              <a:rPr lang="en-US" sz="900" b="1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Protocol-Level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900" b="1">
                <a:solidFill>
                  <a:srgbClr val="CC6600"/>
                </a:solidFill>
                <a:latin typeface="Arial"/>
                <a:ea typeface="Arial"/>
                <a:cs typeface="Arial"/>
                <a:sym typeface="Arial"/>
              </a:rPr>
              <a:t>Exhaustion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628;p4">
            <a:extLst>
              <a:ext uri="{FF2B5EF4-FFF2-40B4-BE49-F238E27FC236}">
                <a16:creationId xmlns:a16="http://schemas.microsoft.com/office/drawing/2014/main" id="{8573D31B-DA07-41BC-A88E-503E4414CCA0}"/>
              </a:ext>
            </a:extLst>
          </p:cNvPr>
          <p:cNvSpPr/>
          <p:nvPr/>
        </p:nvSpPr>
        <p:spPr>
          <a:xfrm>
            <a:off x="8135176" y="1143000"/>
            <a:ext cx="1901952" cy="384048"/>
          </a:xfrm>
          <a:prstGeom prst="rect">
            <a:avLst/>
          </a:prstGeom>
          <a:solidFill>
            <a:srgbClr val="0066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8" name="Google Shape;629;p4">
            <a:extLst>
              <a:ext uri="{FF2B5EF4-FFF2-40B4-BE49-F238E27FC236}">
                <a16:creationId xmlns:a16="http://schemas.microsoft.com/office/drawing/2014/main" id="{C6051C42-B2AB-454C-B45D-4860B539EEBD}"/>
              </a:ext>
            </a:extLst>
          </p:cNvPr>
          <p:cNvSpPr/>
          <p:nvPr/>
        </p:nvSpPr>
        <p:spPr>
          <a:xfrm>
            <a:off x="8135176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 cap="smal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MISUSE</a:t>
            </a:r>
            <a:endParaRPr sz="1000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630;p4">
            <a:extLst>
              <a:ext uri="{FF2B5EF4-FFF2-40B4-BE49-F238E27FC236}">
                <a16:creationId xmlns:a16="http://schemas.microsoft.com/office/drawing/2014/main" id="{B3316329-28A2-4866-A940-64A5A0521854}"/>
              </a:ext>
            </a:extLst>
          </p:cNvPr>
          <p:cNvSpPr/>
          <p:nvPr/>
        </p:nvSpPr>
        <p:spPr>
          <a:xfrm>
            <a:off x="8135176" y="1563624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0" name="Google Shape;631;p4">
            <a:extLst>
              <a:ext uri="{FF2B5EF4-FFF2-40B4-BE49-F238E27FC236}">
                <a16:creationId xmlns:a16="http://schemas.microsoft.com/office/drawing/2014/main" id="{06D58E35-907C-43C4-82FF-D806500127BD}"/>
              </a:ext>
            </a:extLst>
          </p:cNvPr>
          <p:cNvSpPr/>
          <p:nvPr/>
        </p:nvSpPr>
        <p:spPr>
          <a:xfrm>
            <a:off x="8208328" y="1563624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RADE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632;p4">
            <a:extLst>
              <a:ext uri="{FF2B5EF4-FFF2-40B4-BE49-F238E27FC236}">
                <a16:creationId xmlns:a16="http://schemas.microsoft.com/office/drawing/2014/main" id="{869E1DCB-4C97-4CC7-85CA-DABED75468DA}"/>
              </a:ext>
            </a:extLst>
          </p:cNvPr>
          <p:cNvSpPr/>
          <p:nvPr/>
        </p:nvSpPr>
        <p:spPr>
          <a:xfrm>
            <a:off x="8135176" y="2130552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2" name="Google Shape;633;p4">
            <a:extLst>
              <a:ext uri="{FF2B5EF4-FFF2-40B4-BE49-F238E27FC236}">
                <a16:creationId xmlns:a16="http://schemas.microsoft.com/office/drawing/2014/main" id="{ECF44598-92BB-40ED-8EA3-5F0AEFFAB877}"/>
              </a:ext>
            </a:extLst>
          </p:cNvPr>
          <p:cNvSpPr/>
          <p:nvPr/>
        </p:nvSpPr>
        <p:spPr>
          <a:xfrm>
            <a:off x="8208328" y="2130552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Tool Misuse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Confused Deputy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634;p4">
            <a:extLst>
              <a:ext uri="{FF2B5EF4-FFF2-40B4-BE49-F238E27FC236}">
                <a16:creationId xmlns:a16="http://schemas.microsoft.com/office/drawing/2014/main" id="{6B6F5D6E-ED79-4C64-A9E0-569AE80D4EC2}"/>
              </a:ext>
            </a:extLst>
          </p:cNvPr>
          <p:cNvSpPr/>
          <p:nvPr/>
        </p:nvSpPr>
        <p:spPr>
          <a:xfrm>
            <a:off x="8135176" y="2697480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4" name="Google Shape;635;p4">
            <a:extLst>
              <a:ext uri="{FF2B5EF4-FFF2-40B4-BE49-F238E27FC236}">
                <a16:creationId xmlns:a16="http://schemas.microsoft.com/office/drawing/2014/main" id="{1DB80B72-F581-4FAE-AF3D-016C88B02EAE}"/>
              </a:ext>
            </a:extLst>
          </p:cNvPr>
          <p:cNvSpPr/>
          <p:nvPr/>
        </p:nvSpPr>
        <p:spPr>
          <a:xfrm>
            <a:off x="8208328" y="2697480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Toxic Content Gen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via Tool Proxy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636;p4">
            <a:extLst>
              <a:ext uri="{FF2B5EF4-FFF2-40B4-BE49-F238E27FC236}">
                <a16:creationId xmlns:a16="http://schemas.microsoft.com/office/drawing/2014/main" id="{4501AB24-D9F0-421B-AF26-98AB53DF0812}"/>
              </a:ext>
            </a:extLst>
          </p:cNvPr>
          <p:cNvSpPr/>
          <p:nvPr/>
        </p:nvSpPr>
        <p:spPr>
          <a:xfrm>
            <a:off x="8135176" y="3264408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6" name="Google Shape;637;p4">
            <a:extLst>
              <a:ext uri="{FF2B5EF4-FFF2-40B4-BE49-F238E27FC236}">
                <a16:creationId xmlns:a16="http://schemas.microsoft.com/office/drawing/2014/main" id="{55D0E1B1-6F83-429B-AD69-DBB4352952FC}"/>
              </a:ext>
            </a:extLst>
          </p:cNvPr>
          <p:cNvSpPr/>
          <p:nvPr/>
        </p:nvSpPr>
        <p:spPr>
          <a:xfrm>
            <a:off x="8208328" y="3264408"/>
            <a:ext cx="175564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Output-Based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Downstream Injection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638;p4">
            <a:extLst>
              <a:ext uri="{FF2B5EF4-FFF2-40B4-BE49-F238E27FC236}">
                <a16:creationId xmlns:a16="http://schemas.microsoft.com/office/drawing/2014/main" id="{4A9F345C-14F2-4A0C-B727-A5D50140C3EE}"/>
              </a:ext>
            </a:extLst>
          </p:cNvPr>
          <p:cNvSpPr/>
          <p:nvPr/>
        </p:nvSpPr>
        <p:spPr>
          <a:xfrm>
            <a:off x="10082848" y="1143000"/>
            <a:ext cx="1901952" cy="38404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8" name="Google Shape;639;p4">
            <a:extLst>
              <a:ext uri="{FF2B5EF4-FFF2-40B4-BE49-F238E27FC236}">
                <a16:creationId xmlns:a16="http://schemas.microsoft.com/office/drawing/2014/main" id="{D3460ABD-A72B-4F8B-88E1-E2FA47EAE96F}"/>
              </a:ext>
            </a:extLst>
          </p:cNvPr>
          <p:cNvSpPr/>
          <p:nvPr/>
        </p:nvSpPr>
        <p:spPr>
          <a:xfrm>
            <a:off x="10082848" y="1143000"/>
            <a:ext cx="19019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FFFFFF"/>
              </a:buClr>
              <a:buSzPts val="1000"/>
            </a:pPr>
            <a:r>
              <a:rPr lang="en-US" sz="1000" b="1" cap="small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AGENT-MEDIATED</a:t>
            </a:r>
            <a:endParaRPr sz="1000" cap="small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640;p4">
            <a:extLst>
              <a:ext uri="{FF2B5EF4-FFF2-40B4-BE49-F238E27FC236}">
                <a16:creationId xmlns:a16="http://schemas.microsoft.com/office/drawing/2014/main" id="{33A6DB3A-F2A5-4A40-AC3C-BF0C26EDC02C}"/>
              </a:ext>
            </a:extLst>
          </p:cNvPr>
          <p:cNvSpPr/>
          <p:nvPr/>
        </p:nvSpPr>
        <p:spPr>
          <a:xfrm>
            <a:off x="10082848" y="1600152"/>
            <a:ext cx="1902000" cy="530400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0" name="Google Shape;641;p4">
            <a:extLst>
              <a:ext uri="{FF2B5EF4-FFF2-40B4-BE49-F238E27FC236}">
                <a16:creationId xmlns:a16="http://schemas.microsoft.com/office/drawing/2014/main" id="{C45589CB-D837-4113-B5A4-44D3ED713EA9}"/>
              </a:ext>
            </a:extLst>
          </p:cNvPr>
          <p:cNvSpPr/>
          <p:nvPr/>
        </p:nvSpPr>
        <p:spPr>
          <a:xfrm>
            <a:off x="10156000" y="1600152"/>
            <a:ext cx="17556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Alignment Failure /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333333"/>
              </a:buClr>
              <a:buSzPts val="900"/>
            </a:pPr>
            <a:r>
              <a:rPr lang="en-US" sz="9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Goal Misalignment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577;p4">
            <a:extLst>
              <a:ext uri="{FF2B5EF4-FFF2-40B4-BE49-F238E27FC236}">
                <a16:creationId xmlns:a16="http://schemas.microsoft.com/office/drawing/2014/main" id="{597F0F26-1F2F-4F6A-B1F7-1FD4304E5A2A}"/>
              </a:ext>
            </a:extLst>
          </p:cNvPr>
          <p:cNvSpPr/>
          <p:nvPr/>
        </p:nvSpPr>
        <p:spPr>
          <a:xfrm>
            <a:off x="317056" y="3831336"/>
            <a:ext cx="1901952" cy="530352"/>
          </a:xfrm>
          <a:prstGeom prst="rect">
            <a:avLst/>
          </a:prstGeom>
          <a:solidFill>
            <a:srgbClr val="FFF8F0"/>
          </a:solidFill>
          <a:ln w="9525" cap="flat" cmpd="sng">
            <a:solidFill>
              <a:srgbClr val="E8E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CC6600"/>
              </a:buClr>
              <a:buSzPts val="900"/>
            </a:pPr>
            <a:r>
              <a:rPr lang="en-US" sz="900" b="1" dirty="0">
                <a:ea typeface="Arial"/>
                <a:cs typeface="Arial"/>
                <a:sym typeface="Arial"/>
              </a:rPr>
              <a:t>SQL Injection</a:t>
            </a:r>
            <a:endParaRPr lang="en-US" sz="9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03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6A97-9C8C-4E51-9B40-4D455BBD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5400" noProof="0" dirty="0"/>
            </a:br>
            <a:r>
              <a:rPr lang="en-US" sz="5400" noProof="0" dirty="0"/>
              <a:t>Research scope – Progress</a:t>
            </a:r>
            <a:r>
              <a:rPr lang="en-US" sz="4400" noProof="0" dirty="0"/>
              <a:t>	</a:t>
            </a:r>
            <a:endParaRPr lang="en-US" sz="54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25360-C912-4E4A-9B09-4090FA205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28612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7BFE-721C-4A18-8CF8-9E27D88C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MCPs, same underlying risks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7CED-3F68-49DC-92A1-4CDF494B3E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server ships its own catalog of tools with its own names — </a:t>
            </a:r>
            <a:r>
              <a:rPr lang="en-US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</a:t>
            </a: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query_db</a:t>
            </a: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send_email</a:t>
            </a: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run_shell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Underneath, they all perform the same handful of operations: </a:t>
            </a: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modify, delete, execute, configure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consistent way to tell a user which tool calls in which contexts can cause real damage.</a:t>
            </a:r>
          </a:p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users trigger critical operations by accident, and reviewers can't audit at scale.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A93EF-13AE-4C95-B086-398BA57E3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E6DEAED-FCDB-4289-BBC7-82D643C27902}"/>
              </a:ext>
            </a:extLst>
          </p:cNvPr>
          <p:cNvGrpSpPr/>
          <p:nvPr/>
        </p:nvGrpSpPr>
        <p:grpSpPr>
          <a:xfrm>
            <a:off x="554361" y="3769360"/>
            <a:ext cx="3814439" cy="1280160"/>
            <a:chOff x="548640" y="4937760"/>
            <a:chExt cx="5486400" cy="1280160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C4345F14-7903-4360-AE44-6D9D26ABD3CE}"/>
                </a:ext>
              </a:extLst>
            </p:cNvPr>
            <p:cNvSpPr/>
            <p:nvPr/>
          </p:nvSpPr>
          <p:spPr>
            <a:xfrm>
              <a:off x="548640" y="4937760"/>
              <a:ext cx="5486400" cy="128016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0891B2"/>
              </a:solidFill>
              <a:prstDash val="solid"/>
            </a:ln>
          </p:spPr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A178D7F8-4956-44CF-AE52-13B433ABDD0D}"/>
                </a:ext>
              </a:extLst>
            </p:cNvPr>
            <p:cNvSpPr/>
            <p:nvPr/>
          </p:nvSpPr>
          <p:spPr>
            <a:xfrm>
              <a:off x="777240" y="5029200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</a:t>
              </a:r>
              <a:endParaRPr lang="en-US" sz="1100" dirty="0"/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23F394A8-FA8F-479B-B4D6-E0F4B32AA3B8}"/>
                </a:ext>
              </a:extLst>
            </p:cNvPr>
            <p:cNvSpPr/>
            <p:nvPr/>
          </p:nvSpPr>
          <p:spPr>
            <a:xfrm>
              <a:off x="777240" y="5303520"/>
              <a:ext cx="51206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Derive a generalizable, automatable pattern that ranks any MCP tool call by its potential for accidental high-impact misuse.</a:t>
              </a:r>
              <a:endParaRPr lang="en-US" sz="1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F5B7CC-BC8F-47EE-8D32-C331B6B871A2}"/>
              </a:ext>
            </a:extLst>
          </p:cNvPr>
          <p:cNvGrpSpPr/>
          <p:nvPr/>
        </p:nvGrpSpPr>
        <p:grpSpPr>
          <a:xfrm>
            <a:off x="6096000" y="3521117"/>
            <a:ext cx="5120640" cy="3062563"/>
            <a:chOff x="6583680" y="1738037"/>
            <a:chExt cx="5120640" cy="3062563"/>
          </a:xfrm>
        </p:grpSpPr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2C24353D-34EA-4318-B70A-CE53FA371116}"/>
                </a:ext>
              </a:extLst>
            </p:cNvPr>
            <p:cNvSpPr/>
            <p:nvPr/>
          </p:nvSpPr>
          <p:spPr>
            <a:xfrm>
              <a:off x="6675120" y="1738037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SAME OPERATION, DIFFERENT NAMES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Shape 10">
              <a:extLst>
                <a:ext uri="{FF2B5EF4-FFF2-40B4-BE49-F238E27FC236}">
                  <a16:creationId xmlns:a16="http://schemas.microsoft.com/office/drawing/2014/main" id="{05B251E9-4AC0-4876-B3E5-3BF8D9CF59D5}"/>
                </a:ext>
              </a:extLst>
            </p:cNvPr>
            <p:cNvSpPr/>
            <p:nvPr/>
          </p:nvSpPr>
          <p:spPr>
            <a:xfrm>
              <a:off x="6583680" y="2011680"/>
              <a:ext cx="5029200" cy="86868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E03DC16A-9E08-4D2B-A6FE-067F7C5C03B4}"/>
                </a:ext>
              </a:extLst>
            </p:cNvPr>
            <p:cNvSpPr/>
            <p:nvPr/>
          </p:nvSpPr>
          <p:spPr>
            <a:xfrm>
              <a:off x="6812280" y="208483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2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Filesystem MCP</a:t>
              </a:r>
              <a:endParaRPr lang="en-US" sz="1300" dirty="0"/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C1A5EDAD-BA11-4370-A80E-0933B9FE3E18}"/>
                </a:ext>
              </a:extLst>
            </p:cNvPr>
            <p:cNvSpPr/>
            <p:nvPr/>
          </p:nvSpPr>
          <p:spPr>
            <a:xfrm>
              <a:off x="6812280" y="242316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write_file</a:t>
              </a:r>
              <a:endParaRPr lang="en-US" sz="13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A93F4819-0751-43D1-AC6D-996266C76C0F}"/>
                </a:ext>
              </a:extLst>
            </p:cNvPr>
            <p:cNvSpPr/>
            <p:nvPr/>
          </p:nvSpPr>
          <p:spPr>
            <a:xfrm>
              <a:off x="9326880" y="224028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800" dirty="0"/>
            </a:p>
          </p:txBody>
        </p:sp>
        <p:sp>
          <p:nvSpPr>
            <p:cNvPr id="32" name="Shape 15">
              <a:extLst>
                <a:ext uri="{FF2B5EF4-FFF2-40B4-BE49-F238E27FC236}">
                  <a16:creationId xmlns:a16="http://schemas.microsoft.com/office/drawing/2014/main" id="{DA10292A-F986-4CAD-BA4A-5FD18EED8313}"/>
                </a:ext>
              </a:extLst>
            </p:cNvPr>
            <p:cNvSpPr/>
            <p:nvPr/>
          </p:nvSpPr>
          <p:spPr>
            <a:xfrm>
              <a:off x="9692640" y="2267712"/>
              <a:ext cx="1828800" cy="365760"/>
            </a:xfrm>
            <a:prstGeom prst="rect">
              <a:avLst/>
            </a:prstGeom>
            <a:solidFill>
              <a:srgbClr val="FFF1E0"/>
            </a:solidFill>
            <a:ln/>
          </p:spPr>
        </p:sp>
        <p:sp>
          <p:nvSpPr>
            <p:cNvPr id="33" name="Text 16">
              <a:extLst>
                <a:ext uri="{FF2B5EF4-FFF2-40B4-BE49-F238E27FC236}">
                  <a16:creationId xmlns:a16="http://schemas.microsoft.com/office/drawing/2014/main" id="{892CA2EF-9E5F-4EAC-A83B-6F34C6FE91F9}"/>
                </a:ext>
              </a:extLst>
            </p:cNvPr>
            <p:cNvSpPr/>
            <p:nvPr/>
          </p:nvSpPr>
          <p:spPr>
            <a:xfrm>
              <a:off x="9692640" y="2267712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 / Create</a:t>
              </a:r>
              <a:endParaRPr lang="en-US" sz="1200" dirty="0"/>
            </a:p>
          </p:txBody>
        </p:sp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5495C68B-47B5-41EF-B50A-BFFCE572373C}"/>
                </a:ext>
              </a:extLst>
            </p:cNvPr>
            <p:cNvSpPr/>
            <p:nvPr/>
          </p:nvSpPr>
          <p:spPr>
            <a:xfrm>
              <a:off x="6583680" y="2971800"/>
              <a:ext cx="5029200" cy="86868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B0595812-180F-45B6-A995-7268FE3B9B99}"/>
                </a:ext>
              </a:extLst>
            </p:cNvPr>
            <p:cNvSpPr/>
            <p:nvPr/>
          </p:nvSpPr>
          <p:spPr>
            <a:xfrm>
              <a:off x="6812280" y="304495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2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 MCP</a:t>
              </a:r>
              <a:endParaRPr lang="en-US" sz="1300" dirty="0"/>
            </a:p>
          </p:txBody>
        </p:sp>
        <p:sp>
          <p:nvSpPr>
            <p:cNvPr id="37" name="Text 20">
              <a:extLst>
                <a:ext uri="{FF2B5EF4-FFF2-40B4-BE49-F238E27FC236}">
                  <a16:creationId xmlns:a16="http://schemas.microsoft.com/office/drawing/2014/main" id="{44610343-A81D-4177-81FF-2F66B2BD9CE4}"/>
                </a:ext>
              </a:extLst>
            </p:cNvPr>
            <p:cNvSpPr/>
            <p:nvPr/>
          </p:nvSpPr>
          <p:spPr>
            <a:xfrm>
              <a:off x="6812280" y="338328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execute_sql</a:t>
              </a:r>
              <a:endParaRPr lang="en-US" sz="1300" dirty="0"/>
            </a:p>
          </p:txBody>
        </p:sp>
        <p:sp>
          <p:nvSpPr>
            <p:cNvPr id="38" name="Text 21">
              <a:extLst>
                <a:ext uri="{FF2B5EF4-FFF2-40B4-BE49-F238E27FC236}">
                  <a16:creationId xmlns:a16="http://schemas.microsoft.com/office/drawing/2014/main" id="{284CA4D9-A4E4-4BA4-ACD0-DFBBB7023396}"/>
                </a:ext>
              </a:extLst>
            </p:cNvPr>
            <p:cNvSpPr/>
            <p:nvPr/>
          </p:nvSpPr>
          <p:spPr>
            <a:xfrm>
              <a:off x="9326880" y="320040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800" dirty="0"/>
            </a:p>
          </p:txBody>
        </p:sp>
        <p:sp>
          <p:nvSpPr>
            <p:cNvPr id="39" name="Shape 22">
              <a:extLst>
                <a:ext uri="{FF2B5EF4-FFF2-40B4-BE49-F238E27FC236}">
                  <a16:creationId xmlns:a16="http://schemas.microsoft.com/office/drawing/2014/main" id="{1D267927-2CBA-4FD6-94E5-2407D4AA682B}"/>
                </a:ext>
              </a:extLst>
            </p:cNvPr>
            <p:cNvSpPr/>
            <p:nvPr/>
          </p:nvSpPr>
          <p:spPr>
            <a:xfrm>
              <a:off x="9692640" y="3227832"/>
              <a:ext cx="1828800" cy="365760"/>
            </a:xfrm>
            <a:prstGeom prst="rect">
              <a:avLst/>
            </a:prstGeom>
            <a:solidFill>
              <a:srgbClr val="FFF1E0"/>
            </a:solidFill>
            <a:ln/>
          </p:spPr>
        </p:sp>
        <p:sp>
          <p:nvSpPr>
            <p:cNvPr id="40" name="Text 23">
              <a:extLst>
                <a:ext uri="{FF2B5EF4-FFF2-40B4-BE49-F238E27FC236}">
                  <a16:creationId xmlns:a16="http://schemas.microsoft.com/office/drawing/2014/main" id="{D958AA5E-87B7-4057-9E1D-91E453101486}"/>
                </a:ext>
              </a:extLst>
            </p:cNvPr>
            <p:cNvSpPr/>
            <p:nvPr/>
          </p:nvSpPr>
          <p:spPr>
            <a:xfrm>
              <a:off x="9692640" y="3227832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Execute</a:t>
              </a:r>
              <a:endParaRPr lang="en-US" sz="1200" dirty="0"/>
            </a:p>
          </p:txBody>
        </p:sp>
        <p:sp>
          <p:nvSpPr>
            <p:cNvPr id="41" name="Shape 24">
              <a:extLst>
                <a:ext uri="{FF2B5EF4-FFF2-40B4-BE49-F238E27FC236}">
                  <a16:creationId xmlns:a16="http://schemas.microsoft.com/office/drawing/2014/main" id="{A0E8D6BE-343E-4661-BAFE-2F13425E9B8C}"/>
                </a:ext>
              </a:extLst>
            </p:cNvPr>
            <p:cNvSpPr/>
            <p:nvPr/>
          </p:nvSpPr>
          <p:spPr>
            <a:xfrm>
              <a:off x="6583680" y="3931920"/>
              <a:ext cx="5029200" cy="868680"/>
            </a:xfrm>
            <a:prstGeom prst="rect">
              <a:avLst/>
            </a:prstGeom>
            <a:solidFill>
              <a:srgbClr val="F8FAFC"/>
            </a:solidFill>
            <a:ln/>
          </p:spPr>
        </p:sp>
        <p:sp>
          <p:nvSpPr>
            <p:cNvPr id="43" name="Text 26">
              <a:extLst>
                <a:ext uri="{FF2B5EF4-FFF2-40B4-BE49-F238E27FC236}">
                  <a16:creationId xmlns:a16="http://schemas.microsoft.com/office/drawing/2014/main" id="{1565CD9B-ADCE-48C5-843F-5BDF7AFCD15B}"/>
                </a:ext>
              </a:extLst>
            </p:cNvPr>
            <p:cNvSpPr/>
            <p:nvPr/>
          </p:nvSpPr>
          <p:spPr>
            <a:xfrm>
              <a:off x="6812280" y="4005072"/>
              <a:ext cx="2377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2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 MCP</a:t>
              </a:r>
              <a:endParaRPr lang="en-US" sz="1300" dirty="0"/>
            </a:p>
          </p:txBody>
        </p:sp>
        <p:sp>
          <p:nvSpPr>
            <p:cNvPr id="44" name="Text 27">
              <a:extLst>
                <a:ext uri="{FF2B5EF4-FFF2-40B4-BE49-F238E27FC236}">
                  <a16:creationId xmlns:a16="http://schemas.microsoft.com/office/drawing/2014/main" id="{1E4E50C0-2EE6-4603-B796-C6FE3F966CA4}"/>
                </a:ext>
              </a:extLst>
            </p:cNvPr>
            <p:cNvSpPr/>
            <p:nvPr/>
          </p:nvSpPr>
          <p:spPr>
            <a:xfrm>
              <a:off x="6812280" y="4343400"/>
              <a:ext cx="2377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send_message</a:t>
              </a:r>
              <a:endParaRPr lang="en-US" sz="1300" dirty="0"/>
            </a:p>
          </p:txBody>
        </p:sp>
        <p:sp>
          <p:nvSpPr>
            <p:cNvPr id="45" name="Text 28">
              <a:extLst>
                <a:ext uri="{FF2B5EF4-FFF2-40B4-BE49-F238E27FC236}">
                  <a16:creationId xmlns:a16="http://schemas.microsoft.com/office/drawing/2014/main" id="{9358237B-3E0A-442C-A605-B2BCC882B339}"/>
                </a:ext>
              </a:extLst>
            </p:cNvPr>
            <p:cNvSpPr/>
            <p:nvPr/>
          </p:nvSpPr>
          <p:spPr>
            <a:xfrm>
              <a:off x="9326880" y="416052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800" dirty="0"/>
            </a:p>
          </p:txBody>
        </p:sp>
        <p:sp>
          <p:nvSpPr>
            <p:cNvPr id="46" name="Shape 29">
              <a:extLst>
                <a:ext uri="{FF2B5EF4-FFF2-40B4-BE49-F238E27FC236}">
                  <a16:creationId xmlns:a16="http://schemas.microsoft.com/office/drawing/2014/main" id="{22441239-98E1-4B6F-A31D-23801974DE59}"/>
                </a:ext>
              </a:extLst>
            </p:cNvPr>
            <p:cNvSpPr/>
            <p:nvPr/>
          </p:nvSpPr>
          <p:spPr>
            <a:xfrm>
              <a:off x="9692640" y="4187952"/>
              <a:ext cx="1828800" cy="365760"/>
            </a:xfrm>
            <a:prstGeom prst="rect">
              <a:avLst/>
            </a:prstGeom>
            <a:solidFill>
              <a:srgbClr val="FFF1E0"/>
            </a:solidFill>
            <a:ln/>
          </p:spPr>
        </p:sp>
        <p:sp>
          <p:nvSpPr>
            <p:cNvPr id="47" name="Text 30">
              <a:extLst>
                <a:ext uri="{FF2B5EF4-FFF2-40B4-BE49-F238E27FC236}">
                  <a16:creationId xmlns:a16="http://schemas.microsoft.com/office/drawing/2014/main" id="{E01BF9EA-9173-4855-806B-D93C9962B417}"/>
                </a:ext>
              </a:extLst>
            </p:cNvPr>
            <p:cNvSpPr/>
            <p:nvPr/>
          </p:nvSpPr>
          <p:spPr>
            <a:xfrm>
              <a:off x="9692640" y="4187952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57C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Write / Send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364729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893"/>
            <a:ext cx="12188825" cy="853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US" sz="3199" dirty="0"/>
          </a:p>
        </p:txBody>
      </p:sp>
      <p:sp>
        <p:nvSpPr>
          <p:cNvPr id="3" name="Text 1"/>
          <p:cNvSpPr/>
          <p:nvPr/>
        </p:nvSpPr>
        <p:spPr>
          <a:xfrm>
            <a:off x="489142" y="893"/>
            <a:ext cx="11213719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666" dirty="0"/>
          </a:p>
        </p:txBody>
      </p:sp>
      <p:sp>
        <p:nvSpPr>
          <p:cNvPr id="5" name="Shape 3"/>
          <p:cNvSpPr/>
          <p:nvPr/>
        </p:nvSpPr>
        <p:spPr>
          <a:xfrm>
            <a:off x="367252" y="1097888"/>
            <a:ext cx="3656648" cy="5119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67252" y="1097888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048794" y="1097888"/>
            <a:ext cx="975106" cy="511931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048794" y="1097888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3518" y="1707329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3518" y="1926728"/>
            <a:ext cx="336411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query · get · list · search · view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3518" y="2463037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Lowest blast radius. Still exposes PII at scale.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67676" y="1097888"/>
            <a:ext cx="3656648" cy="51193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4267676" y="1097888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Create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218" y="1097888"/>
            <a:ext cx="975106" cy="511931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218" y="1097888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3942" y="1707329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13942" y="1926728"/>
            <a:ext cx="336411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insert · create · send · upload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13942" y="2463037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introduce bad data, spam, record flooding.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168100" y="1097888"/>
            <a:ext cx="3656648" cy="511931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168100" y="1097888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Modify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849642" y="1097888"/>
            <a:ext cx="975106" cy="511931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6" name="Text 24"/>
          <p:cNvSpPr/>
          <p:nvPr/>
        </p:nvSpPr>
        <p:spPr>
          <a:xfrm>
            <a:off x="10849642" y="1097888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14366" y="1707329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14366" y="1926728"/>
            <a:ext cx="336411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update · patch · modify · set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14366" y="2463037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Harder to detect — looks like normal operation.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67252" y="3779430"/>
            <a:ext cx="3656648" cy="511931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7252" y="3779430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048794" y="3779430"/>
            <a:ext cx="975106" cy="511931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35" name="Text 33"/>
          <p:cNvSpPr/>
          <p:nvPr/>
        </p:nvSpPr>
        <p:spPr>
          <a:xfrm>
            <a:off x="3048794" y="3779430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High–Critical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3518" y="4388870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13518" y="4608270"/>
            <a:ext cx="336411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delete · remove · purge · flush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13518" y="5144578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irreversibility. Regulatory exposure.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267676" y="3779430"/>
            <a:ext cx="3656648" cy="511931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267676" y="3779430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6949218" y="3779430"/>
            <a:ext cx="975106" cy="511931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218" y="3779430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13942" y="4388870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413942" y="4608270"/>
            <a:ext cx="3364116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 · execute · trigger · call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413942" y="5144578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risk. Highest injection target.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8168100" y="3779430"/>
            <a:ext cx="3656648" cy="5119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8168100" y="3779430"/>
            <a:ext cx="2681542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Config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0849642" y="3779430"/>
            <a:ext cx="975106" cy="511931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53" name="Text 51"/>
          <p:cNvSpPr/>
          <p:nvPr/>
        </p:nvSpPr>
        <p:spPr>
          <a:xfrm>
            <a:off x="10849642" y="3779430"/>
            <a:ext cx="975106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14366" y="4388870"/>
            <a:ext cx="336411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314366" y="4608270"/>
            <a:ext cx="363227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manage · assign · rotate · migrate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8314366" y="5144578"/>
            <a:ext cx="3364116" cy="87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Superuser equivalent. Requires dual approval.</a:t>
            </a:r>
            <a:endParaRPr lang="en-US" sz="2000" dirty="0"/>
          </a:p>
        </p:txBody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CF233F2D-ACD8-4C2D-A8F7-9F2606BEA3AB}"/>
              </a:ext>
            </a:extLst>
          </p:cNvPr>
          <p:cNvSpPr/>
          <p:nvPr/>
        </p:nvSpPr>
        <p:spPr>
          <a:xfrm>
            <a:off x="469852" y="6159297"/>
            <a:ext cx="11579384" cy="51193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 for basis: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MCP Tool primitives — modelcontextprotocol.io/specification (Anthropic, Nov 2024)  ·  REST HTTP method semantics — RFC 7231 (IETF, 2014)  ·  Database CRUD conventions  ·  OWASP API Security Top 10 (2023) — owasp.org/API-Security</a:t>
            </a:r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9FBF56-299F-4404-83DC-9B87AC1D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MCP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 Operation Classes &amp; Potential Risks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F5E1-EC17-4525-AB37-5A8F2C74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want to do it?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F4C90A-B3AB-4FA4-A3F3-F8A089C003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10660" y="1184275"/>
            <a:ext cx="8770679" cy="4787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50013-00DB-4DC7-A942-870266B273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233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FEF8-E9D0-4034-8ED2-31447809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1A082-1280-44B1-B089-7ACD4390DB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31AEF-0704-4596-B76B-31BF0E5FC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E3152A-B6AE-48FA-9AEB-173124E98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32" r="58296"/>
          <a:stretch/>
        </p:blipFill>
        <p:spPr>
          <a:xfrm>
            <a:off x="298895" y="1308880"/>
            <a:ext cx="4701731" cy="5346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92949-A77E-4695-90D1-079362957E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20" t="15032" r="19516"/>
          <a:stretch/>
        </p:blipFill>
        <p:spPr>
          <a:xfrm>
            <a:off x="5000626" y="1308880"/>
            <a:ext cx="4381500" cy="53465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792E47-C9D3-4E04-B866-5D2C31C5B9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169" t="15032" r="-1"/>
          <a:stretch/>
        </p:blipFill>
        <p:spPr>
          <a:xfrm>
            <a:off x="9372601" y="1308880"/>
            <a:ext cx="2235834" cy="534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644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20329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/>
              <a:t>POC protocol</a:t>
            </a:r>
            <a:endParaRPr sz="22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584974"/>
            <a:ext cx="3039839" cy="402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Filesystem MCP</a:t>
            </a:r>
          </a:p>
          <a:p>
            <a:pPr algn="l">
              <a:spcBef>
                <a:spcPts val="6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MCP server that exposes a local directory tree, allowing an AI agent to read, write, and manipulate files on the host machine.</a:t>
            </a:r>
            <a:endPara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600"/>
              </a:spcBef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</a:p>
          <a:p>
            <a:pPr algn="l">
              <a:spcBef>
                <a:spcPts val="600"/>
              </a:spcBef>
            </a:pPr>
            <a:r>
              <a:rPr sz="1600" b="1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read_file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 the full content of any file </a:t>
            </a:r>
            <a:r>
              <a:rPr sz="1600" b="1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write_file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or overwrites a file with agent-supplied content.</a:t>
            </a:r>
          </a:p>
          <a:p>
            <a:pPr algn="l">
              <a:spcBef>
                <a:spcPts val="1400"/>
              </a:spcBef>
            </a:pPr>
            <a:r>
              <a:rPr sz="1600" b="1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move_file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Relocates a file to a new path</a:t>
            </a:r>
            <a:r>
              <a:rPr lang="en-US" sz="16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00" b="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73899" y="1584974"/>
            <a:ext cx="4107823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SQLite MCP</a:t>
            </a:r>
          </a:p>
          <a:p>
            <a:pPr algn="l">
              <a:spcBef>
                <a:spcPts val="6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MCP server wrapping a SQLite database, enabling an AI agent to query and modify structured data through SQL operations.</a:t>
            </a:r>
            <a:endPara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read_query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Executes SELECT statements — grants read access to any table.</a:t>
            </a: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write_query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Executes INSERT / UPDATE / DELETE — three blast radii under a single tool name.</a:t>
            </a: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list_tables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Returns all table names  full schema discovery with one call, the first step in any targeted data attack.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58582" y="1584974"/>
            <a:ext cx="357621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Slack MCP</a:t>
            </a:r>
          </a:p>
          <a:p>
            <a:pPr algn="l">
              <a:spcBef>
                <a:spcPts val="6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MCP server that connects an AI agent to a Slack workspace, enabling it to read messages, post content, and interact with channels.</a:t>
            </a:r>
            <a:endParaRPr lang="en-US"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600"/>
              </a:spcBef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post_message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Sends messages as the authenticated user</a:t>
            </a:r>
            <a:r>
              <a:rPr lang="en-US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get_channel_history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Retrieves full conversation history.</a:t>
            </a:r>
          </a:p>
          <a:p>
            <a:pPr algn="l">
              <a:spcBef>
                <a:spcPts val="1400"/>
              </a:spcBef>
            </a:pPr>
            <a:r>
              <a:rPr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list_channels</a:t>
            </a:r>
            <a:endParaRPr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200"/>
              </a:spcBef>
            </a:pPr>
            <a:r>
              <a:rPr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Enumerates all visible channels</a:t>
            </a:r>
            <a:r>
              <a:rPr lang="en-US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1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412A6-1B33-4B94-97B7-12B29083FCFA}"/>
              </a:ext>
            </a:extLst>
          </p:cNvPr>
          <p:cNvSpPr txBox="1"/>
          <p:nvPr/>
        </p:nvSpPr>
        <p:spPr>
          <a:xfrm>
            <a:off x="457200" y="920949"/>
            <a:ext cx="997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latin typeface="Arial" pitchFamily="34" charset="0"/>
                <a:cs typeface="Arial" pitchFamily="34" charset="0"/>
              </a:rPr>
              <a:t>We implemented 3 MCP servers as our testbed: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/>
              <a:t>CBG organization simulation for Filesystem MCP	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503920" cy="580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corp_filesystem/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b="1" dirty="0">
                <a:solidFill>
                  <a:srgbClr val="7A0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sensitive/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b="1" dirty="0">
                <a:solidFill>
                  <a:srgbClr val="7A0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contracts/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master_agreement.pdf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nda_template.docx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b="1" dirty="0">
                <a:solidFill>
                  <a:srgbClr val="7A0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financials/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budget_2026.xlsx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payslips_q1.csv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b="1" dirty="0">
                <a:solidFill>
                  <a:srgbClr val="7A0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security/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 </a:t>
            </a:r>
            <a:r>
              <a:rPr lang="en-US" sz="1300" dirty="0" err="1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private_key.pem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audit_log.txt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b="1" dirty="0">
                <a:solidFill>
                  <a:srgbClr val="7A0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</a:t>
            </a:r>
            <a:r>
              <a:rPr lang="en-US" sz="1300" b="1" dirty="0">
                <a:solidFill>
                  <a:schemeClr val="accent3">
                    <a:lumMod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source_code/</a:t>
            </a:r>
            <a:endParaRPr lang="en-US" sz="1300" dirty="0">
              <a:solidFill>
                <a:schemeClr val="accent3">
                  <a:lumMod val="25000"/>
                </a:schemeClr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💻  core.c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build.exe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b="1" dirty="0">
                <a:solidFill>
                  <a:srgbClr val="4A1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projects/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known_defects.csv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 db_schema.sql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onboarding/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📷  org_chart.png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policies.pdf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public/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📷  logo.png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whitepaper.pdf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300" b="1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📘  README.md</a:t>
            </a:r>
            <a:endParaRPr lang="en-US" sz="13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8512D9-7E4B-444A-8914-CAFEA2ABAE2D}"/>
              </a:ext>
            </a:extLst>
          </p:cNvPr>
          <p:cNvGrpSpPr/>
          <p:nvPr/>
        </p:nvGrpSpPr>
        <p:grpSpPr>
          <a:xfrm>
            <a:off x="4705773" y="1444752"/>
            <a:ext cx="2743200" cy="4690872"/>
            <a:chOff x="9509760" y="1828800"/>
            <a:chExt cx="2743200" cy="4690872"/>
          </a:xfrm>
        </p:grpSpPr>
        <p:sp>
          <p:nvSpPr>
            <p:cNvPr id="4" name="Text 2"/>
            <p:cNvSpPr/>
            <p:nvPr/>
          </p:nvSpPr>
          <p:spPr>
            <a:xfrm>
              <a:off x="9509760" y="182880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kern="0" spc="2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SENSITIVITY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9509760" y="2176272"/>
              <a:ext cx="201168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9509760" y="2468880"/>
              <a:ext cx="365760" cy="292608"/>
            </a:xfrm>
            <a:prstGeom prst="rect">
              <a:avLst/>
            </a:prstGeom>
            <a:solidFill>
              <a:srgbClr val="7A0E1F"/>
            </a:solidFill>
            <a:ln w="12700">
              <a:solidFill>
                <a:srgbClr val="7A0E1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0012680" y="242316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012680" y="276148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sensitive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9509760" y="3246120"/>
              <a:ext cx="365760" cy="292608"/>
            </a:xfrm>
            <a:prstGeom prst="rect">
              <a:avLst/>
            </a:prstGeom>
            <a:solidFill>
              <a:srgbClr val="4A1A4F"/>
            </a:solidFill>
            <a:ln w="12700">
              <a:solidFill>
                <a:srgbClr val="4A1A4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0012680" y="320040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012680" y="353872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projects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509760" y="4023360"/>
              <a:ext cx="365760" cy="292608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0012680" y="3977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Low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012680" y="431596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onboarding, public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0058400" y="5276088"/>
              <a:ext cx="502920" cy="146304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10058400" y="5404104"/>
              <a:ext cx="1417320" cy="731520"/>
            </a:xfrm>
            <a:prstGeom prst="roundRect">
              <a:avLst>
                <a:gd name="adj" fmla="val 6250"/>
              </a:avLst>
            </a:prstGeom>
            <a:solidFill>
              <a:srgbClr val="DDE0EE"/>
            </a:solidFill>
            <a:ln w="19050">
              <a:solidFill>
                <a:srgbClr val="1E2761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10058400" y="5404104"/>
              <a:ext cx="1417320" cy="7315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9921240" y="5038344"/>
              <a:ext cx="502920" cy="146304"/>
            </a:xfrm>
            <a:prstGeom prst="rect">
              <a:avLst/>
            </a:prstGeom>
            <a:solidFill>
              <a:srgbClr val="4A1A4F"/>
            </a:solidFill>
            <a:ln w="12700">
              <a:solidFill>
                <a:srgbClr val="4A1A4F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9921240" y="5166360"/>
              <a:ext cx="1417320" cy="731520"/>
            </a:xfrm>
            <a:prstGeom prst="roundRect">
              <a:avLst>
                <a:gd name="adj" fmla="val 6250"/>
              </a:avLst>
            </a:prstGeom>
            <a:solidFill>
              <a:srgbClr val="E8DDEC"/>
            </a:solidFill>
            <a:ln w="19050">
              <a:solidFill>
                <a:srgbClr val="4A1A4F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9921240" y="5166360"/>
              <a:ext cx="1417320" cy="73152"/>
            </a:xfrm>
            <a:prstGeom prst="rect">
              <a:avLst/>
            </a:prstGeom>
            <a:solidFill>
              <a:srgbClr val="4A1A4F"/>
            </a:solidFill>
            <a:ln w="12700">
              <a:solidFill>
                <a:srgbClr val="4A1A4F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9784080" y="4800600"/>
              <a:ext cx="502920" cy="146304"/>
            </a:xfrm>
            <a:prstGeom prst="rect">
              <a:avLst/>
            </a:prstGeom>
            <a:solidFill>
              <a:srgbClr val="7A0E1F"/>
            </a:solidFill>
            <a:ln w="12700">
              <a:solidFill>
                <a:srgbClr val="7A0E1F"/>
              </a:solidFill>
              <a:prstDash val="solid"/>
            </a:ln>
          </p:spPr>
        </p:sp>
        <p:sp>
          <p:nvSpPr>
            <p:cNvPr id="22" name="Shape 20"/>
            <p:cNvSpPr/>
            <p:nvPr/>
          </p:nvSpPr>
          <p:spPr>
            <a:xfrm>
              <a:off x="9784080" y="4928616"/>
              <a:ext cx="1417320" cy="731520"/>
            </a:xfrm>
            <a:prstGeom prst="roundRect">
              <a:avLst>
                <a:gd name="adj" fmla="val 6250"/>
              </a:avLst>
            </a:prstGeom>
            <a:solidFill>
              <a:srgbClr val="F0DADE"/>
            </a:solidFill>
            <a:ln w="19050">
              <a:solidFill>
                <a:srgbClr val="7A0E1F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9784080" y="4928616"/>
              <a:ext cx="1417320" cy="73152"/>
            </a:xfrm>
            <a:prstGeom prst="rect">
              <a:avLst/>
            </a:prstGeom>
            <a:solidFill>
              <a:srgbClr val="7A0E1F"/>
            </a:solidFill>
            <a:ln w="12700">
              <a:solidFill>
                <a:srgbClr val="7A0E1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9601200" y="6245352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Three exposure tiers in one tree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AC95-E3AF-491A-B62A-43027819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Tools, Files and Asset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91E368-348C-408A-B751-6E0B95716C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40344" y="1149329"/>
            <a:ext cx="5513283" cy="32631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7095B-0502-4D44-AD59-747AAC5D5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6129C-27E3-45C8-802C-38B6332C1E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37"/>
          <a:stretch/>
        </p:blipFill>
        <p:spPr>
          <a:xfrm>
            <a:off x="630562" y="1325659"/>
            <a:ext cx="2862018" cy="2451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C2C47D-49E2-4A2F-9B80-1E21A9C87512}"/>
              </a:ext>
            </a:extLst>
          </p:cNvPr>
          <p:cNvSpPr txBox="1"/>
          <p:nvPr/>
        </p:nvSpPr>
        <p:spPr>
          <a:xfrm>
            <a:off x="508522" y="3776924"/>
            <a:ext cx="5244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Table1: File categories ranked by CIA-impact severity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BC6A1-84E7-48C1-A2B2-7FDEB80D3073}"/>
              </a:ext>
            </a:extLst>
          </p:cNvPr>
          <p:cNvSpPr txBox="1"/>
          <p:nvPr/>
        </p:nvSpPr>
        <p:spPr>
          <a:xfrm>
            <a:off x="5433540" y="5984264"/>
            <a:ext cx="4470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Table 2: Filesystem MCP tools ranked by the impact of their atomic operation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763AD8-15DE-4D2B-AA63-4418AEBA3251}"/>
              </a:ext>
            </a:extLst>
          </p:cNvPr>
          <p:cNvSpPr txBox="1"/>
          <p:nvPr/>
        </p:nvSpPr>
        <p:spPr>
          <a:xfrm>
            <a:off x="6433376" y="4407912"/>
            <a:ext cx="572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Table 3: </a:t>
            </a:r>
            <a:r>
              <a:rPr lang="en-US" sz="1600" dirty="0"/>
              <a:t>File-type assets ranked by combined vulnerability density and potential MCP impact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62CC4-42B5-4C18-95AA-39106AA6C064}"/>
              </a:ext>
            </a:extLst>
          </p:cNvPr>
          <p:cNvSpPr/>
          <p:nvPr/>
        </p:nvSpPr>
        <p:spPr>
          <a:xfrm>
            <a:off x="630562" y="908715"/>
            <a:ext cx="1911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(Directory)</a:t>
            </a:r>
            <a:endParaRPr lang="en-US" dirty="0"/>
          </a:p>
        </p:txBody>
      </p:sp>
      <p:sp>
        <p:nvSpPr>
          <p:cNvPr id="15" name="Text 38">
            <a:extLst>
              <a:ext uri="{FF2B5EF4-FFF2-40B4-BE49-F238E27FC236}">
                <a16:creationId xmlns:a16="http://schemas.microsoft.com/office/drawing/2014/main" id="{2AA6C475-8A42-493B-A280-4E06AF3BDD96}"/>
              </a:ext>
            </a:extLst>
          </p:cNvPr>
          <p:cNvSpPr/>
          <p:nvPr/>
        </p:nvSpPr>
        <p:spPr>
          <a:xfrm>
            <a:off x="6540344" y="77334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(File Type)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6F9516-B472-48D1-A39C-FE0B2D583BA1}"/>
              </a:ext>
            </a:extLst>
          </p:cNvPr>
          <p:cNvSpPr/>
          <p:nvPr/>
        </p:nvSpPr>
        <p:spPr>
          <a:xfrm>
            <a:off x="467248" y="4229298"/>
            <a:ext cx="2237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(Tool Operation)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253282-0599-4857-965E-CC2624234E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4385"/>
          <a:stretch/>
        </p:blipFill>
        <p:spPr>
          <a:xfrm>
            <a:off x="189258" y="4625260"/>
            <a:ext cx="524428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2905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7804-7C8F-4093-89CD-ED859BE5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assessment with respect to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9D948F-1319-4C3A-83C5-CA8E4EC869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r="40044"/>
          <a:stretch/>
        </p:blipFill>
        <p:spPr>
          <a:xfrm>
            <a:off x="539800" y="1647646"/>
            <a:ext cx="10812562" cy="30935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1A4A9-62F0-4BF9-9C4F-73A15EF52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6393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356D-DDCD-45D0-A866-EB876601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Vision: From manual matrix to automated risk classifier for any MCP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AAD3-9F7C-4EB5-8441-C044737A07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a new MCP server is registered, we don't need to hand-rank its tools. Each tool can be classified automatically using its signature alone.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AC1E0-6F2F-4CD6-A13E-D197A9851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1C3596E-38FF-4F95-82F1-D61A72BCAA46}"/>
              </a:ext>
            </a:extLst>
          </p:cNvPr>
          <p:cNvSpPr/>
          <p:nvPr/>
        </p:nvSpPr>
        <p:spPr>
          <a:xfrm>
            <a:off x="548640" y="2377440"/>
            <a:ext cx="266319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2E254C8-1EC1-453B-B436-B4C8576C70B6}"/>
              </a:ext>
            </a:extLst>
          </p:cNvPr>
          <p:cNvSpPr/>
          <p:nvPr/>
        </p:nvSpPr>
        <p:spPr>
          <a:xfrm>
            <a:off x="548640" y="2377440"/>
            <a:ext cx="2663190" cy="7315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4A796AF-DD96-4D46-B97A-B83C87700334}"/>
              </a:ext>
            </a:extLst>
          </p:cNvPr>
          <p:cNvSpPr/>
          <p:nvPr/>
        </p:nvSpPr>
        <p:spPr>
          <a:xfrm>
            <a:off x="7315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67419A3-8AD5-4A70-85DF-FF0E80FC5107}"/>
              </a:ext>
            </a:extLst>
          </p:cNvPr>
          <p:cNvSpPr/>
          <p:nvPr/>
        </p:nvSpPr>
        <p:spPr>
          <a:xfrm>
            <a:off x="731520" y="3429000"/>
            <a:ext cx="2297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tool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73B2EFC-0FC9-479A-A3EA-DB6DB185553B}"/>
              </a:ext>
            </a:extLst>
          </p:cNvPr>
          <p:cNvSpPr/>
          <p:nvPr/>
        </p:nvSpPr>
        <p:spPr>
          <a:xfrm>
            <a:off x="731520" y="3886200"/>
            <a:ext cx="22974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Map tool name/schema to one of the 6 operation classes (read, write, modify, delete, execute, admin).</a:t>
            </a:r>
            <a:endParaRPr lang="en-US" sz="12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E52C7CA-CEB2-41D0-89F4-7EC585777DBC}"/>
              </a:ext>
            </a:extLst>
          </p:cNvPr>
          <p:cNvSpPr/>
          <p:nvPr/>
        </p:nvSpPr>
        <p:spPr>
          <a:xfrm>
            <a:off x="3211830" y="3291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F0715E94-A78B-4C14-96DC-C6EF1898BBDC}"/>
              </a:ext>
            </a:extLst>
          </p:cNvPr>
          <p:cNvSpPr/>
          <p:nvPr/>
        </p:nvSpPr>
        <p:spPr>
          <a:xfrm>
            <a:off x="3348990" y="2377440"/>
            <a:ext cx="266319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9E05DC19-26D7-4149-A2C8-B2F38ED95704}"/>
              </a:ext>
            </a:extLst>
          </p:cNvPr>
          <p:cNvSpPr/>
          <p:nvPr/>
        </p:nvSpPr>
        <p:spPr>
          <a:xfrm>
            <a:off x="3348990" y="2377440"/>
            <a:ext cx="266319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3A222E5-F936-4FBE-8A85-9130E03C72B2}"/>
              </a:ext>
            </a:extLst>
          </p:cNvPr>
          <p:cNvSpPr/>
          <p:nvPr/>
        </p:nvSpPr>
        <p:spPr>
          <a:xfrm>
            <a:off x="353187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CF661E4-BC05-4EF1-84FA-ACDF20E505E1}"/>
              </a:ext>
            </a:extLst>
          </p:cNvPr>
          <p:cNvSpPr/>
          <p:nvPr/>
        </p:nvSpPr>
        <p:spPr>
          <a:xfrm>
            <a:off x="3531870" y="3429000"/>
            <a:ext cx="2297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Score the target</a:t>
            </a:r>
            <a:endParaRPr lang="en-US" sz="15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C4806D8-5324-485D-8896-F3BD08F2195F}"/>
              </a:ext>
            </a:extLst>
          </p:cNvPr>
          <p:cNvSpPr/>
          <p:nvPr/>
        </p:nvSpPr>
        <p:spPr>
          <a:xfrm>
            <a:off x="3531870" y="3886200"/>
            <a:ext cx="22974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tool’s arguments. Identify directory and file type. </a:t>
            </a:r>
            <a:endParaRPr lang="en-US" sz="12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EC0174F3-0667-4DDC-9D44-6CDC0FA40387}"/>
              </a:ext>
            </a:extLst>
          </p:cNvPr>
          <p:cNvSpPr/>
          <p:nvPr/>
        </p:nvSpPr>
        <p:spPr>
          <a:xfrm>
            <a:off x="6012180" y="3291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4E35D85A-E354-4EDF-BBF8-4EDC32414AE1}"/>
              </a:ext>
            </a:extLst>
          </p:cNvPr>
          <p:cNvSpPr/>
          <p:nvPr/>
        </p:nvSpPr>
        <p:spPr>
          <a:xfrm>
            <a:off x="6149340" y="2377440"/>
            <a:ext cx="266319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C4B1F0CF-5361-45AF-B2D9-9E8C9F4DC777}"/>
              </a:ext>
            </a:extLst>
          </p:cNvPr>
          <p:cNvSpPr/>
          <p:nvPr/>
        </p:nvSpPr>
        <p:spPr>
          <a:xfrm>
            <a:off x="6149340" y="2377440"/>
            <a:ext cx="2663190" cy="73152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91BF46C-CAE9-4D4C-A987-38D6E9D0812D}"/>
              </a:ext>
            </a:extLst>
          </p:cNvPr>
          <p:cNvSpPr/>
          <p:nvPr/>
        </p:nvSpPr>
        <p:spPr>
          <a:xfrm>
            <a:off x="63322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7EFC716-9129-4D02-8876-7B36BECD0E10}"/>
              </a:ext>
            </a:extLst>
          </p:cNvPr>
          <p:cNvSpPr/>
          <p:nvPr/>
        </p:nvSpPr>
        <p:spPr>
          <a:xfrm>
            <a:off x="6332220" y="3429000"/>
            <a:ext cx="2297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dimensions</a:t>
            </a:r>
            <a:endParaRPr lang="en-US" sz="15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D9B5976-0930-4DFD-B0AE-56C033160C92}"/>
              </a:ext>
            </a:extLst>
          </p:cNvPr>
          <p:cNvSpPr/>
          <p:nvPr/>
        </p:nvSpPr>
        <p:spPr>
          <a:xfrm>
            <a:off x="6332220" y="3886200"/>
            <a:ext cx="22974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combination matrix:  max(class_risk, dir_risk, type_risk) with bumps for known dangerous pairs.</a:t>
            </a:r>
            <a:endParaRPr lang="en-US" sz="12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BFAD7539-AFBA-4C91-82C5-1AB2CA33328E}"/>
              </a:ext>
            </a:extLst>
          </p:cNvPr>
          <p:cNvSpPr/>
          <p:nvPr/>
        </p:nvSpPr>
        <p:spPr>
          <a:xfrm>
            <a:off x="8812530" y="32918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8A5D4F7A-3326-409C-82E8-53AE70775389}"/>
              </a:ext>
            </a:extLst>
          </p:cNvPr>
          <p:cNvSpPr/>
          <p:nvPr/>
        </p:nvSpPr>
        <p:spPr>
          <a:xfrm>
            <a:off x="8949690" y="2377440"/>
            <a:ext cx="266319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FBF0E6F-925E-4C1C-8FCD-87547AEE5466}"/>
              </a:ext>
            </a:extLst>
          </p:cNvPr>
          <p:cNvSpPr/>
          <p:nvPr/>
        </p:nvSpPr>
        <p:spPr>
          <a:xfrm>
            <a:off x="8949690" y="2377440"/>
            <a:ext cx="266319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7045709-BFE9-407F-94FC-C030362F74E7}"/>
              </a:ext>
            </a:extLst>
          </p:cNvPr>
          <p:cNvSpPr/>
          <p:nvPr/>
        </p:nvSpPr>
        <p:spPr>
          <a:xfrm>
            <a:off x="913257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3CB371A9-B6DF-43EE-8797-E56057EE2850}"/>
              </a:ext>
            </a:extLst>
          </p:cNvPr>
          <p:cNvSpPr/>
          <p:nvPr/>
        </p:nvSpPr>
        <p:spPr>
          <a:xfrm>
            <a:off x="9132570" y="3429000"/>
            <a:ext cx="22974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Decide &amp; log</a:t>
            </a:r>
            <a:endParaRPr lang="en-US" sz="15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BCF2EBA0-0B73-431E-9DB0-2D7EABF7002E}"/>
              </a:ext>
            </a:extLst>
          </p:cNvPr>
          <p:cNvSpPr/>
          <p:nvPr/>
        </p:nvSpPr>
        <p:spPr>
          <a:xfrm>
            <a:off x="9132570" y="3886200"/>
            <a:ext cx="22974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Critical → block + require confirmation.  High → warn.  Medium → log.  Low → allow silently.</a:t>
            </a:r>
            <a:endParaRPr lang="en-US" sz="12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A7EF726A-E416-4D87-9F2F-0BB78F87E3A7}"/>
              </a:ext>
            </a:extLst>
          </p:cNvPr>
          <p:cNvSpPr/>
          <p:nvPr/>
        </p:nvSpPr>
        <p:spPr>
          <a:xfrm>
            <a:off x="8686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626E50E2-2515-412C-82B5-C5348E53014B}"/>
              </a:ext>
            </a:extLst>
          </p:cNvPr>
          <p:cNvSpPr/>
          <p:nvPr/>
        </p:nvSpPr>
        <p:spPr>
          <a:xfrm>
            <a:off x="868680" y="5440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User calls  write_file(path="/shared/proj/migrations.sql", content=…)</a:t>
            </a:r>
            <a:endParaRPr lang="en-US" sz="1400" dirty="0"/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D9B758F0-C514-486C-975B-CF42B43D0F4D}"/>
              </a:ext>
            </a:extLst>
          </p:cNvPr>
          <p:cNvSpPr/>
          <p:nvPr/>
        </p:nvSpPr>
        <p:spPr>
          <a:xfrm>
            <a:off x="868680" y="5732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Write/Create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directory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 (Med)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file type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.sql (High) 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combined: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·  require explicit user confirmation.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1271770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23298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46033</TotalTime>
  <Words>2143</Words>
  <Application>Microsoft Office PowerPoint</Application>
  <PresentationFormat>Widescreen</PresentationFormat>
  <Paragraphs>352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黑体</vt:lpstr>
      <vt:lpstr>Aptos</vt:lpstr>
      <vt:lpstr>Arial</vt:lpstr>
      <vt:lpstr>Arial Black</vt:lpstr>
      <vt:lpstr>Calibri</vt:lpstr>
      <vt:lpstr>Cascadia Code</vt:lpstr>
      <vt:lpstr>Consolas</vt:lpstr>
      <vt:lpstr>Swagger</vt:lpstr>
      <vt:lpstr>Lenovo Master</vt:lpstr>
      <vt:lpstr>Weekly status meeting on  MCP Security Score project</vt:lpstr>
      <vt:lpstr>PowerPoint Presentation</vt:lpstr>
      <vt:lpstr>Project Scope</vt:lpstr>
      <vt:lpstr>How MCP changes the Threat Model</vt:lpstr>
      <vt:lpstr>Illustrative MCP Use Case: Same MCP Server, Different Intent</vt:lpstr>
      <vt:lpstr>PowerPoint Presentation</vt:lpstr>
      <vt:lpstr> MCP Risks Taxonomies –  Main highlights from Literature review report </vt:lpstr>
      <vt:lpstr>MCIP: Protecting MCP Safety via Model Contextual Integrity Protocol</vt:lpstr>
      <vt:lpstr>MCIP: Protecting MCP Safety via Model Contextual Integrity Protocol</vt:lpstr>
      <vt:lpstr>MCP-DPT: A Defense-Placement Taxonomy and Coverage Analysis for Model Context Protocol Security </vt:lpstr>
      <vt:lpstr>MCP security taxonomies – Summary </vt:lpstr>
      <vt:lpstr>PowerPoint Presentation</vt:lpstr>
      <vt:lpstr> Research scope – Progress </vt:lpstr>
      <vt:lpstr>Different MCPs, same underlying risks </vt:lpstr>
      <vt:lpstr>MCP Tool Operation Classes &amp; Potential Risks </vt:lpstr>
      <vt:lpstr>Who we want to do it?</vt:lpstr>
      <vt:lpstr>Research Roadmap</vt:lpstr>
      <vt:lpstr>PowerPoint Presentation</vt:lpstr>
      <vt:lpstr>PowerPoint Presentation</vt:lpstr>
      <vt:lpstr>Ranking Tools, Files and Asset</vt:lpstr>
      <vt:lpstr>Misuse assessment with respect to tools</vt:lpstr>
      <vt:lpstr>Vision: From manual matrix to automated risk classifier for any MCP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LCIC Awareness Meeting</dc:title>
  <dc:creator>Song Luo6</dc:creator>
  <cp:lastModifiedBy>תומר עובדיה</cp:lastModifiedBy>
  <cp:revision>289</cp:revision>
  <dcterms:created xsi:type="dcterms:W3CDTF">2025-02-14T14:31:28Z</dcterms:created>
  <dcterms:modified xsi:type="dcterms:W3CDTF">2026-06-08T09:19:07Z</dcterms:modified>
</cp:coreProperties>
</file>