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73" r:id="rId35"/>
    <p:sldId id="374" r:id="rId36"/>
    <p:sldId id="375" r:id="rId37"/>
    <p:sldId id="376" r:id="rId38"/>
    <p:sldId id="377" r:id="rId39"/>
    <p:sldId id="378" r:id="rId40"/>
    <p:sldId id="379" r:id="rId41"/>
    <p:sldId id="380" r:id="rId42"/>
    <p:sldId id="381" r:id="rId43"/>
    <p:sldId id="382" r:id="rId44"/>
    <p:sldId id="383" r:id="rId45"/>
    <p:sldId id="384" r:id="rId46"/>
    <p:sldId id="385" r:id="rId4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C2B970-1E2C-D5A3-F16E-5F0DF457B275}" v="3" dt="2022-07-25T12:54:18.14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25" autoAdjust="0"/>
    <p:restoredTop sz="95238" autoAdjust="0"/>
  </p:normalViewPr>
  <p:slideViewPr>
    <p:cSldViewPr snapToGrid="0" snapToObjects="1">
      <p:cViewPr>
        <p:scale>
          <a:sx n="75" d="100"/>
          <a:sy n="75" d="100"/>
        </p:scale>
        <p:origin x="1190" y="499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5/10/relationships/revisionInfo" Target="revisionInfo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2/26/2025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2/26/2025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&#10;&#10;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&#10;&#10;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Securing MCP servers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Three demos: Filesystem MCP, Google Calendar MCP, SQLite MCP   |   Tomer   |   2026-05-05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What is MCP?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Context Protocol, in one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MCP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1600"/>
              <a:t>Goal:</a:t>
            </a:r>
            <a:r>
              <a:rPr sz="1600"/>
              <a:t>  </a:t>
            </a:r>
            <a:r>
              <a:rPr sz="1600"/>
              <a:t>let an AI agent talk to external tools and data.</a:t>
            </a:r>
          </a:p>
          <a:p>
            <a:pPr/>
            <a:r>
              <a:rPr b="1" sz="1600"/>
              <a:t>Player 1:</a:t>
            </a:r>
            <a:r>
              <a:rPr sz="1600"/>
              <a:t>  </a:t>
            </a:r>
            <a:r>
              <a:rPr sz="1600"/>
              <a:t>the agent (Claude or any client).</a:t>
            </a:r>
          </a:p>
          <a:p>
            <a:pPr/>
            <a:r>
              <a:rPr b="1" sz="1600"/>
              <a:t>Player 2:</a:t>
            </a:r>
            <a:r>
              <a:rPr sz="1600"/>
              <a:t>  </a:t>
            </a:r>
            <a:r>
              <a:rPr sz="1600"/>
              <a:t>the MCP server (filesystem, calendar, DB...).</a:t>
            </a:r>
          </a:p>
          <a:p>
            <a:pPr/>
            <a:r>
              <a:rPr b="1" sz="1600"/>
              <a:t>Threat model:</a:t>
            </a:r>
            <a:r>
              <a:rPr sz="1600"/>
              <a:t>  </a:t>
            </a:r>
            <a:r>
              <a:rPr sz="1600"/>
              <a:t>agent = threat. Server = protected asset.</a:t>
            </a:r>
          </a:p>
          <a:p>
            <a:pPr/>
            <a:r>
              <a:rPr b="1" sz="1600"/>
              <a:t>Our angle:</a:t>
            </a:r>
            <a:r>
              <a:rPr sz="1600"/>
              <a:t>  </a:t>
            </a:r>
            <a:r>
              <a:rPr sz="1600"/>
              <a:t>score every request before the server runs it.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13" y="2313693"/>
            <a:ext cx="4875211" cy="223061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Demo 1 — Filesystem MCP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demo/corp_filesystem  |  15 stub files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Inside demo/corp_filesystem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1400"/>
              <a:t>Tree:</a:t>
            </a:r>
            <a:r>
              <a:rPr sz="1400"/>
              <a:t>  </a:t>
            </a:r>
            <a:r>
              <a:rPr sz="1400"/>
              <a:t>four top-level folders + a README.</a:t>
            </a:r>
          </a:p>
          <a:p>
            <a:pPr/>
            <a:r>
              <a:rPr b="1" sz="1400"/>
              <a:t>sensitive/</a:t>
            </a:r>
            <a:r>
              <a:rPr sz="1400"/>
              <a:t>  </a:t>
            </a:r>
            <a:r>
              <a:rPr sz="1400"/>
              <a:t>contracts, financials, security keys.</a:t>
            </a:r>
          </a:p>
          <a:p>
            <a:pPr/>
            <a:r>
              <a:rPr b="1" sz="1400"/>
              <a:t>source_code/</a:t>
            </a:r>
            <a:r>
              <a:rPr sz="1400"/>
              <a:t>  </a:t>
            </a:r>
            <a:r>
              <a:rPr sz="1400"/>
              <a:t>stub C + .exe with placeholder API keys.</a:t>
            </a:r>
          </a:p>
          <a:p>
            <a:pPr/>
            <a:r>
              <a:rPr b="1" sz="1400"/>
              <a:t>projects/</a:t>
            </a:r>
            <a:r>
              <a:rPr sz="1400"/>
              <a:t>  </a:t>
            </a:r>
            <a:r>
              <a:rPr sz="1400"/>
              <a:t>internal SQL schema, defect lists.</a:t>
            </a:r>
          </a:p>
          <a:p>
            <a:pPr/>
            <a:r>
              <a:rPr b="1" sz="1400"/>
              <a:t>onboarding/, public/</a:t>
            </a:r>
            <a:r>
              <a:rPr sz="1400"/>
              <a:t>  </a:t>
            </a:r>
            <a:r>
              <a:rPr sz="1400"/>
              <a:t>policies, logo, whitepaper.</a:t>
            </a:r>
          </a:p>
          <a:p>
            <a:pPr/>
            <a:r>
              <a:rPr b="1" sz="1400"/>
              <a:t>Note:</a:t>
            </a:r>
            <a:r>
              <a:rPr sz="1400"/>
              <a:t>  </a:t>
            </a:r>
            <a:r>
              <a:rPr sz="1400"/>
              <a:t>everything is fake — stub bytes only.</a:t>
            </a:r>
          </a:p>
        </p:txBody>
      </p:sp>
      <p:pic>
        <p:nvPicPr>
          <p:cNvPr id="4" name="Picture 3" descr="fs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13" y="2153703"/>
            <a:ext cx="4875211" cy="25505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Heatmap — Filesystem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1400"/>
              <a:t>Axis X:</a:t>
            </a:r>
            <a:r>
              <a:rPr sz="1400"/>
              <a:t>  </a:t>
            </a:r>
            <a:r>
              <a:rPr sz="1400"/>
              <a:t>MCP tool (read_file, list_directory, …).</a:t>
            </a:r>
          </a:p>
          <a:p>
            <a:pPr/>
            <a:r>
              <a:rPr b="1" sz="1400"/>
              <a:t>Axis Y:</a:t>
            </a:r>
            <a:r>
              <a:rPr sz="1400"/>
              <a:t>  </a:t>
            </a:r>
            <a:r>
              <a:rPr sz="1400"/>
              <a:t>folder tier (sensitive → public).</a:t>
            </a:r>
          </a:p>
          <a:p>
            <a:pPr/>
            <a:r>
              <a:rPr b="1" sz="1400"/>
              <a:t>Cells:</a:t>
            </a:r>
            <a:r>
              <a:rPr sz="1400"/>
              <a:t>  </a:t>
            </a:r>
            <a:r>
              <a:rPr sz="1400"/>
              <a:t>red = High, yellow = Medium, green = Low.</a:t>
            </a:r>
          </a:p>
          <a:p>
            <a:pPr/>
            <a:r>
              <a:rPr b="1" sz="1400"/>
              <a:t>Hot zone:</a:t>
            </a:r>
            <a:r>
              <a:rPr sz="1400"/>
              <a:t>  </a:t>
            </a:r>
            <a:r>
              <a:rPr sz="1400"/>
              <a:t>read / write / edit on sensitive/, source_code/.</a:t>
            </a:r>
          </a:p>
          <a:p>
            <a:pPr/>
            <a:r>
              <a:rPr b="1" sz="1400"/>
              <a:t>Cool zone:</a:t>
            </a:r>
            <a:r>
              <a:rPr sz="1400"/>
              <a:t>  </a:t>
            </a:r>
            <a:r>
              <a:rPr sz="1400"/>
              <a:t>anything against onboarding/ and public/.</a:t>
            </a:r>
          </a:p>
          <a:p>
            <a:pPr/>
            <a:r>
              <a:rPr b="1" sz="1400"/>
              <a:t>Use it as:</a:t>
            </a:r>
            <a:r>
              <a:rPr sz="1400"/>
              <a:t>  </a:t>
            </a:r>
            <a:r>
              <a:rPr sz="1400"/>
              <a:t>a gating policy for the proxy.</a:t>
            </a:r>
          </a:p>
        </p:txBody>
      </p:sp>
      <p:pic>
        <p:nvPicPr>
          <p:cNvPr id="4" name="Picture 3" descr="corp_filesystem_ris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13" y="2336762"/>
            <a:ext cx="4875211" cy="21844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Demo 2 — SQLite MCP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demo/cbg_sqlite  |  cbg.db  |  7 tables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Inside demo/cbg_sqlite (cbg.db)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1400"/>
              <a:t>employees</a:t>
            </a:r>
            <a:r>
              <a:rPr sz="1400"/>
              <a:t>  </a:t>
            </a:r>
            <a:r>
              <a:rPr sz="1400"/>
              <a:t>15 rows: PII + salary.</a:t>
            </a:r>
          </a:p>
          <a:p>
            <a:pPr/>
            <a:r>
              <a:rPr b="1" sz="1400"/>
              <a:t>projects</a:t>
            </a:r>
            <a:r>
              <a:rPr sz="1400"/>
              <a:t>  </a:t>
            </a:r>
            <a:r>
              <a:rPr sz="1400"/>
              <a:t>8 rows: internal R&amp;D code names.</a:t>
            </a:r>
          </a:p>
          <a:p>
            <a:pPr/>
            <a:r>
              <a:rPr b="1" sz="1400"/>
              <a:t>datasets</a:t>
            </a:r>
            <a:r>
              <a:rPr sz="1400"/>
              <a:t>  </a:t>
            </a:r>
            <a:r>
              <a:rPr sz="1400"/>
              <a:t>10 rows: incl. embargoed + licensed.</a:t>
            </a:r>
          </a:p>
          <a:p>
            <a:pPr/>
            <a:r>
              <a:rPr b="1" sz="1400"/>
              <a:t>experiments</a:t>
            </a:r>
            <a:r>
              <a:rPr sz="1400"/>
              <a:t>  </a:t>
            </a:r>
            <a:r>
              <a:rPr sz="1400"/>
              <a:t>14 rows: links projects ↔ data.</a:t>
            </a:r>
          </a:p>
          <a:p>
            <a:pPr/>
            <a:r>
              <a:rPr b="1" sz="1400"/>
              <a:t>publications</a:t>
            </a:r>
            <a:r>
              <a:rPr sz="1400"/>
              <a:t>  </a:t>
            </a:r>
            <a:r>
              <a:rPr sz="1400"/>
              <a:t>8 rows: papers + preprints.</a:t>
            </a:r>
          </a:p>
          <a:p>
            <a:pPr/>
            <a:r>
              <a:rPr b="1" sz="1400"/>
              <a:t>grants</a:t>
            </a:r>
            <a:r>
              <a:rPr sz="1400"/>
              <a:t>  </a:t>
            </a:r>
            <a:r>
              <a:rPr sz="1400"/>
              <a:t>6 rows: sponsor + amount_usd.</a:t>
            </a:r>
          </a:p>
          <a:p>
            <a:pPr/>
            <a:r>
              <a:rPr b="1" sz="1400"/>
              <a:t>api_keys</a:t>
            </a:r>
            <a:r>
              <a:rPr sz="1400"/>
              <a:t>  </a:t>
            </a:r>
            <a:r>
              <a:rPr sz="1400"/>
              <a:t>6 rows: service credentials.</a:t>
            </a:r>
          </a:p>
        </p:txBody>
      </p:sp>
      <p:pic>
        <p:nvPicPr>
          <p:cNvPr id="4" name="Picture 3" descr="sqlit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13" y="2166878"/>
            <a:ext cx="4875211" cy="252424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Heatmap — SQLite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1400"/>
              <a:t>Axis X:</a:t>
            </a:r>
            <a:r>
              <a:rPr sz="1400"/>
              <a:t>  </a:t>
            </a:r>
            <a:r>
              <a:rPr sz="1400"/>
              <a:t>tool: read_query, write_query, list_tables, …</a:t>
            </a:r>
          </a:p>
          <a:p>
            <a:pPr/>
            <a:r>
              <a:rPr b="1" sz="1400"/>
              <a:t>Axis Y:</a:t>
            </a:r>
            <a:r>
              <a:rPr sz="1400"/>
              <a:t>  </a:t>
            </a:r>
            <a:r>
              <a:rPr sz="1400"/>
              <a:t>table being queried.</a:t>
            </a:r>
          </a:p>
          <a:p>
            <a:pPr/>
            <a:r>
              <a:rPr b="1" sz="1400"/>
              <a:t>Cells:</a:t>
            </a:r>
            <a:r>
              <a:rPr sz="1400"/>
              <a:t>  </a:t>
            </a:r>
            <a:r>
              <a:rPr sz="1400"/>
              <a:t>red = High, yellow = Medium, green = Low.</a:t>
            </a:r>
          </a:p>
          <a:p>
            <a:pPr/>
            <a:r>
              <a:rPr b="1" sz="1400"/>
              <a:t>Hot zone:</a:t>
            </a:r>
            <a:r>
              <a:rPr sz="1400"/>
              <a:t>  </a:t>
            </a:r>
            <a:r>
              <a:rPr sz="1400"/>
              <a:t>read/write on api_keys, employees, grants.</a:t>
            </a:r>
          </a:p>
          <a:p>
            <a:pPr/>
            <a:r>
              <a:rPr b="1" sz="1400"/>
              <a:t>Cool zone:</a:t>
            </a:r>
            <a:r>
              <a:rPr sz="1400"/>
              <a:t>  </a:t>
            </a:r>
            <a:r>
              <a:rPr sz="1400"/>
              <a:t>list_tables, describe_table; publications row.</a:t>
            </a:r>
          </a:p>
          <a:p>
            <a:pPr/>
            <a:r>
              <a:rPr b="1" sz="1400"/>
              <a:t>Lesson:</a:t>
            </a:r>
            <a:r>
              <a:rPr sz="1400"/>
              <a:t>  </a:t>
            </a:r>
            <a:r>
              <a:rPr sz="1400"/>
              <a:t>the same tool is risky or safe depending on target.</a:t>
            </a:r>
          </a:p>
        </p:txBody>
      </p:sp>
      <p:pic>
        <p:nvPicPr>
          <p:cNvPr id="4" name="Picture 3" descr="cbg_sqlite_ris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13" y="2167008"/>
            <a:ext cx="4875211" cy="252398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Demo 3 — Google Calendar MCP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calendar — meetings, attendees, free/busy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Heatmap — Calendar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1400"/>
              <a:t>Axis X:</a:t>
            </a:r>
            <a:r>
              <a:rPr sz="1400"/>
              <a:t>  </a:t>
            </a:r>
            <a:r>
              <a:rPr sz="1400"/>
              <a:t>tool: list_events, create_event, delete_event, …</a:t>
            </a:r>
          </a:p>
          <a:p>
            <a:pPr/>
            <a:r>
              <a:rPr b="1" sz="1400"/>
              <a:t>Axis Y:</a:t>
            </a:r>
            <a:r>
              <a:rPr sz="1400"/>
              <a:t>  </a:t>
            </a:r>
            <a:r>
              <a:rPr sz="1400"/>
              <a:t>event category (PI 1:1 → public seminar).</a:t>
            </a:r>
          </a:p>
          <a:p>
            <a:pPr/>
            <a:r>
              <a:rPr b="1" sz="1400"/>
              <a:t>Cells:</a:t>
            </a:r>
            <a:r>
              <a:rPr sz="1400"/>
              <a:t>  </a:t>
            </a:r>
            <a:r>
              <a:rPr sz="1400"/>
              <a:t>red = High, yellow = Medium, green = Low.</a:t>
            </a:r>
          </a:p>
          <a:p>
            <a:pPr/>
            <a:r>
              <a:rPr b="1" sz="1400"/>
              <a:t>Hot zone:</a:t>
            </a:r>
            <a:r>
              <a:rPr sz="1400"/>
              <a:t>  </a:t>
            </a:r>
            <a:r>
              <a:rPr sz="1400"/>
              <a:t>PI 1:1, sponsor, hiring, embargoed meetings.</a:t>
            </a:r>
          </a:p>
          <a:p>
            <a:pPr/>
            <a:r>
              <a:rPr b="1" sz="1400"/>
              <a:t>Cool zone:</a:t>
            </a:r>
            <a:r>
              <a:rPr sz="1400"/>
              <a:t>  </a:t>
            </a:r>
            <a:r>
              <a:rPr sz="1400"/>
              <a:t>public seminars / lab events; list_calendars.</a:t>
            </a:r>
          </a:p>
          <a:p>
            <a:pPr/>
            <a:r>
              <a:rPr b="1" sz="1400"/>
              <a:t>Why it matters:</a:t>
            </a:r>
            <a:r>
              <a:rPr sz="1400"/>
              <a:t>  </a:t>
            </a:r>
            <a:r>
              <a:rPr sz="1400"/>
              <a:t>agents can read who meets whom, and when.</a:t>
            </a:r>
          </a:p>
        </p:txBody>
      </p:sp>
      <p:pic>
        <p:nvPicPr>
          <p:cNvPr id="4" name="Picture 3" descr="cbg_calendar_ris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13" y="2529113"/>
            <a:ext cx="4875211" cy="179977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How to read a risk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2000"/>
              <a:t>What you see</a:t>
            </a:r>
          </a:p>
          <a:p>
            <a:pPr lvl="1"/>
            <a:r>
              <a:rPr b="1" sz="1600"/>
              <a:t>Cells</a:t>
            </a:r>
            <a:r>
              <a:rPr sz="1600"/>
              <a:t>  </a:t>
            </a:r>
            <a:r>
              <a:rPr sz="1600"/>
              <a:t>one per (tool × target) pair.</a:t>
            </a:r>
          </a:p>
          <a:p>
            <a:pPr lvl="1"/>
            <a:r>
              <a:rPr b="1" sz="1600"/>
              <a:t>Tiers</a:t>
            </a:r>
            <a:r>
              <a:rPr sz="1600"/>
              <a:t>  </a:t>
            </a:r>
            <a:r>
              <a:rPr sz="1600"/>
              <a:t>red = High, yellow = Medium, green = Low.</a:t>
            </a:r>
          </a:p>
          <a:p>
            <a:pPr lvl="1"/>
            <a:r>
              <a:rPr b="1" sz="1600"/>
              <a:t>Rows</a:t>
            </a:r>
            <a:r>
              <a:rPr sz="1600"/>
              <a:t>  </a:t>
            </a:r>
            <a:r>
              <a:rPr sz="1600"/>
              <a:t>the protected asset (folder, table, calendar).</a:t>
            </a:r>
          </a:p>
          <a:p>
            <a:pPr lvl="1"/>
            <a:r>
              <a:rPr b="1" sz="1600"/>
              <a:t>Columns</a:t>
            </a:r>
            <a:r>
              <a:rPr sz="1600"/>
              <a:t>  </a:t>
            </a:r>
            <a:r>
              <a:rPr sz="1600"/>
              <a:t>the MCP tool the agent could call.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/>
            <a:r>
              <a:rPr b="1" sz="2000"/>
              <a:t>How we use it</a:t>
            </a:r>
          </a:p>
          <a:p>
            <a:pPr lvl="1"/>
            <a:r>
              <a:rPr b="1" sz="1600"/>
              <a:t>Static</a:t>
            </a:r>
            <a:r>
              <a:rPr sz="1600"/>
              <a:t>  </a:t>
            </a:r>
            <a:r>
              <a:rPr sz="1600"/>
              <a:t>score depends on tool + target.</a:t>
            </a:r>
          </a:p>
          <a:p>
            <a:pPr lvl="1"/>
            <a:r>
              <a:rPr b="1" sz="1600"/>
              <a:t>Dynamic</a:t>
            </a:r>
            <a:r>
              <a:rPr sz="1600"/>
              <a:t>  </a:t>
            </a:r>
            <a:r>
              <a:rPr sz="1600"/>
              <a:t>the actual request payload bumps the score.</a:t>
            </a:r>
          </a:p>
          <a:p>
            <a:pPr lvl="1"/>
            <a:r>
              <a:rPr b="1" sz="1600"/>
              <a:t>Gate</a:t>
            </a:r>
            <a:r>
              <a:rPr sz="1600"/>
              <a:t>  </a:t>
            </a:r>
            <a:r>
              <a:rPr sz="1600"/>
              <a:t>block / throttle when the cell is red.</a:t>
            </a:r>
          </a:p>
          <a:p>
            <a:pPr lvl="1"/>
            <a:r>
              <a:rPr b="1" sz="1600"/>
              <a:t>Iterate</a:t>
            </a:r>
            <a:r>
              <a:rPr sz="1600"/>
              <a:t>  </a:t>
            </a:r>
            <a:r>
              <a:rPr sz="1600"/>
              <a:t>tune weights from real traffic.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b="1" sz="1800"/>
              <a:t>Same threat model</a:t>
            </a:r>
            <a:r>
              <a:rPr sz="1800"/>
              <a:t>  </a:t>
            </a:r>
            <a:r>
              <a:rPr sz="1800"/>
              <a:t>applies across very different MCPs.</a:t>
            </a:r>
          </a:p>
          <a:p>
            <a:pPr/>
            <a:r>
              <a:rPr b="1" sz="1800"/>
              <a:t>Folder hints</a:t>
            </a:r>
            <a:r>
              <a:rPr sz="1800"/>
              <a:t>  </a:t>
            </a:r>
            <a:r>
              <a:rPr sz="1800"/>
              <a:t>are signal, not security.</a:t>
            </a:r>
          </a:p>
          <a:p>
            <a:pPr/>
            <a:r>
              <a:rPr b="1" sz="1800"/>
              <a:t>Heatmaps</a:t>
            </a:r>
            <a:r>
              <a:rPr sz="1800"/>
              <a:t>  </a:t>
            </a:r>
            <a:r>
              <a:rPr sz="1800"/>
              <a:t>make risky combinations easy to see.</a:t>
            </a:r>
          </a:p>
          <a:p>
            <a:pPr/>
            <a:r>
              <a:rPr b="1" sz="1800"/>
              <a:t>Next step</a:t>
            </a:r>
            <a:r>
              <a:rPr sz="1800"/>
              <a:t>  </a:t>
            </a:r>
            <a:r>
              <a:rPr sz="1800"/>
              <a:t>wire scores into the proxy and gate.</a:t>
            </a:r>
          </a:p>
          <a:p>
            <a:pPr/>
            <a:r>
              <a:rPr b="1" sz="1800"/>
              <a:t>For students</a:t>
            </a:r>
            <a:r>
              <a:rPr sz="1800"/>
              <a:t>  </a:t>
            </a:r>
            <a:r>
              <a:rPr sz="1800"/>
              <a:t>try adding a 4th MCP and a 4th heatmap.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2200"/>
              <a:t>Three demos, one defense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6CFE95-771C-4802-B140-C778003BEB93}">
  <ds:schemaRefs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b888f069-4316-4301-b40e-a42e2759f60d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bc213cb-2322-46ee-a57c-56e573321373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7646</TotalTime>
  <Words>1183</Words>
  <Application>Microsoft Office PowerPoint</Application>
  <PresentationFormat>Custom</PresentationFormat>
  <Paragraphs>231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Lenovo Master</vt:lpstr>
      <vt:lpstr>Presentation  title here </vt:lpstr>
      <vt:lpstr>Template layouts</vt:lpstr>
      <vt:lpstr>Template 101</vt:lpstr>
      <vt:lpstr>How to make this your default template</vt:lpstr>
      <vt:lpstr>Installing theme files</vt:lpstr>
      <vt:lpstr>Update footer with correct information classification</vt:lpstr>
      <vt:lpstr>Color scheme</vt:lpstr>
      <vt:lpstr>Colors for light slides</vt:lpstr>
      <vt:lpstr>Colors for dark slides</vt:lpstr>
      <vt:lpstr>Section divider</vt:lpstr>
      <vt:lpstr>Titles are Arial, bold, 32 pt, sentence case</vt:lpstr>
      <vt:lpstr>Two column layout</vt:lpstr>
      <vt:lpstr>PowerPoint Presentation</vt:lpstr>
      <vt:lpstr>Content w/ product</vt:lpstr>
      <vt:lpstr>Content w/ image layout</vt:lpstr>
      <vt:lpstr>PowerPoint Presentation</vt:lpstr>
      <vt:lpstr>PowerPoint Presentation</vt:lpstr>
      <vt:lpstr>Charts overview</vt:lpstr>
      <vt:lpstr>Bar chart</vt:lpstr>
      <vt:lpstr>Line chart</vt:lpstr>
      <vt:lpstr>Pie chart</vt:lpstr>
      <vt:lpstr>Tables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 </dc:title>
  <dc:creator>user</dc:creator>
  <cp:lastModifiedBy>user</cp:lastModifiedBy>
  <cp:revision>1</cp:revision>
  <dcterms:created xsi:type="dcterms:W3CDTF">2025-02-26T11:25:58Z</dcterms:created>
  <dcterms:modified xsi:type="dcterms:W3CDTF">2025-03-03T18:52:53Z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