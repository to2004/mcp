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Three MCPs, Six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36873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C8D8EE"/>
                </a:solidFill>
              </a:rPr>
              <a:t>Every tool name resolves to one of six atomic operations — but the mapping is invisible to callers and reviewers.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16152"/>
          <a:ext cx="1136599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91256"/>
                <a:gridCol w="3191256"/>
                <a:gridCol w="352044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Filesystem MCP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SQLite MCP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Slack MCP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783336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196F3D"/>
                          </a:solidFill>
                        </a:rPr>
                        <a:t>READ</a:t>
                      </a:r>
                    </a:p>
                  </a:txBody>
                  <a:tcPr>
                    <a:solidFill>
                      <a:srgbClr val="D5F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read_file</a:t>
                      </a:r>
                    </a:p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list_directory</a:t>
                      </a:r>
                    </a:p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search_files</a:t>
                      </a:r>
                    </a:p>
                  </a:txBody>
                  <a:tcPr>
                    <a:solidFill>
                      <a:srgbClr val="D5F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read_query</a:t>
                      </a:r>
                    </a:p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list_tables</a:t>
                      </a:r>
                    </a:p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describe_table</a:t>
                      </a:r>
                    </a:p>
                  </a:txBody>
                  <a:tcPr>
                    <a:solidFill>
                      <a:srgbClr val="D5F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get_channel_history</a:t>
                      </a:r>
                    </a:p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get_thread_replies</a:t>
                      </a:r>
                    </a:p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get_users</a:t>
                      </a:r>
                    </a:p>
                  </a:txBody>
                  <a:tcPr>
                    <a:solidFill>
                      <a:srgbClr val="D5F0E0"/>
                    </a:solidFill>
                  </a:tcPr>
                </a:tc>
              </a:tr>
              <a:tr h="783336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1A5CAB"/>
                          </a:solidFill>
                        </a:rPr>
                        <a:t>WRITE</a:t>
                      </a:r>
                    </a:p>
                  </a:txBody>
                  <a:tcPr>
                    <a:solidFill>
                      <a:srgbClr val="D6E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write_file</a:t>
                      </a:r>
                    </a:p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create_directory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write_query (INSERT)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post_message</a:t>
                      </a:r>
                    </a:p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reply_to_thread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3336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C26A00"/>
                          </a:solidFill>
                        </a:rPr>
                        <a:t>MODIFY</a:t>
                      </a:r>
                    </a:p>
                  </a:txBody>
                  <a:tcPr>
                    <a:solidFill>
                      <a:srgbClr val="FDEF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edit_file</a:t>
                      </a:r>
                    </a:p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move_file</a:t>
                      </a:r>
                    </a:p>
                  </a:txBody>
                  <a:tcPr>
                    <a:solidFill>
                      <a:srgbClr val="FDEF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write_query (UPDATE)</a:t>
                      </a:r>
                    </a:p>
                  </a:txBody>
                  <a:tcPr>
                    <a:solidFill>
                      <a:srgbClr val="FDEF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update_message</a:t>
                      </a:r>
                    </a:p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add_reaction</a:t>
                      </a:r>
                    </a:p>
                  </a:txBody>
                  <a:tcPr>
                    <a:solidFill>
                      <a:srgbClr val="FDEFD8"/>
                    </a:solidFill>
                  </a:tcPr>
                </a:tc>
              </a:tr>
              <a:tr h="783336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BF211A"/>
                          </a:solidFill>
                        </a:rPr>
                        <a:t>DELETE</a:t>
                      </a:r>
                    </a:p>
                  </a:txBody>
                  <a:tcPr>
                    <a:solidFill>
                      <a:srgbClr val="FAD7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delete_file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write_query (DELETE)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delete_message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3336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7B0000"/>
                          </a:solidFill>
                        </a:rPr>
                        <a:t>EXECUTE</a:t>
                      </a:r>
                    </a:p>
                  </a:txBody>
                  <a:tcPr>
                    <a:solidFill>
                      <a:srgbClr val="F5C6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run_shell_command</a:t>
                      </a:r>
                    </a:p>
                  </a:txBody>
                  <a:tcPr>
                    <a:solidFill>
                      <a:srgbClr val="F5C6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BBBBB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C6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BBBBB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C6C4"/>
                    </a:solidFill>
                  </a:tcPr>
                </a:tc>
              </a:tr>
              <a:tr h="783336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5B2C8A"/>
                          </a:solidFill>
                        </a:rPr>
                        <a:t>CONFIGURE</a:t>
                      </a:r>
                    </a:p>
                  </a:txBody>
                  <a:tcPr>
                    <a:solidFill>
                      <a:srgbClr val="EAD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create_directory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create_table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create_channel</a:t>
                      </a:r>
                    </a:p>
                    <a:p>
                      <a:pPr algn="l">
                        <a:spcBef>
                          <a:spcPts val="100"/>
                        </a:spcBef>
                      </a:pPr>
                      <a:r>
                        <a:rPr sz="1100">
                          <a:solidFill>
                            <a:srgbClr val="444444"/>
                          </a:solidFill>
                          <a:latin typeface="Courier New"/>
                        </a:rPr>
                        <a:t>invite_to_channel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6400800"/>
            <a:ext cx="11368735" cy="384048"/>
          </a:xfrm>
          <a:prstGeom prst="rect">
            <a:avLst/>
          </a:prstGeom>
          <a:solidFill>
            <a:srgbClr val="FFF3CD"/>
          </a:solidFill>
          <a:ln>
            <a:solidFill>
              <a:srgbClr val="C8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6464808"/>
            <a:ext cx="11149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B4F00"/>
                </a:solidFill>
              </a:rPr>
              <a:t>Key insight: </a:t>
            </a:r>
            <a:r>
              <a:rPr sz="1100">
                <a:solidFill>
                  <a:srgbClr val="5A3A00"/>
                </a:solidFill>
              </a:rPr>
              <a:t>SQLite's write_query handles INSERT, UPDATE, and DELETE — three different blast radii under a single name. Benign users trigger critical operations by accident; reviewers cannot audit tool calls at scale without a semantic layer.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