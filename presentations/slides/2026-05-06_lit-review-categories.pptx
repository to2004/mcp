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73" r:id="rId35"/>
    <p:sldId id="374" r:id="rId36"/>
    <p:sldId id="375" r:id="rId37"/>
    <p:sldId id="376" r:id="rId38"/>
    <p:sldId id="377" r:id="rId39"/>
    <p:sldId id="378" r:id="rId40"/>
    <p:sldId id="379" r:id="rId41"/>
    <p:sldId id="380" r:id="rId42"/>
    <p:sldId id="381" r:id="rId43"/>
    <p:sldId id="382" r:id="rId44"/>
    <p:sldId id="383" r:id="rId45"/>
    <p:sldId id="384" r:id="rId4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2B970-1E2C-D5A3-F16E-5F0DF457B275}" v="3" dt="2022-07-25T12:54:18.14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25" autoAdjust="0"/>
    <p:restoredTop sz="95238" autoAdjust="0"/>
  </p:normalViewPr>
  <p:slideViewPr>
    <p:cSldViewPr snapToGrid="0" snapToObjects="1">
      <p:cViewPr>
        <p:scale>
          <a:sx n="75" d="100"/>
          <a:sy n="75" d="100"/>
        </p:scale>
        <p:origin x="1190" y="499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5/10/relationships/revisionInfo" Target="revisionInfo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2/26/2025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2/26/2025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&#10;&#10;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&#10;&#10;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Literature review: scoring papers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14 papers, 6 categories  |  Tomer  |  2026-05-05  |  For reviewer discussion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Why this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MCP server = protected asset. Agents = threat. Where does my work fit?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Six categories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2000"/>
              <a:t>The 6 categories</a:t>
            </a:r>
          </a:p>
          <a:p>
            <a:pPr lvl="1"/>
            <a:r>
              <a:rPr b="1" sz="1600"/>
              <a:t>1.</a:t>
            </a:r>
            <a:r>
              <a:rPr sz="1600"/>
              <a:t>  </a:t>
            </a:r>
            <a:r>
              <a:rPr sz="1600"/>
              <a:t>MCP-specific risk scoring (3 papers)</a:t>
            </a:r>
          </a:p>
          <a:p>
            <a:pPr lvl="1"/>
            <a:r>
              <a:rPr b="1" sz="1600"/>
              <a:t>2.</a:t>
            </a:r>
            <a:r>
              <a:rPr sz="1600"/>
              <a:t>  </a:t>
            </a:r>
            <a:r>
              <a:rPr sz="1600"/>
              <a:t>CVSS automation with LLMs (2 papers)</a:t>
            </a:r>
          </a:p>
          <a:p>
            <a:pPr lvl="1"/>
            <a:r>
              <a:rPr b="1" sz="1600"/>
              <a:t>3.</a:t>
            </a:r>
            <a:r>
              <a:rPr sz="1600"/>
              <a:t>  </a:t>
            </a:r>
            <a:r>
              <a:rPr sz="1600"/>
              <a:t>Permissions &amp; tool-invocation (3 papers)</a:t>
            </a:r>
          </a:p>
          <a:p>
            <a:pPr lvl="1"/>
            <a:r>
              <a:rPr b="1" sz="1600"/>
              <a:t>4.</a:t>
            </a:r>
            <a:r>
              <a:rPr sz="1600"/>
              <a:t>  </a:t>
            </a:r>
            <a:r>
              <a:rPr sz="1600"/>
              <a:t>Anomaly severity scoring (2 papers)</a:t>
            </a:r>
          </a:p>
          <a:p>
            <a:pPr lvl="1"/>
            <a:r>
              <a:rPr b="1" sz="1600"/>
              <a:t>5.</a:t>
            </a:r>
            <a:r>
              <a:rPr sz="1600"/>
              <a:t>  </a:t>
            </a:r>
            <a:r>
              <a:rPr sz="1600"/>
              <a:t>Agent action &amp; safety scoring (3 papers)</a:t>
            </a:r>
          </a:p>
          <a:p>
            <a:pPr lvl="1"/>
            <a:r>
              <a:rPr b="1" sz="1600"/>
              <a:t>6.</a:t>
            </a:r>
            <a:r>
              <a:rPr sz="1600"/>
              <a:t>  </a:t>
            </a:r>
            <a:r>
              <a:rPr sz="1600"/>
              <a:t>Trust score / zero-trust access (1 + 1)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/>
            <a:r>
              <a:rPr b="1" sz="2000"/>
              <a:t>How they map to my framework</a:t>
            </a:r>
          </a:p>
          <a:p>
            <a:pPr lvl="1"/>
            <a:r>
              <a:rPr b="1" sz="1600"/>
              <a:t>Static side</a:t>
            </a:r>
            <a:r>
              <a:rPr sz="1600"/>
              <a:t>  </a:t>
            </a:r>
            <a:r>
              <a:rPr sz="1600"/>
              <a:t>Cats 1, 2, 3-permissions.</a:t>
            </a:r>
          </a:p>
          <a:p>
            <a:pPr lvl="1"/>
            <a:r>
              <a:rPr b="1" sz="1600"/>
              <a:t>Dynamic side</a:t>
            </a:r>
            <a:r>
              <a:rPr sz="1600"/>
              <a:t>  </a:t>
            </a:r>
            <a:r>
              <a:rPr sz="1600"/>
              <a:t>Cats 3-invocation, 4, 5.</a:t>
            </a:r>
          </a:p>
          <a:p>
            <a:pPr lvl="1"/>
            <a:r>
              <a:rPr b="1" sz="1600"/>
              <a:t>Output shape</a:t>
            </a:r>
            <a:r>
              <a:rPr sz="1600"/>
              <a:t>  </a:t>
            </a:r>
            <a:r>
              <a:rPr sz="1600"/>
              <a:t>Cat 4 (graded severity).</a:t>
            </a:r>
          </a:p>
          <a:p>
            <a:pPr lvl="1"/>
            <a:r>
              <a:rPr b="1" sz="1600"/>
              <a:t>Architecture</a:t>
            </a:r>
            <a:r>
              <a:rPr sz="1600"/>
              <a:t>  </a:t>
            </a:r>
            <a:r>
              <a:rPr sz="1600"/>
              <a:t>Cat 6 (trust-score policy).</a:t>
            </a:r>
          </a:p>
          <a:p>
            <a:pPr lvl="1"/>
            <a:r>
              <a:rPr b="1" sz="1600"/>
              <a:t>Evaluation</a:t>
            </a:r>
            <a:r>
              <a:rPr sz="1600"/>
              <a:t>  </a:t>
            </a:r>
            <a:r>
              <a:rPr sz="1600"/>
              <a:t>Cats 3 (RLR) and 5 (HarmScore).</a:t>
            </a:r>
          </a:p>
          <a:p>
            <a:pPr lvl="1"/>
            <a:r>
              <a:rPr b="1" sz="1600"/>
              <a:t>All scoring</a:t>
            </a:r>
            <a:r>
              <a:rPr sz="1600"/>
              <a:t>  </a:t>
            </a:r>
            <a:r>
              <a:rPr sz="1600"/>
              <a:t>every paper produces a number / label.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Cat 1 — MCP-specific risk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2000"/>
              <a:t>Papers (3)</a:t>
            </a:r>
          </a:p>
          <a:p>
            <a:pPr lvl="1"/>
            <a:r>
              <a:rPr b="1" sz="1600"/>
              <a:t>MCP-in-SoS (2026)</a:t>
            </a:r>
            <a:r>
              <a:rPr sz="1600"/>
              <a:t>  </a:t>
            </a:r>
            <a:r>
              <a:rPr sz="1600"/>
              <a:t>static analysis → CWE/CAPEC → Risk Index over 222 GitHub MCP repos.</a:t>
            </a:r>
          </a:p>
          <a:p>
            <a:pPr lvl="1"/>
            <a:r>
              <a:rPr b="1" sz="1600"/>
              <a:t>MCP-RiskCue (2025)</a:t>
            </a:r>
            <a:r>
              <a:rPr sz="1600"/>
              <a:t>  </a:t>
            </a:r>
            <a:r>
              <a:rPr sz="1600"/>
              <a:t>can LLMs reason about MCP server logs to infer risk?</a:t>
            </a:r>
          </a:p>
          <a:p>
            <a:pPr lvl="1"/>
            <a:r>
              <a:rPr b="1" sz="1600"/>
              <a:t>mcp-sec-audit (2026)</a:t>
            </a:r>
            <a:r>
              <a:rPr sz="1600"/>
              <a:t>  </a:t>
            </a:r>
            <a:r>
              <a:rPr sz="1600"/>
              <a:t>score over-privileged tool capabilities at registration.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/>
            <a:r>
              <a:rPr b="1" sz="2000"/>
              <a:t>Options I could pursue</a:t>
            </a:r>
          </a:p>
          <a:p>
            <a:pPr lvl="1"/>
            <a:r>
              <a:rPr b="1" sz="1600"/>
              <a:t>Replicate</a:t>
            </a:r>
            <a:r>
              <a:rPr sz="1600"/>
              <a:t>  </a:t>
            </a:r>
            <a:r>
              <a:rPr sz="1600"/>
              <a:t>MCP-in-SoS as my static-scoring baseline.</a:t>
            </a:r>
          </a:p>
          <a:p>
            <a:pPr lvl="1"/>
            <a:r>
              <a:rPr b="1" sz="1600"/>
              <a:t>Borrow</a:t>
            </a:r>
            <a:r>
              <a:rPr sz="1600"/>
              <a:t>  </a:t>
            </a:r>
            <a:r>
              <a:rPr sz="1600"/>
              <a:t>MCP-RiskCue's log-inference for my dynamic layer.</a:t>
            </a:r>
          </a:p>
          <a:p>
            <a:pPr lvl="1"/>
            <a:r>
              <a:rPr b="1" sz="1600"/>
              <a:t>Adopt</a:t>
            </a:r>
            <a:r>
              <a:rPr sz="1600"/>
              <a:t>  </a:t>
            </a:r>
            <a:r>
              <a:rPr sz="1600"/>
              <a:t>least-privilege checks from mcp-sec-audit at tool register.</a:t>
            </a:r>
          </a:p>
          <a:p>
            <a:pPr lvl="1"/>
            <a:r>
              <a:rPr b="1" sz="1600"/>
              <a:t>Differentiate</a:t>
            </a:r>
            <a:r>
              <a:rPr sz="1600"/>
              <a:t>  </a:t>
            </a:r>
            <a:r>
              <a:rPr sz="1600"/>
              <a:t>combine static + dynamic; existing work picks one.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Cat 2 — CVSS automation with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2000"/>
              <a:t>Papers (2)</a:t>
            </a:r>
          </a:p>
          <a:p>
            <a:pPr lvl="1"/>
            <a:r>
              <a:rPr b="1" sz="1600"/>
              <a:t>From Description to Score (2025)</a:t>
            </a:r>
            <a:r>
              <a:rPr sz="1600"/>
              <a:t>  </a:t>
            </a:r>
            <a:r>
              <a:rPr sz="1600"/>
              <a:t>GPT-4o, GPT-5, Llama, Gemini, DeepSeek, Grok on 31k CVEs.</a:t>
            </a:r>
          </a:p>
          <a:p>
            <a:pPr lvl="1"/>
            <a:r>
              <a:rPr b="1" sz="1600"/>
              <a:t>Can LLMs Classify CVEs? (2025)</a:t>
            </a:r>
            <a:r>
              <a:rPr sz="1600"/>
              <a:t>  </a:t>
            </a:r>
            <a:r>
              <a:rPr sz="1600"/>
              <a:t>LLM vs embedding for CVSS vector components; argues hybrid.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/>
            <a:r>
              <a:rPr b="1" sz="2000"/>
              <a:t>Options I could pursue</a:t>
            </a:r>
          </a:p>
          <a:p>
            <a:pPr lvl="1"/>
            <a:r>
              <a:rPr b="1" sz="1600"/>
              <a:t>Treat</a:t>
            </a:r>
            <a:r>
              <a:rPr sz="1600"/>
              <a:t>  </a:t>
            </a:r>
            <a:r>
              <a:rPr sz="1600"/>
              <a:t>MCP tool descriptions like CVE text → score them.</a:t>
            </a:r>
          </a:p>
          <a:p>
            <a:pPr lvl="1"/>
            <a:r>
              <a:rPr b="1" sz="1600"/>
              <a:t>Reuse</a:t>
            </a:r>
            <a:r>
              <a:rPr sz="1600"/>
              <a:t>  </a:t>
            </a:r>
            <a:r>
              <a:rPr sz="1600"/>
              <a:t>their evaluation methodology on tool / message risk.</a:t>
            </a:r>
          </a:p>
          <a:p>
            <a:pPr lvl="1"/>
            <a:r>
              <a:rPr b="1" sz="1600"/>
              <a:t>Compare</a:t>
            </a:r>
            <a:r>
              <a:rPr sz="1600"/>
              <a:t>  </a:t>
            </a:r>
            <a:r>
              <a:rPr sz="1600"/>
              <a:t>LLM-only vs LLM+embedding on MCP data.</a:t>
            </a:r>
          </a:p>
          <a:p>
            <a:pPr lvl="1"/>
            <a:r>
              <a:rPr b="1" sz="1600"/>
              <a:t>Adapt</a:t>
            </a:r>
            <a:r>
              <a:rPr sz="1600"/>
              <a:t>  </a:t>
            </a:r>
            <a:r>
              <a:rPr sz="1600"/>
              <a:t>their CVSS metric breakdown into MCP-specific axes.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Cat 3 — Permissions &amp; tool-invocation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2000"/>
              <a:t>Papers (3)</a:t>
            </a:r>
          </a:p>
          <a:p>
            <a:pPr lvl="1"/>
            <a:r>
              <a:rPr b="1" sz="1600"/>
              <a:t>Entra OAuth scoring (2025)</a:t>
            </a:r>
            <a:r>
              <a:rPr sz="1600"/>
              <a:t>  </a:t>
            </a:r>
            <a:r>
              <a:rPr sz="1600"/>
              <a:t>769 Microsoft Graph scopes scored by 8 OSS LLMs.</a:t>
            </a:r>
          </a:p>
          <a:p>
            <a:pPr lvl="1"/>
            <a:r>
              <a:rPr b="1" sz="1600"/>
              <a:t>AgenTRIM (2026)</a:t>
            </a:r>
            <a:r>
              <a:rPr sz="1600"/>
              <a:t>  </a:t>
            </a:r>
            <a:r>
              <a:rPr sz="1600"/>
              <a:t>runtime orchestrator that validates high-risk tool calls.</a:t>
            </a:r>
          </a:p>
          <a:p>
            <a:pPr lvl="1"/>
            <a:r>
              <a:rPr b="1" sz="1600"/>
              <a:t>Tools Orchestration Leaks (2025)</a:t>
            </a:r>
            <a:r>
              <a:rPr sz="1600"/>
              <a:t>  </a:t>
            </a:r>
            <a:r>
              <a:rPr sz="1600"/>
              <a:t>RLR + H-Score; 90.24% avg leakage across 8 models.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/>
            <a:r>
              <a:rPr b="1" sz="2000"/>
              <a:t>Options I could pursue</a:t>
            </a:r>
          </a:p>
          <a:p>
            <a:pPr lvl="1"/>
            <a:r>
              <a:rPr b="1" sz="1600"/>
              <a:t>Static</a:t>
            </a:r>
            <a:r>
              <a:rPr sz="1600"/>
              <a:t>  </a:t>
            </a:r>
            <a:r>
              <a:rPr sz="1600"/>
              <a:t>score MCP tool permissions like OAuth scopes.</a:t>
            </a:r>
          </a:p>
          <a:p>
            <a:pPr lvl="1"/>
            <a:r>
              <a:rPr b="1" sz="1600"/>
              <a:t>Dynamic</a:t>
            </a:r>
            <a:r>
              <a:rPr sz="1600"/>
              <a:t>  </a:t>
            </a:r>
            <a:r>
              <a:rPr sz="1600"/>
              <a:t>run an AgenTRIM-style validator at the proxy.</a:t>
            </a:r>
          </a:p>
          <a:p>
            <a:pPr lvl="1"/>
            <a:r>
              <a:rPr b="1" sz="1600"/>
              <a:t>Evaluate</a:t>
            </a:r>
            <a:r>
              <a:rPr sz="1600"/>
              <a:t>  </a:t>
            </a:r>
            <a:r>
              <a:rPr sz="1600"/>
              <a:t>use RLR + H-Score for end-to-end metrics.</a:t>
            </a:r>
          </a:p>
          <a:p>
            <a:pPr lvl="1"/>
            <a:r>
              <a:rPr b="1" sz="1600"/>
              <a:t>Dataset</a:t>
            </a:r>
            <a:r>
              <a:rPr sz="1600"/>
              <a:t>  </a:t>
            </a:r>
            <a:r>
              <a:rPr sz="1600"/>
              <a:t>build an MCP-permission scoring dataset (none exists).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Cat 4 — Anomaly severity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2000"/>
              <a:t>Papers (2)</a:t>
            </a:r>
          </a:p>
          <a:p>
            <a:pPr lvl="1"/>
            <a:r>
              <a:rPr b="1" sz="1600"/>
              <a:t>MAD benchmark (2024)</a:t>
            </a:r>
            <a:r>
              <a:rPr sz="1600"/>
              <a:t>  </a:t>
            </a:r>
            <a:r>
              <a:rPr sz="1600"/>
              <a:t>graded severity replaces binary anomaly; benchmark + dataset.</a:t>
            </a:r>
          </a:p>
          <a:p>
            <a:pPr lvl="1"/>
            <a:r>
              <a:rPr b="1" sz="1600"/>
              <a:t>Few-shot API anomalies (2024)</a:t>
            </a:r>
            <a:r>
              <a:rPr sz="1600"/>
              <a:t>  </a:t>
            </a:r>
            <a:r>
              <a:rPr sz="1600"/>
              <a:t>classification-by-retrieval when attack data is scarce.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/>
            <a:r>
              <a:rPr b="1" sz="2000"/>
              <a:t>Options I could pursue</a:t>
            </a:r>
          </a:p>
          <a:p>
            <a:pPr lvl="1"/>
            <a:r>
              <a:rPr b="1" sz="1600"/>
              <a:t>Output shape</a:t>
            </a:r>
            <a:r>
              <a:rPr sz="1600"/>
              <a:t>  </a:t>
            </a:r>
            <a:r>
              <a:rPr sz="1600"/>
              <a:t>use MAD-style graded severity for my score.</a:t>
            </a:r>
          </a:p>
          <a:p>
            <a:pPr lvl="1"/>
            <a:r>
              <a:rPr b="1" sz="1600"/>
              <a:t>Few-shot</a:t>
            </a:r>
            <a:r>
              <a:rPr sz="1600"/>
              <a:t>  </a:t>
            </a:r>
            <a:r>
              <a:rPr sz="1600"/>
              <a:t>fits MCP — almost no labelled MCP attacks yet.</a:t>
            </a:r>
          </a:p>
          <a:p>
            <a:pPr lvl="1"/>
            <a:r>
              <a:rPr b="1" sz="1600"/>
              <a:t>Build</a:t>
            </a:r>
            <a:r>
              <a:rPr sz="1600"/>
              <a:t>  </a:t>
            </a:r>
            <a:r>
              <a:rPr sz="1600"/>
              <a:t>an MCP variant of MAD targeting tool-call traces.</a:t>
            </a:r>
          </a:p>
          <a:p>
            <a:pPr lvl="1"/>
            <a:r>
              <a:rPr b="1" sz="1600"/>
              <a:t>Threshold</a:t>
            </a:r>
            <a:r>
              <a:rPr sz="1600"/>
              <a:t>  </a:t>
            </a:r>
            <a:r>
              <a:rPr sz="1600"/>
              <a:t>use MAD bands to define allow / log / throttle / deny.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Cat 5 — Agent action &amp; safety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2000"/>
              <a:t>Papers (3)</a:t>
            </a:r>
          </a:p>
          <a:p>
            <a:pPr lvl="1"/>
            <a:r>
              <a:rPr b="1" sz="1600"/>
              <a:t>AgentHarm (ICLR 2025)</a:t>
            </a:r>
            <a:r>
              <a:rPr sz="1600"/>
              <a:t>  </a:t>
            </a:r>
            <a:r>
              <a:rPr sz="1600"/>
              <a:t>110 malicious tasks (440 augmented); HarmScore + RefusalRate.</a:t>
            </a:r>
          </a:p>
          <a:p>
            <a:pPr lvl="1"/>
            <a:r>
              <a:rPr b="1" sz="1600"/>
              <a:t>Agent-SafetyBench (2024)</a:t>
            </a:r>
            <a:r>
              <a:rPr sz="1600"/>
              <a:t>  </a:t>
            </a:r>
            <a:r>
              <a:rPr sz="1600"/>
              <a:t>349 envs, 2k cases, 8 risk categories, 10 failure modes.</a:t>
            </a:r>
          </a:p>
          <a:p>
            <a:pPr lvl="1"/>
            <a:r>
              <a:rPr b="1" sz="1600"/>
              <a:t>ProGuard (2025)</a:t>
            </a:r>
            <a:r>
              <a:rPr sz="1600"/>
              <a:t>  </a:t>
            </a:r>
            <a:r>
              <a:rPr sz="1600"/>
              <a:t>DTMC of agent behaviour; probabilistic unsafe-state score.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/>
            <a:r>
              <a:rPr b="1" sz="2000"/>
              <a:t>Options I could pursue</a:t>
            </a:r>
          </a:p>
          <a:p>
            <a:pPr lvl="1"/>
            <a:r>
              <a:rPr b="1" sz="1600"/>
              <a:t>Tune</a:t>
            </a:r>
            <a:r>
              <a:rPr sz="1600"/>
              <a:t>  </a:t>
            </a:r>
            <a:r>
              <a:rPr sz="1600"/>
              <a:t>the dynamic-score threshold against AgentHarm tasks.</a:t>
            </a:r>
          </a:p>
          <a:p>
            <a:pPr lvl="1"/>
            <a:r>
              <a:rPr b="1" sz="1600"/>
              <a:t>Map</a:t>
            </a:r>
            <a:r>
              <a:rPr sz="1600"/>
              <a:t>  </a:t>
            </a:r>
            <a:r>
              <a:rPr sz="1600"/>
              <a:t>my framework's labels to Agent-SafetyBench's 8 categories.</a:t>
            </a:r>
          </a:p>
          <a:p>
            <a:pPr lvl="1"/>
            <a:r>
              <a:rPr b="1" sz="1600"/>
              <a:t>Alternative</a:t>
            </a:r>
            <a:r>
              <a:rPr sz="1600"/>
              <a:t>  </a:t>
            </a:r>
            <a:r>
              <a:rPr sz="1600"/>
              <a:t>ProGuard's probabilistic layer as a dynamic baseline.</a:t>
            </a:r>
          </a:p>
          <a:p>
            <a:pPr lvl="1"/>
            <a:r>
              <a:rPr b="1" sz="1600"/>
              <a:t>Coverage</a:t>
            </a:r>
            <a:r>
              <a:rPr sz="1600"/>
              <a:t>  </a:t>
            </a:r>
            <a:r>
              <a:rPr sz="1600"/>
              <a:t>extend any of these to MCP-specific scenarios.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Cat 6 — Trust score / zero-trust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2000"/>
              <a:t>Papers (1 + 1)</a:t>
            </a:r>
          </a:p>
          <a:p>
            <a:pPr lvl="1"/>
            <a:r>
              <a:rPr b="1" sz="1600"/>
              <a:t>ZT Score Network ACL (2024)</a:t>
            </a:r>
            <a:r>
              <a:rPr sz="1600"/>
              <a:t>  </a:t>
            </a:r>
            <a:r>
              <a:rPr sz="1600"/>
              <a:t>29 trust attributes; Subjective-Logic numeric trust score.</a:t>
            </a:r>
          </a:p>
          <a:p>
            <a:pPr lvl="1"/>
            <a:r>
              <a:rPr b="1" sz="1600"/>
              <a:t>MDPI Trust Score (2025)</a:t>
            </a:r>
            <a:r>
              <a:rPr sz="1600"/>
              <a:t>  </a:t>
            </a:r>
            <a:r>
              <a:rPr sz="1600"/>
              <a:t>User + network + device + threat history; not downloaded yet.</a:t>
            </a:r>
          </a:p>
          <a:p>
            <a:pPr lvl="1"/>
            <a:r>
              <a:rPr b="1" sz="1600"/>
              <a:t>Note:</a:t>
            </a:r>
            <a:r>
              <a:rPr sz="1600"/>
              <a:t>  </a:t>
            </a:r>
            <a:r>
              <a:rPr sz="1600"/>
              <a:t>MDPI link in README — open-access, fetch manually.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/>
            <a:r>
              <a:rPr b="1" sz="2000"/>
              <a:t>Options I could pursue</a:t>
            </a:r>
          </a:p>
          <a:p>
            <a:pPr lvl="1"/>
            <a:r>
              <a:rPr b="1" sz="1600"/>
              <a:t>Architecture</a:t>
            </a:r>
            <a:r>
              <a:rPr sz="1600"/>
              <a:t>  </a:t>
            </a:r>
            <a:r>
              <a:rPr sz="1600"/>
              <a:t>frame my framework as a trust-score policy input.</a:t>
            </a:r>
          </a:p>
          <a:p>
            <a:pPr lvl="1"/>
            <a:r>
              <a:rPr b="1" sz="1600"/>
              <a:t>Combine</a:t>
            </a:r>
            <a:r>
              <a:rPr sz="1600"/>
              <a:t>  </a:t>
            </a:r>
            <a:r>
              <a:rPr sz="1600"/>
              <a:t>static + dynamic via Subjective Logic.</a:t>
            </a:r>
          </a:p>
          <a:p>
            <a:pPr lvl="1"/>
            <a:r>
              <a:rPr b="1" sz="1600"/>
              <a:t>Pattern</a:t>
            </a:r>
            <a:r>
              <a:rPr sz="1600"/>
              <a:t>  </a:t>
            </a:r>
            <a:r>
              <a:rPr sz="1600"/>
              <a:t>compute → decide is the umbrella for cats 1-5.</a:t>
            </a:r>
          </a:p>
          <a:p>
            <a:pPr lvl="1"/>
            <a:r>
              <a:rPr b="1" sz="1600"/>
              <a:t>Fetch</a:t>
            </a:r>
            <a:r>
              <a:rPr sz="1600"/>
              <a:t>  </a:t>
            </a:r>
            <a:r>
              <a:rPr sz="1600"/>
              <a:t>the MDPI paper before deciding the umbrella.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1800"/>
              <a:t>Static + dynamic blend</a:t>
            </a:r>
            <a:r>
              <a:rPr sz="1800"/>
              <a:t>  </a:t>
            </a:r>
            <a:r>
              <a:rPr sz="1800"/>
              <a:t>no paper does both for MCP — clear gap.</a:t>
            </a:r>
          </a:p>
          <a:p>
            <a:pPr/>
            <a:r>
              <a:rPr b="1" sz="1800"/>
              <a:t>MCP benchmark</a:t>
            </a:r>
            <a:r>
              <a:rPr sz="1800"/>
              <a:t>  </a:t>
            </a:r>
            <a:r>
              <a:rPr sz="1800"/>
              <a:t>no MCP-specific risk-scoring benchmark exists.</a:t>
            </a:r>
          </a:p>
          <a:p>
            <a:pPr/>
            <a:r>
              <a:rPr b="1" sz="1800"/>
              <a:t>Trust-score umbrella</a:t>
            </a:r>
            <a:r>
              <a:rPr sz="1800"/>
              <a:t>  </a:t>
            </a:r>
            <a:r>
              <a:rPr sz="1800"/>
              <a:t>Cat 6 ties Cats 1-5 into one decision layer.</a:t>
            </a:r>
          </a:p>
          <a:p>
            <a:pPr/>
            <a:r>
              <a:rPr b="1" sz="1800"/>
              <a:t>Hybrid scorer</a:t>
            </a:r>
            <a:r>
              <a:rPr sz="1800"/>
              <a:t>  </a:t>
            </a:r>
            <a:r>
              <a:rPr sz="1800"/>
              <a:t>LLM + embedding (Cat 2) on MCP tool descriptions.</a:t>
            </a:r>
          </a:p>
          <a:p>
            <a:pPr/>
            <a:r>
              <a:rPr b="1" sz="1800"/>
              <a:t>Eval stack</a:t>
            </a:r>
            <a:r>
              <a:rPr sz="1800"/>
              <a:t>  </a:t>
            </a:r>
            <a:r>
              <a:rPr sz="1800"/>
              <a:t>Cat 4 graded severity + Cat 3 RLR + Cat 5 HarmScore.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2200"/>
              <a:t>Things that don't sit neatly in one category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Cross-cutting moves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Where I'd love your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2000"/>
              <a:t>Direction</a:t>
            </a:r>
          </a:p>
          <a:p>
            <a:pPr lvl="1"/>
            <a:r>
              <a:rPr b="1" sz="1600"/>
              <a:t>Anchor categories</a:t>
            </a:r>
            <a:r>
              <a:rPr sz="1600"/>
              <a:t>  </a:t>
            </a:r>
            <a:r>
              <a:rPr sz="1600"/>
              <a:t>which 2-3 should the contribution sit on?</a:t>
            </a:r>
          </a:p>
          <a:p>
            <a:pPr lvl="1"/>
            <a:r>
              <a:rPr b="1" sz="1600"/>
              <a:t>Static vs. dynamic</a:t>
            </a:r>
            <a:r>
              <a:rPr sz="1600"/>
              <a:t>  </a:t>
            </a:r>
            <a:r>
              <a:rPr sz="1600"/>
              <a:t>which side to prioritize first?</a:t>
            </a:r>
          </a:p>
          <a:p>
            <a:pPr lvl="1"/>
            <a:r>
              <a:rPr b="1" sz="1600"/>
              <a:t>Benchmark</a:t>
            </a:r>
            <a:r>
              <a:rPr sz="1600"/>
              <a:t>  </a:t>
            </a:r>
            <a:r>
              <a:rPr sz="1600"/>
              <a:t>build new vs. extend AgentHarm / Agent-SafetyBench?</a:t>
            </a:r>
          </a:p>
          <a:p>
            <a:pPr lvl="1"/>
            <a:r>
              <a:rPr b="1" sz="1600"/>
              <a:t>MDPI paper</a:t>
            </a:r>
            <a:r>
              <a:rPr sz="1600"/>
              <a:t>  </a:t>
            </a:r>
            <a:r>
              <a:rPr sz="1600"/>
              <a:t>worth tracking down before we decide?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/>
            <a:r>
              <a:rPr b="1" sz="2000"/>
              <a:t>Risk of duplicating</a:t>
            </a:r>
          </a:p>
          <a:p>
            <a:pPr lvl="1"/>
            <a:r>
              <a:rPr b="1" sz="1600"/>
              <a:t>Cat 1</a:t>
            </a:r>
            <a:r>
              <a:rPr sz="1600"/>
              <a:t>  </a:t>
            </a:r>
            <a:r>
              <a:rPr sz="1600"/>
              <a:t>MCP-in-SoS already does the static side well.</a:t>
            </a:r>
          </a:p>
          <a:p>
            <a:pPr lvl="1"/>
            <a:r>
              <a:rPr b="1" sz="1600"/>
              <a:t>Cat 3</a:t>
            </a:r>
            <a:r>
              <a:rPr sz="1600"/>
              <a:t>  </a:t>
            </a:r>
            <a:r>
              <a:rPr sz="1600"/>
              <a:t>Entra OAuth is a near-template for permissions.</a:t>
            </a:r>
          </a:p>
          <a:p>
            <a:pPr lvl="1"/>
            <a:r>
              <a:rPr b="1" sz="1600"/>
              <a:t>Cat 5</a:t>
            </a:r>
            <a:r>
              <a:rPr sz="1600"/>
              <a:t>  </a:t>
            </a:r>
            <a:r>
              <a:rPr sz="1600"/>
              <a:t>ProGuard already covers probabilistic dynamic.</a:t>
            </a:r>
          </a:p>
          <a:p>
            <a:pPr lvl="1"/>
            <a:r>
              <a:rPr b="1" sz="1600"/>
              <a:t>My edge</a:t>
            </a:r>
            <a:r>
              <a:rPr sz="1600"/>
              <a:t>  </a:t>
            </a:r>
            <a:r>
              <a:rPr sz="1600"/>
              <a:t>blend, MCP-specificity, full-pipeline eval?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Which direction would you want to see in the next draft?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b888f069-4316-4301-b40e-a42e2759f60d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bc213cb-2322-46ee-a57c-56e573321373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7646</TotalTime>
  <Words>1183</Words>
  <Application>Microsoft Office PowerPoint</Application>
  <PresentationFormat>Custom</PresentationFormat>
  <Paragraphs>231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Lenovo Master</vt:lpstr>
      <vt:lpstr>Presentation  title here </vt:lpstr>
      <vt:lpstr>Template layouts</vt:lpstr>
      <vt:lpstr>Template 101</vt:lpstr>
      <vt:lpstr>How to make this your default template</vt:lpstr>
      <vt:lpstr>Installing theme files</vt:lpstr>
      <vt:lpstr>Update footer with correct information classification</vt:lpstr>
      <vt:lpstr>Color scheme</vt:lpstr>
      <vt:lpstr>Colors for light slides</vt:lpstr>
      <vt:lpstr>Colors for dark slides</vt:lpstr>
      <vt:lpstr>Section divider</vt:lpstr>
      <vt:lpstr>Titles are Arial, bold, 32 pt, sentence case</vt:lpstr>
      <vt:lpstr>Two column layout</vt:lpstr>
      <vt:lpstr>PowerPoint Presentation</vt:lpstr>
      <vt:lpstr>Content w/ product</vt:lpstr>
      <vt:lpstr>Content w/ image layout</vt:lpstr>
      <vt:lpstr>PowerPoint Presentation</vt:lpstr>
      <vt:lpstr>PowerPoint Presentation</vt:lpstr>
      <vt:lpstr>Charts overview</vt:lpstr>
      <vt:lpstr>Bar chart</vt:lpstr>
      <vt:lpstr>Line chart</vt:lpstr>
      <vt:lpstr>Pie chart</vt:lpstr>
      <vt:lpstr>Tables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 </dc:title>
  <dc:creator>user</dc:creator>
  <cp:lastModifiedBy>user</cp:lastModifiedBy>
  <cp:revision>1</cp:revision>
  <dcterms:created xsi:type="dcterms:W3CDTF">2025-02-26T11:25:58Z</dcterms:created>
  <dcterms:modified xsi:type="dcterms:W3CDTF">2025-03-03T18:52:53Z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