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1" r:id="rId5"/>
  </p:sldIdLst>
  <p:sldSz cx="32369125" cy="43341925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51">
          <p15:clr>
            <a:srgbClr val="A4A3A4"/>
          </p15:clr>
        </p15:guide>
        <p15:guide id="2" pos="101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F8377"/>
    <a:srgbClr val="E6A7A0"/>
    <a:srgbClr val="F5A270"/>
    <a:srgbClr val="538BD1"/>
    <a:srgbClr val="F4B084"/>
    <a:srgbClr val="BDE4FF"/>
    <a:srgbClr val="F5A623"/>
    <a:srgbClr val="FF9933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3888" autoAdjust="0"/>
  </p:normalViewPr>
  <p:slideViewPr>
    <p:cSldViewPr>
      <p:cViewPr>
        <p:scale>
          <a:sx n="30" d="100"/>
          <a:sy n="30" d="100"/>
        </p:scale>
        <p:origin x="2424" y="-3396"/>
      </p:cViewPr>
      <p:guideLst>
        <p:guide orient="horz" pos="13651"/>
        <p:guide pos="101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56312" y="0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t" anchorCtr="0" compatLnSpc="1">
            <a:prstTxWarp prst="textNoShape">
              <a:avLst/>
            </a:prstTxWarp>
          </a:bodyPr>
          <a:lstStyle>
            <a:lvl1pPr algn="r" defTabSz="957057">
              <a:defRPr sz="1200"/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23" y="0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t" anchorCtr="0" compatLnSpc="1">
            <a:prstTxWarp prst="textNoShape">
              <a:avLst/>
            </a:prstTxWarp>
          </a:bodyPr>
          <a:lstStyle>
            <a:lvl1pPr defTabSz="957057">
              <a:defRPr sz="1200"/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11363" y="747713"/>
            <a:ext cx="2782887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59" y="4722946"/>
            <a:ext cx="5445099" cy="447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56312" y="9445892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b" anchorCtr="0" compatLnSpc="1">
            <a:prstTxWarp prst="textNoShape">
              <a:avLst/>
            </a:prstTxWarp>
          </a:bodyPr>
          <a:lstStyle>
            <a:lvl1pPr algn="r" defTabSz="957057">
              <a:defRPr sz="1200"/>
            </a:lvl1pPr>
          </a:lstStyle>
          <a:p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23" y="9445892"/>
            <a:ext cx="2949301" cy="49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694" tIns="47847" rIns="95694" bIns="47847" numCol="1" anchor="b" anchorCtr="0" compatLnSpc="1">
            <a:prstTxWarp prst="textNoShape">
              <a:avLst/>
            </a:prstTxWarp>
          </a:bodyPr>
          <a:lstStyle>
            <a:lvl1pPr defTabSz="957057">
              <a:defRPr sz="1200">
                <a:cs typeface="Times New Roman" pitchFamily="18" charset="0"/>
              </a:defRPr>
            </a:lvl1pPr>
          </a:lstStyle>
          <a:p>
            <a:fld id="{E72682E6-6C74-47FB-920F-F50B326D22C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5348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77608" indent="-299080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96321" indent="-239264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674849" indent="-239264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153376" indent="-239264" defTabSz="957057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595095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3036813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478531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920250" indent="-239264" defTabSz="95705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B38CC30-DA1F-49BE-AC1F-317B52A17764}" type="slidenum">
              <a:rPr lang="he-IL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11363" y="747713"/>
            <a:ext cx="2782887" cy="372745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Objective Solution: Compute Risk Score  according to potential damage on MCP Assets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5604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7685" y="13464591"/>
            <a:ext cx="27513756" cy="9289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5369" y="24560424"/>
            <a:ext cx="22658388" cy="1107627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F3AD4C-B1A4-4648-A11B-F0460F23AB2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70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90DF7-3CD2-4AF0-B951-70F8E91CD512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68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7740" y="27851702"/>
            <a:ext cx="27513756" cy="8608188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7740" y="18370656"/>
            <a:ext cx="27513756" cy="9481046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62B269-A3A3-4FD3-8466-AD9502BAFE3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99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7684" y="12522506"/>
            <a:ext cx="13679809" cy="2600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61632" y="12522506"/>
            <a:ext cx="13679809" cy="2600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123229-AC76-4618-A031-E128D8B00520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212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6" y="1735182"/>
            <a:ext cx="29132213" cy="722365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8456" y="9702272"/>
            <a:ext cx="14302786" cy="40422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8456" y="13744508"/>
            <a:ext cx="14302786" cy="249727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43067" y="9702272"/>
            <a:ext cx="14307602" cy="40422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43067" y="13744508"/>
            <a:ext cx="14307602" cy="2497277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EDD7F-7159-47EB-8A46-A206BA26ED1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48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4F6708-5E01-41C6-815B-9A13291A595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57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306928-7BF8-41A8-A0C2-18693BF29AD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87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6" y="1726153"/>
            <a:ext cx="10650021" cy="734404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55429" y="1726153"/>
            <a:ext cx="18095240" cy="369911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8456" y="9070201"/>
            <a:ext cx="10650021" cy="2964708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917DF3-26E6-4E5B-98A1-3001EC096525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33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5376" y="30339347"/>
            <a:ext cx="19421475" cy="3581729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45376" y="3872180"/>
            <a:ext cx="19421475" cy="260051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5376" y="33921076"/>
            <a:ext cx="19421475" cy="508665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15FBC9-CE7E-44E3-A47F-577D47223BE7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313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8FBD4-681F-4336-ABAD-ECA0354D13D1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61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063002" y="3854121"/>
            <a:ext cx="6878439" cy="346720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7685" y="3854121"/>
            <a:ext cx="20481178" cy="346720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DCDDB3-1474-437C-AD89-FF78335A9384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86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27685" y="3854121"/>
            <a:ext cx="27513756" cy="722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31713" tIns="165856" rIns="331713" bIns="16585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27685" y="12522506"/>
            <a:ext cx="27513756" cy="260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27684" y="39487805"/>
            <a:ext cx="6743568" cy="289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>
            <a:lvl1pPr>
              <a:defRPr sz="51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59451" y="39487805"/>
            <a:ext cx="10250223" cy="289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>
            <a:lvl1pPr algn="ctr">
              <a:defRPr sz="51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197873" y="39487805"/>
            <a:ext cx="6743568" cy="289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31713" tIns="165856" rIns="331713" bIns="165856" numCol="1" anchor="t" anchorCtr="0" compatLnSpc="1">
            <a:prstTxWarp prst="textNoShape">
              <a:avLst/>
            </a:prstTxWarp>
          </a:bodyPr>
          <a:lstStyle>
            <a:lvl1pPr algn="r">
              <a:defRPr sz="5100">
                <a:cs typeface="Times New Roman" pitchFamily="18" charset="0"/>
              </a:defRPr>
            </a:lvl1pPr>
          </a:lstStyle>
          <a:p>
            <a:fld id="{DB1F701B-4915-4BBB-B207-298E6EA31F49}" type="slidenum">
              <a:rPr lang="he-IL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2pPr>
      <a:lvl3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3pPr>
      <a:lvl4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4pPr>
      <a:lvl5pPr algn="ctr" defTabSz="3317875" rtl="0" eaLnBrk="0" fontAlgn="base" hangingPunct="0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5pPr>
      <a:lvl6pPr marL="4572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6pPr>
      <a:lvl7pPr marL="9144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7pPr>
      <a:lvl8pPr marL="13716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8pPr>
      <a:lvl9pPr marL="1828800" algn="ctr" defTabSz="3317875" rtl="0" fontAlgn="base">
        <a:spcBef>
          <a:spcPct val="0"/>
        </a:spcBef>
        <a:spcAft>
          <a:spcPct val="0"/>
        </a:spcAft>
        <a:defRPr sz="16000">
          <a:solidFill>
            <a:schemeClr val="tx2"/>
          </a:solidFill>
          <a:latin typeface="Times New Roman" pitchFamily="18" charset="0"/>
        </a:defRPr>
      </a:lvl9pPr>
    </p:titleStyle>
    <p:bodyStyle>
      <a:lvl1pPr marL="1244600" indent="-1244600" algn="l" defTabSz="3317875" rtl="0" eaLnBrk="0" fontAlgn="base" hangingPunct="0">
        <a:spcBef>
          <a:spcPct val="20000"/>
        </a:spcBef>
        <a:spcAft>
          <a:spcPct val="0"/>
        </a:spcAft>
        <a:buChar char="•"/>
        <a:defRPr sz="11600">
          <a:solidFill>
            <a:schemeClr val="tx1"/>
          </a:solidFill>
          <a:latin typeface="+mn-lt"/>
          <a:ea typeface="+mn-ea"/>
          <a:cs typeface="+mn-cs"/>
        </a:defRPr>
      </a:lvl1pPr>
      <a:lvl2pPr marL="2693988" indent="-1038225" algn="l" defTabSz="3317875" rtl="0" eaLnBrk="0" fontAlgn="base" hangingPunct="0">
        <a:spcBef>
          <a:spcPct val="20000"/>
        </a:spcBef>
        <a:spcAft>
          <a:spcPct val="0"/>
        </a:spcAft>
        <a:buChar char="–"/>
        <a:defRPr sz="10200">
          <a:solidFill>
            <a:schemeClr val="tx1"/>
          </a:solidFill>
          <a:latin typeface="+mn-lt"/>
        </a:defRPr>
      </a:lvl2pPr>
      <a:lvl3pPr marL="4148138" indent="-830263" algn="l" defTabSz="3317875" rtl="0" eaLnBrk="0" fontAlgn="base" hangingPunct="0">
        <a:spcBef>
          <a:spcPct val="20000"/>
        </a:spcBef>
        <a:spcAft>
          <a:spcPct val="0"/>
        </a:spcAft>
        <a:buChar char="•"/>
        <a:defRPr sz="8700">
          <a:solidFill>
            <a:schemeClr val="tx1"/>
          </a:solidFill>
          <a:latin typeface="+mn-lt"/>
        </a:defRPr>
      </a:lvl3pPr>
      <a:lvl4pPr marL="5803900" indent="-830263" algn="l" defTabSz="3317875" rtl="0" eaLnBrk="0" fontAlgn="base" hangingPunct="0">
        <a:spcBef>
          <a:spcPct val="20000"/>
        </a:spcBef>
        <a:spcAft>
          <a:spcPct val="0"/>
        </a:spcAft>
        <a:buChar char="–"/>
        <a:defRPr sz="7300">
          <a:solidFill>
            <a:schemeClr val="tx1"/>
          </a:solidFill>
          <a:latin typeface="+mn-lt"/>
        </a:defRPr>
      </a:lvl4pPr>
      <a:lvl5pPr marL="7464425" indent="-828675" algn="l" defTabSz="3317875" rtl="0" eaLnBrk="0" fontAlgn="base" hangingPunct="0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5pPr>
      <a:lvl6pPr marL="79216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6pPr>
      <a:lvl7pPr marL="83788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7pPr>
      <a:lvl8pPr marL="88360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8pPr>
      <a:lvl9pPr marL="9293225" indent="-828675" algn="l" defTabSz="3317875" rtl="0" fontAlgn="base">
        <a:spcBef>
          <a:spcPct val="20000"/>
        </a:spcBef>
        <a:spcAft>
          <a:spcPct val="0"/>
        </a:spcAft>
        <a:buChar char="»"/>
        <a:defRPr sz="7300">
          <a:solidFill>
            <a:schemeClr val="tx1"/>
          </a:solidFill>
          <a:latin typeface="+mn-lt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6D595B5-73B1-48EE-9F92-8BA44566E881}"/>
              </a:ext>
            </a:extLst>
          </p:cNvPr>
          <p:cNvSpPr/>
          <p:nvPr/>
        </p:nvSpPr>
        <p:spPr bwMode="auto">
          <a:xfrm>
            <a:off x="-35042" y="6405266"/>
            <a:ext cx="32404167" cy="3787620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-1" y="2538872"/>
            <a:ext cx="32369125" cy="5030129"/>
          </a:xfrm>
          <a:prstGeom prst="rect">
            <a:avLst/>
          </a:prstGeom>
          <a:solidFill>
            <a:srgbClr val="FFCB97">
              <a:alpha val="2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23473" y="100551"/>
            <a:ext cx="20246607" cy="2729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bg2"/>
            </a:outerShdw>
          </a:effectLst>
        </p:spPr>
        <p:txBody>
          <a:bodyPr wrap="none" lIns="96751" tIns="48376" rIns="96751" bIns="48376" anchor="ctr"/>
          <a:lstStyle/>
          <a:p>
            <a:pPr algn="ctr" defTabSz="968375">
              <a:defRPr/>
            </a:pPr>
            <a:endParaRPr lang="he-IL" sz="2500" dirty="0"/>
          </a:p>
        </p:txBody>
      </p:sp>
      <p:sp>
        <p:nvSpPr>
          <p:cNvPr id="2054" name="Text Box 23"/>
          <p:cNvSpPr txBox="1">
            <a:spLocks noChangeArrowheads="1"/>
          </p:cNvSpPr>
          <p:nvPr/>
        </p:nvSpPr>
        <p:spPr bwMode="auto">
          <a:xfrm>
            <a:off x="21895104" y="34400195"/>
            <a:ext cx="8174168" cy="820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6751" tIns="48376" rIns="96751" bIns="48376">
            <a:spAutoFit/>
          </a:bodyPr>
          <a:lstStyle>
            <a:lvl1pPr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endParaRPr lang="he-IL" altLang="en-US" sz="47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60" name="Rectangle 36"/>
          <p:cNvSpPr>
            <a:spLocks noChangeArrowheads="1"/>
          </p:cNvSpPr>
          <p:nvPr/>
        </p:nvSpPr>
        <p:spPr bwMode="auto">
          <a:xfrm>
            <a:off x="0" y="-1822468"/>
            <a:ext cx="32369125" cy="224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51" tIns="48376" rIns="96751" bIns="48376">
            <a:spAutoFit/>
          </a:bodyPr>
          <a:lstStyle>
            <a:lvl1pPr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he-IL" altLang="en-US" sz="10200" b="1">
                <a:latin typeface="Letter Gothic" pitchFamily="49" charset="0"/>
                <a:cs typeface="David" pitchFamily="2" charset="-79"/>
              </a:rPr>
              <a:t> </a:t>
            </a:r>
            <a:endParaRPr lang="en-US" altLang="en-US" sz="10200" b="1">
              <a:latin typeface="Letter Gothic" pitchFamily="49" charset="0"/>
              <a:cs typeface="David" pitchFamily="2" charset="-79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en-US" sz="2500"/>
          </a:p>
        </p:txBody>
      </p:sp>
      <p:sp>
        <p:nvSpPr>
          <p:cNvPr id="2061" name="Rectangle 4"/>
          <p:cNvSpPr>
            <a:spLocks noChangeArrowheads="1"/>
          </p:cNvSpPr>
          <p:nvPr/>
        </p:nvSpPr>
        <p:spPr bwMode="auto">
          <a:xfrm>
            <a:off x="1253981" y="-22848"/>
            <a:ext cx="29458151" cy="249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51" tIns="48376" rIns="96751" bIns="48376">
            <a:spAutoFit/>
          </a:bodyPr>
          <a:lstStyle>
            <a:lvl1pPr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rtl="1" eaLnBrk="1" hangingPunct="1"/>
            <a:r>
              <a:rPr lang="en-US" altLang="en-US" sz="6000" b="1" dirty="0">
                <a:cs typeface="David" pitchFamily="2" charset="-79"/>
              </a:rPr>
              <a:t>    </a:t>
            </a:r>
            <a:r>
              <a:rPr lang="he-IL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הפקולטה למדעי הנדסה</a:t>
            </a:r>
          </a:p>
          <a:p>
            <a:pPr algn="ctr" rtl="1" eaLnBrk="1" hangingPunct="1"/>
            <a:r>
              <a:rPr lang="en-US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    </a:t>
            </a:r>
            <a:r>
              <a:rPr lang="he-IL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המחלקה להנדסת מערכות תוכנה ומידע</a:t>
            </a:r>
          </a:p>
          <a:p>
            <a:pPr algn="ctr" rtl="1" eaLnBrk="1" hangingPunct="1"/>
            <a:r>
              <a:rPr lang="he-IL" altLang="en-US" sz="480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David" pitchFamily="2" charset="-79"/>
              </a:rPr>
              <a:t>התוכנית להנדסת מערכות מידע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6216" y="282927"/>
            <a:ext cx="42979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7200" b="1" dirty="0">
                <a:latin typeface="+mj-lt"/>
                <a:cs typeface="David" panose="020E0502060401010101" pitchFamily="34" charset="-79"/>
              </a:rPr>
              <a:t>מס' פרויקט</a:t>
            </a:r>
          </a:p>
          <a:p>
            <a:pPr algn="ctr"/>
            <a:r>
              <a:rPr lang="he-IL" sz="7200" b="1" dirty="0">
                <a:latin typeface="+mj-lt"/>
                <a:cs typeface="David" panose="020E0502060401010101" pitchFamily="34" charset="-79"/>
              </a:rPr>
              <a:t>33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86444-A489-68E0-A509-F50657D6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1148" y="25616"/>
            <a:ext cx="8510957" cy="23283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B2EF10-1DD4-4F47-B4D3-8A615D245358}"/>
              </a:ext>
            </a:extLst>
          </p:cNvPr>
          <p:cNvSpPr/>
          <p:nvPr/>
        </p:nvSpPr>
        <p:spPr bwMode="auto">
          <a:xfrm>
            <a:off x="229163" y="6668718"/>
            <a:ext cx="31902942" cy="681393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CAC7F-8EFB-488B-8CB1-4792804A8E6B}"/>
              </a:ext>
            </a:extLst>
          </p:cNvPr>
          <p:cNvSpPr/>
          <p:nvPr/>
        </p:nvSpPr>
        <p:spPr bwMode="auto">
          <a:xfrm>
            <a:off x="229163" y="13611337"/>
            <a:ext cx="18782434" cy="6997795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1AF2BF-47A2-466B-B24F-CFFCB53046CA}"/>
              </a:ext>
            </a:extLst>
          </p:cNvPr>
          <p:cNvSpPr/>
          <p:nvPr/>
        </p:nvSpPr>
        <p:spPr bwMode="auto">
          <a:xfrm>
            <a:off x="19011597" y="13611336"/>
            <a:ext cx="13075154" cy="6976409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7C34F8-1E0B-4F8F-A5AC-F65EE9D47C2B}"/>
              </a:ext>
            </a:extLst>
          </p:cNvPr>
          <p:cNvSpPr/>
          <p:nvPr/>
        </p:nvSpPr>
        <p:spPr bwMode="auto">
          <a:xfrm>
            <a:off x="229163" y="32322835"/>
            <a:ext cx="31902941" cy="688004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88902-A139-4D26-A4F1-14979E11B022}"/>
              </a:ext>
            </a:extLst>
          </p:cNvPr>
          <p:cNvSpPr txBox="1"/>
          <p:nvPr/>
        </p:nvSpPr>
        <p:spPr>
          <a:xfrm>
            <a:off x="789370" y="6853726"/>
            <a:ext cx="303873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Background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42B844-E889-49CB-9DB9-92C664E37516}"/>
              </a:ext>
            </a:extLst>
          </p:cNvPr>
          <p:cNvSpPr txBox="1"/>
          <p:nvPr/>
        </p:nvSpPr>
        <p:spPr>
          <a:xfrm>
            <a:off x="19419232" y="13696341"/>
            <a:ext cx="125226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Illustrative Use Case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645C3-7EA6-4A13-8502-A04E47DF173D}"/>
              </a:ext>
            </a:extLst>
          </p:cNvPr>
          <p:cNvSpPr txBox="1"/>
          <p:nvPr/>
        </p:nvSpPr>
        <p:spPr>
          <a:xfrm>
            <a:off x="427198" y="13704334"/>
            <a:ext cx="190556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Questions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DAE6E1-1AC8-41DE-A571-E50FD1DA83C8}"/>
              </a:ext>
            </a:extLst>
          </p:cNvPr>
          <p:cNvSpPr/>
          <p:nvPr/>
        </p:nvSpPr>
        <p:spPr bwMode="auto">
          <a:xfrm>
            <a:off x="229162" y="20780943"/>
            <a:ext cx="31857589" cy="11410061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202FA0-1C4F-48ED-89EF-E018B5F5DCBA}"/>
              </a:ext>
            </a:extLst>
          </p:cNvPr>
          <p:cNvSpPr/>
          <p:nvPr/>
        </p:nvSpPr>
        <p:spPr bwMode="auto">
          <a:xfrm>
            <a:off x="282910" y="6790964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62" name="Text Box 96"/>
          <p:cNvSpPr txBox="1">
            <a:spLocks noChangeArrowheads="1"/>
          </p:cNvSpPr>
          <p:nvPr/>
        </p:nvSpPr>
        <p:spPr bwMode="auto">
          <a:xfrm>
            <a:off x="0" y="2817657"/>
            <a:ext cx="32369124" cy="3139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algn="ctr">
              <a:defRPr sz="5000" b="1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837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83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Aft>
                <a:spcPts val="2400"/>
              </a:spcAft>
            </a:pPr>
            <a:r>
              <a:rPr lang="en-US" altLang="en-US" sz="6600" dirty="0"/>
              <a:t>Risk Score Computation for MCP Servers</a:t>
            </a:r>
            <a:endParaRPr lang="he-IL" altLang="en-US" sz="6600" dirty="0"/>
          </a:p>
          <a:p>
            <a:r>
              <a:rPr lang="en-US" altLang="en-US" dirty="0"/>
              <a:t>Mr. Tomer Ovadya</a:t>
            </a:r>
            <a:endParaRPr lang="he-IL" altLang="en-US" dirty="0"/>
          </a:p>
          <a:p>
            <a:r>
              <a:rPr lang="en-US" altLang="en-US" dirty="0"/>
              <a:t>Supervisors: </a:t>
            </a:r>
            <a:r>
              <a:rPr lang="en-US" dirty="0"/>
              <a:t>Prof. Asaf Shabtai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C875DD-4977-4278-ACEC-339AFEC104C1}"/>
              </a:ext>
            </a:extLst>
          </p:cNvPr>
          <p:cNvSpPr/>
          <p:nvPr/>
        </p:nvSpPr>
        <p:spPr bwMode="auto">
          <a:xfrm>
            <a:off x="219103" y="39263468"/>
            <a:ext cx="31892881" cy="427122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0A714F-4325-4AD6-919A-4AE58E4BEACB}"/>
              </a:ext>
            </a:extLst>
          </p:cNvPr>
          <p:cNvSpPr txBox="1"/>
          <p:nvPr/>
        </p:nvSpPr>
        <p:spPr>
          <a:xfrm>
            <a:off x="301515" y="39337176"/>
            <a:ext cx="316404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Contributions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2C2644-4995-45FC-88D8-805653FC1BD9}"/>
              </a:ext>
            </a:extLst>
          </p:cNvPr>
          <p:cNvSpPr txBox="1"/>
          <p:nvPr/>
        </p:nvSpPr>
        <p:spPr>
          <a:xfrm>
            <a:off x="282909" y="32454468"/>
            <a:ext cx="318038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 MCP Security Risks: Asset’s and Tool’s Risk Scoring</a:t>
            </a:r>
            <a:endParaRPr lang="en-IL" sz="5000" b="1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FDCE4B-5093-4B8B-98BB-2A6672DB9033}"/>
              </a:ext>
            </a:extLst>
          </p:cNvPr>
          <p:cNvSpPr txBox="1"/>
          <p:nvPr/>
        </p:nvSpPr>
        <p:spPr>
          <a:xfrm>
            <a:off x="526217" y="20978810"/>
            <a:ext cx="314157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Methodology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D92293-2BEB-411E-B9DB-B56717FB8DA3}"/>
              </a:ext>
            </a:extLst>
          </p:cNvPr>
          <p:cNvSpPr/>
          <p:nvPr/>
        </p:nvSpPr>
        <p:spPr bwMode="auto">
          <a:xfrm>
            <a:off x="249370" y="13653985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5A71A6A-41C7-496F-8A3E-F1932AE86181}"/>
              </a:ext>
            </a:extLst>
          </p:cNvPr>
          <p:cNvSpPr/>
          <p:nvPr/>
        </p:nvSpPr>
        <p:spPr bwMode="auto">
          <a:xfrm>
            <a:off x="249370" y="20848878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D5880A6-23F4-4AA4-B5BF-D98BB838D9FB}"/>
              </a:ext>
            </a:extLst>
          </p:cNvPr>
          <p:cNvSpPr/>
          <p:nvPr/>
        </p:nvSpPr>
        <p:spPr bwMode="auto">
          <a:xfrm>
            <a:off x="265785" y="32383507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2E62AF9-49D2-4BE1-B92E-8945E7E78990}"/>
              </a:ext>
            </a:extLst>
          </p:cNvPr>
          <p:cNvSpPr/>
          <p:nvPr/>
        </p:nvSpPr>
        <p:spPr bwMode="auto">
          <a:xfrm>
            <a:off x="249370" y="39315790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015CB53-20A0-4FB4-BC6B-09D0A29E1D61}"/>
              </a:ext>
            </a:extLst>
          </p:cNvPr>
          <p:cNvSpPr/>
          <p:nvPr/>
        </p:nvSpPr>
        <p:spPr bwMode="auto">
          <a:xfrm>
            <a:off x="19189425" y="13667431"/>
            <a:ext cx="1080000" cy="1080000"/>
          </a:xfrm>
          <a:prstGeom prst="ellipse">
            <a:avLst/>
          </a:prstGeom>
          <a:solidFill>
            <a:srgbClr val="BDE4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IL" sz="6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63" name="TextBox 2062"/>
          <p:cNvSpPr txBox="1"/>
          <p:nvPr/>
        </p:nvSpPr>
        <p:spPr>
          <a:xfrm>
            <a:off x="911581" y="7794796"/>
            <a:ext cx="22709567" cy="468067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4000" b="1" i="0" dirty="0">
                <a:solidFill>
                  <a:srgbClr val="20208C"/>
                </a:solidFill>
                <a:latin typeface="Tahoma"/>
              </a:rPr>
              <a:t>Why MCP needs a new risk model.  </a:t>
            </a:r>
            <a:r>
              <a:rPr sz="3600" b="0" i="0" dirty="0">
                <a:solidFill>
                  <a:srgbClr val="222222"/>
                </a:solidFill>
                <a:latin typeface="Tahoma"/>
              </a:rPr>
              <a:t>The Model Context Protocol lets AI agents invoke server-side tools that read and modify real assets files, code, databases. This collapses the classic trust boundary: the agent and its prompts become an active threat surface acting directly on the server.</a:t>
            </a:r>
            <a:r>
              <a:rPr lang="en-US" sz="3600" b="0" i="0" dirty="0">
                <a:solidFill>
                  <a:srgbClr val="222222"/>
                </a:solidFill>
                <a:latin typeface="Tahoma"/>
              </a:rPr>
              <a:t> 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defenses focus on the agent. We focus on the MCP server, its tools, and the assets they can reach.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4000" b="1" i="0" dirty="0">
                <a:solidFill>
                  <a:srgbClr val="20208C"/>
                </a:solidFill>
                <a:latin typeface="Tahoma"/>
              </a:rPr>
              <a:t>Existing scores miss the point.  </a:t>
            </a:r>
            <a:r>
              <a:rPr sz="3600" b="0" i="0" dirty="0">
                <a:solidFill>
                  <a:srgbClr val="222222"/>
                </a:solidFill>
                <a:latin typeface="Tahoma"/>
              </a:rPr>
              <a:t>CVSS, FAIR and DREAD rate software vulnerabilities not the misuse potential of legitimate tools acting on sensitive assets. They are static, asset-agnostic, and blind to runtime tool </a:t>
            </a:r>
            <a:r>
              <a:rPr lang="en-US" sz="3600" b="0" i="0" dirty="0">
                <a:solidFill>
                  <a:srgbClr val="222222"/>
                </a:solidFill>
                <a:latin typeface="Tahoma"/>
              </a:rPr>
              <a:t>behavior</a:t>
            </a:r>
            <a:r>
              <a:rPr sz="3600" b="0" i="0" dirty="0">
                <a:solidFill>
                  <a:srgbClr val="222222"/>
                </a:solidFill>
                <a:latin typeface="Tahoma"/>
              </a:rPr>
              <a:t>.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4000" b="1" i="0" dirty="0">
                <a:solidFill>
                  <a:srgbClr val="20208C"/>
                </a:solidFill>
                <a:latin typeface="Tahoma"/>
              </a:rPr>
              <a:t>We invert the model.  </a:t>
            </a:r>
            <a:r>
              <a:rPr sz="3600" b="0" i="0" dirty="0">
                <a:solidFill>
                  <a:srgbClr val="222222"/>
                </a:solidFill>
                <a:latin typeface="Tahoma"/>
              </a:rPr>
              <a:t>The MCP server and its assets are the protected entity; every exposed tool is a misuse vector whose risk depends on which asset it can reach and what it can do to it.</a:t>
            </a:r>
          </a:p>
        </p:txBody>
      </p:sp>
      <p:pic>
        <p:nvPicPr>
          <p:cNvPr id="2064" name="Picture 2063" descr="WhatsApp_Image_2026-05-20_at_13_33_45.jpe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2910" y="23424567"/>
            <a:ext cx="14013217" cy="7047720"/>
          </a:xfrm>
          <a:prstGeom prst="rect">
            <a:avLst/>
          </a:prstGeom>
        </p:spPr>
      </p:pic>
      <p:sp>
        <p:nvSpPr>
          <p:cNvPr id="2066" name="TextBox 2065"/>
          <p:cNvSpPr txBox="1"/>
          <p:nvPr/>
        </p:nvSpPr>
        <p:spPr>
          <a:xfrm>
            <a:off x="685799" y="14813280"/>
            <a:ext cx="17946005" cy="54039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103000"/>
              </a:lnSpc>
              <a:spcAft>
                <a:spcPts val="800"/>
              </a:spcAft>
            </a:pPr>
            <a:r>
              <a:rPr sz="4000" b="1" i="0" dirty="0">
                <a:solidFill>
                  <a:srgbClr val="20208C"/>
                </a:solidFill>
                <a:latin typeface="Tahoma"/>
              </a:rPr>
              <a:t>RQ1</a:t>
            </a:r>
            <a:r>
              <a:rPr sz="3600" b="1" i="0" dirty="0">
                <a:solidFill>
                  <a:srgbClr val="20208C"/>
                </a:solidFill>
                <a:latin typeface="Tahoma"/>
              </a:rPr>
              <a:t>  </a:t>
            </a:r>
            <a:r>
              <a:rPr sz="3600" b="0" i="0" dirty="0">
                <a:solidFill>
                  <a:srgbClr val="222222"/>
                </a:solidFill>
                <a:latin typeface="Tahoma"/>
              </a:rPr>
              <a:t>How can we quantify the risk a given MCP tool poses to a given asset both before and during execution?</a:t>
            </a:r>
            <a:endParaRPr lang="en-US" sz="3600" b="0" i="0" dirty="0">
              <a:solidFill>
                <a:srgbClr val="222222"/>
              </a:solidFill>
              <a:latin typeface="Tahoma"/>
            </a:endParaRPr>
          </a:p>
          <a:p>
            <a:pPr algn="l">
              <a:lnSpc>
                <a:spcPct val="103000"/>
              </a:lnSpc>
              <a:spcAft>
                <a:spcPts val="1400"/>
              </a:spcAft>
            </a:pPr>
            <a:r>
              <a:rPr sz="4000" b="1" i="0" dirty="0">
                <a:solidFill>
                  <a:srgbClr val="20208C"/>
                </a:solidFill>
                <a:latin typeface="Tahoma"/>
              </a:rPr>
              <a:t>RQ2</a:t>
            </a:r>
            <a:r>
              <a:rPr sz="3600" b="1" i="0" dirty="0">
                <a:solidFill>
                  <a:srgbClr val="20208C"/>
                </a:solidFill>
                <a:latin typeface="Tahoma"/>
              </a:rPr>
              <a:t>  </a:t>
            </a:r>
            <a:r>
              <a:rPr sz="3600" b="0" i="0" dirty="0">
                <a:solidFill>
                  <a:srgbClr val="222222"/>
                </a:solidFill>
                <a:latin typeface="Tahoma"/>
              </a:rPr>
              <a:t>Does decomposing tools into atomic operations and weighting them by asset sensitivity yield risk scores more faithful than static, vulnerability-centric frameworks?</a:t>
            </a:r>
            <a:endParaRPr lang="en-US" sz="3600" b="0" i="0" dirty="0">
              <a:solidFill>
                <a:srgbClr val="222222"/>
              </a:solidFill>
              <a:latin typeface="Tahoma"/>
            </a:endParaRPr>
          </a:p>
          <a:p>
            <a:pPr>
              <a:lnSpc>
                <a:spcPct val="103000"/>
              </a:lnSpc>
              <a:spcAft>
                <a:spcPts val="1400"/>
              </a:spcAft>
            </a:pPr>
            <a:r>
              <a:rPr lang="en-US" sz="4000" b="1" dirty="0">
                <a:solidFill>
                  <a:srgbClr val="000099"/>
                </a:solidFill>
                <a:latin typeface="Tahoma"/>
              </a:rPr>
              <a:t>RQ3</a:t>
            </a:r>
            <a:r>
              <a:rPr lang="en-US" sz="3600" dirty="0">
                <a:solidFill>
                  <a:srgbClr val="222222"/>
                </a:solidFill>
                <a:latin typeface="Tahoma"/>
              </a:rPr>
              <a:t> How does incorporating runtime input values change the estimated risk of MCP tool-asset interactions compared to pre-execution risk scores?</a:t>
            </a:r>
          </a:p>
          <a:p>
            <a:pPr>
              <a:lnSpc>
                <a:spcPct val="103000"/>
              </a:lnSpc>
              <a:spcAft>
                <a:spcPts val="1400"/>
              </a:spcAft>
            </a:pPr>
            <a:r>
              <a:rPr lang="en-US" sz="4000" b="1" dirty="0">
                <a:solidFill>
                  <a:srgbClr val="000099"/>
                </a:solidFill>
                <a:latin typeface="Tahoma"/>
              </a:rPr>
              <a:t>RQ4</a:t>
            </a:r>
            <a:r>
              <a:rPr lang="en-US" sz="3600" dirty="0">
                <a:solidFill>
                  <a:srgbClr val="222222"/>
                </a:solidFill>
                <a:latin typeface="Tahoma"/>
              </a:rPr>
              <a:t> How does the risk score of an MCP tool operation affected by users with different roles or privileges?</a:t>
            </a:r>
            <a:endParaRPr sz="3600" b="0" i="0" dirty="0">
              <a:solidFill>
                <a:srgbClr val="222222"/>
              </a:solidFill>
              <a:latin typeface="Tahoma"/>
            </a:endParaRPr>
          </a:p>
        </p:txBody>
      </p:sp>
      <p:pic>
        <p:nvPicPr>
          <p:cNvPr id="2068" name="Picture 2067" descr="WhatsApp_Image_2026-05-19_at_14_03_26.jpeg"/>
          <p:cNvPicPr>
            <a:picLocks noChangeAspect="1"/>
          </p:cNvPicPr>
          <p:nvPr/>
        </p:nvPicPr>
        <p:blipFill rotWithShape="1">
          <a:blip r:embed="rId5"/>
          <a:srcRect t="13750"/>
          <a:stretch/>
        </p:blipFill>
        <p:spPr>
          <a:xfrm>
            <a:off x="16351402" y="22895568"/>
            <a:ext cx="15371245" cy="7705035"/>
          </a:xfrm>
          <a:prstGeom prst="rect">
            <a:avLst/>
          </a:prstGeom>
        </p:spPr>
      </p:pic>
      <p:sp>
        <p:nvSpPr>
          <p:cNvPr id="2072" name="Rounded Rectangle 2071"/>
          <p:cNvSpPr/>
          <p:nvPr/>
        </p:nvSpPr>
        <p:spPr>
          <a:xfrm>
            <a:off x="640080" y="40370759"/>
            <a:ext cx="7509510" cy="2971165"/>
          </a:xfrm>
          <a:prstGeom prst="roundRect">
            <a:avLst/>
          </a:prstGeom>
          <a:solidFill>
            <a:srgbClr val="F1F4F9"/>
          </a:solidFill>
          <a:ln w="19050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20208C"/>
                </a:solidFill>
                <a:latin typeface="Tahoma"/>
              </a:rPr>
              <a:t>Asset-centric risk cube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222222"/>
                </a:solidFill>
                <a:latin typeface="Tahoma"/>
              </a:rPr>
              <a:t>Combines asset sensitivity, atomic-operation severity and tool capability into a Directory × File-type × Tool score.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endParaRPr dirty="0">
              <a:solidFill>
                <a:srgbClr val="222222"/>
              </a:solidFill>
              <a:latin typeface="Tahoma"/>
            </a:endParaRPr>
          </a:p>
        </p:txBody>
      </p:sp>
      <p:sp>
        <p:nvSpPr>
          <p:cNvPr id="2073" name="Rounded Rectangle 2072"/>
          <p:cNvSpPr/>
          <p:nvPr/>
        </p:nvSpPr>
        <p:spPr>
          <a:xfrm>
            <a:off x="8423910" y="40370759"/>
            <a:ext cx="7509510" cy="2971165"/>
          </a:xfrm>
          <a:prstGeom prst="roundRect">
            <a:avLst/>
          </a:prstGeom>
          <a:solidFill>
            <a:srgbClr val="F1F4F9"/>
          </a:solidFill>
          <a:ln w="19050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20208C"/>
                </a:solidFill>
                <a:latin typeface="Tahoma"/>
              </a:rPr>
              <a:t>Static + dynamic framework</a:t>
            </a:r>
          </a:p>
          <a:p>
            <a:pPr algn="ctr">
              <a:lnSpc>
                <a:spcPct val="102000"/>
              </a:lnSpc>
            </a:pPr>
            <a:r>
              <a:rPr lang="en-US" sz="3200" dirty="0">
                <a:solidFill>
                  <a:srgbClr val="222222"/>
                </a:solidFill>
                <a:latin typeface="Tahoma"/>
              </a:rPr>
              <a:t>Two-mode scoring that updates risk from observed tool calls — unlike static CVSS / FAIR baselines.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endParaRPr dirty="0">
              <a:solidFill>
                <a:srgbClr val="222222"/>
              </a:solidFill>
              <a:latin typeface="Tahoma"/>
            </a:endParaRPr>
          </a:p>
        </p:txBody>
      </p:sp>
      <p:sp>
        <p:nvSpPr>
          <p:cNvPr id="2074" name="Rounded Rectangle 2073"/>
          <p:cNvSpPr/>
          <p:nvPr/>
        </p:nvSpPr>
        <p:spPr>
          <a:xfrm>
            <a:off x="16207740" y="40370759"/>
            <a:ext cx="7509510" cy="2971165"/>
          </a:xfrm>
          <a:prstGeom prst="roundRect">
            <a:avLst/>
          </a:prstGeom>
          <a:solidFill>
            <a:srgbClr val="F1F4F9"/>
          </a:solidFill>
          <a:ln w="19050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000099"/>
                </a:solidFill>
                <a:latin typeface="Tahoma"/>
              </a:rPr>
              <a:t>Transparent scoring 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222222"/>
                </a:solidFill>
                <a:latin typeface="Tahoma"/>
              </a:rPr>
              <a:t>Each risk score is decomposable into its asset-sensitivity, operation-severity and runtime-parameter contributions, making decisions auditable.</a:t>
            </a:r>
            <a:endParaRPr sz="3200" dirty="0">
              <a:solidFill>
                <a:srgbClr val="222222"/>
              </a:solidFill>
              <a:latin typeface="Tahoma"/>
            </a:endParaRPr>
          </a:p>
        </p:txBody>
      </p:sp>
      <p:sp>
        <p:nvSpPr>
          <p:cNvPr id="2075" name="Rounded Rectangle 2074"/>
          <p:cNvSpPr/>
          <p:nvPr/>
        </p:nvSpPr>
        <p:spPr>
          <a:xfrm>
            <a:off x="23991570" y="40370759"/>
            <a:ext cx="7509510" cy="2971165"/>
          </a:xfrm>
          <a:prstGeom prst="roundRect">
            <a:avLst/>
          </a:prstGeom>
          <a:solidFill>
            <a:srgbClr val="F1F4F9"/>
          </a:solidFill>
          <a:ln w="19050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t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000099"/>
                </a:solidFill>
                <a:latin typeface="Tahoma"/>
              </a:rPr>
              <a:t>Human-interpretable output 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222222"/>
                </a:solidFill>
                <a:latin typeface="Tahoma"/>
              </a:rPr>
              <a:t>Scores come with the reasoning behind them, turning a number into an actionable, explainable risk signal for security teams.</a:t>
            </a:r>
            <a:endParaRPr sz="3200" dirty="0">
              <a:solidFill>
                <a:srgbClr val="222222"/>
              </a:solidFill>
              <a:latin typeface="Tahoma"/>
            </a:endParaRPr>
          </a:p>
        </p:txBody>
      </p:sp>
      <p:pic>
        <p:nvPicPr>
          <p:cNvPr id="98" name="Content Placeholder 5">
            <a:extLst>
              <a:ext uri="{FF2B5EF4-FFF2-40B4-BE49-F238E27FC236}">
                <a16:creationId xmlns:a16="http://schemas.microsoft.com/office/drawing/2014/main" id="{966DE587-437F-4D08-BB0E-FCA209265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255" y="33988672"/>
            <a:ext cx="7691339" cy="4402062"/>
          </a:xfrm>
          <a:prstGeom prst="rect">
            <a:avLst/>
          </a:prstGeom>
        </p:spPr>
      </p:pic>
      <p:pic>
        <p:nvPicPr>
          <p:cNvPr id="99" name="Content Placeholder 4">
            <a:extLst>
              <a:ext uri="{FF2B5EF4-FFF2-40B4-BE49-F238E27FC236}">
                <a16:creationId xmlns:a16="http://schemas.microsoft.com/office/drawing/2014/main" id="{622C6AE1-FC9F-47BA-9D7A-C572F24374E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9931"/>
          <a:stretch/>
        </p:blipFill>
        <p:spPr>
          <a:xfrm>
            <a:off x="14134947" y="33947843"/>
            <a:ext cx="17712339" cy="4537998"/>
          </a:xfrm>
          <a:prstGeom prst="rect">
            <a:avLst/>
          </a:prstGeom>
        </p:spPr>
      </p:pic>
      <p:pic>
        <p:nvPicPr>
          <p:cNvPr id="1028" name="Picture 4" descr="Model Context Protocol (MCP): a guide to unlock seamless AI ...">
            <a:extLst>
              <a:ext uri="{FF2B5EF4-FFF2-40B4-BE49-F238E27FC236}">
                <a16:creationId xmlns:a16="http://schemas.microsoft.com/office/drawing/2014/main" id="{91106F7E-2A14-4E42-9224-45A2CA1F2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1" r="12607"/>
          <a:stretch/>
        </p:blipFill>
        <p:spPr bwMode="auto">
          <a:xfrm>
            <a:off x="24616478" y="7579891"/>
            <a:ext cx="7130500" cy="51137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7" name="TextBox 2076"/>
          <p:cNvSpPr txBox="1"/>
          <p:nvPr/>
        </p:nvSpPr>
        <p:spPr>
          <a:xfrm>
            <a:off x="8544582" y="33448073"/>
            <a:ext cx="5522976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20208C"/>
                </a:solidFill>
                <a:latin typeface="Tahoma"/>
              </a:rPr>
              <a:t>MCP Tools</a:t>
            </a:r>
            <a:r>
              <a:rPr sz="2800" b="1" i="0" dirty="0">
                <a:solidFill>
                  <a:srgbClr val="20208C"/>
                </a:solidFill>
                <a:latin typeface="Tahoma"/>
              </a:rPr>
              <a:t> risk</a:t>
            </a:r>
            <a:r>
              <a:rPr lang="en-US" sz="2800" b="1" i="0" dirty="0">
                <a:solidFill>
                  <a:srgbClr val="20208C"/>
                </a:solidFill>
                <a:latin typeface="Tahoma"/>
              </a:rPr>
              <a:t>s</a:t>
            </a:r>
            <a:endParaRPr sz="2800" b="1" i="0" dirty="0">
              <a:solidFill>
                <a:srgbClr val="20208C"/>
              </a:solidFill>
              <a:latin typeface="Tahoma"/>
            </a:endParaRPr>
          </a:p>
        </p:txBody>
      </p:sp>
      <p:sp>
        <p:nvSpPr>
          <p:cNvPr id="2078" name="TextBox 2077"/>
          <p:cNvSpPr txBox="1"/>
          <p:nvPr/>
        </p:nvSpPr>
        <p:spPr>
          <a:xfrm>
            <a:off x="1091225" y="33448073"/>
            <a:ext cx="6062472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20208C"/>
                </a:solidFill>
                <a:latin typeface="Tahoma"/>
              </a:rPr>
              <a:t>Assets</a:t>
            </a:r>
            <a:r>
              <a:rPr sz="2800" b="1" i="0" dirty="0">
                <a:solidFill>
                  <a:srgbClr val="20208C"/>
                </a:solidFill>
                <a:latin typeface="Tahoma"/>
              </a:rPr>
              <a:t> risk</a:t>
            </a:r>
            <a:r>
              <a:rPr lang="en-US" sz="2800" b="1" i="0" dirty="0">
                <a:solidFill>
                  <a:srgbClr val="20208C"/>
                </a:solidFill>
                <a:latin typeface="Tahoma"/>
              </a:rPr>
              <a:t>s</a:t>
            </a:r>
            <a:endParaRPr sz="2800" b="1" i="0" dirty="0">
              <a:solidFill>
                <a:srgbClr val="20208C"/>
              </a:solidFill>
              <a:latin typeface="Tahoma"/>
            </a:endParaRPr>
          </a:p>
        </p:txBody>
      </p:sp>
      <p:sp>
        <p:nvSpPr>
          <p:cNvPr id="2079" name="TextBox 2078"/>
          <p:cNvSpPr txBox="1"/>
          <p:nvPr/>
        </p:nvSpPr>
        <p:spPr>
          <a:xfrm>
            <a:off x="20430239" y="33448073"/>
            <a:ext cx="6812279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20208C"/>
                </a:solidFill>
                <a:latin typeface="Tahoma"/>
              </a:rPr>
              <a:t>Joined Asset x Tool</a:t>
            </a:r>
            <a:r>
              <a:rPr sz="2800" b="1" i="0" dirty="0">
                <a:solidFill>
                  <a:srgbClr val="20208C"/>
                </a:solidFill>
                <a:latin typeface="Tahoma"/>
              </a:rPr>
              <a:t> risk</a:t>
            </a:r>
            <a:r>
              <a:rPr lang="en-US" sz="2800" b="1" i="0" dirty="0">
                <a:solidFill>
                  <a:srgbClr val="20208C"/>
                </a:solidFill>
                <a:latin typeface="Tahoma"/>
              </a:rPr>
              <a:t>s</a:t>
            </a:r>
            <a:endParaRPr sz="2800" b="1" i="0" dirty="0">
              <a:solidFill>
                <a:srgbClr val="20208C"/>
              </a:solidFill>
              <a:latin typeface="Tahom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4E6421-68AE-4A4F-85C7-7E5BEC197971}"/>
              </a:ext>
            </a:extLst>
          </p:cNvPr>
          <p:cNvGrpSpPr/>
          <p:nvPr/>
        </p:nvGrpSpPr>
        <p:grpSpPr>
          <a:xfrm>
            <a:off x="11130178" y="38448659"/>
            <a:ext cx="9738360" cy="585216"/>
            <a:chOff x="20973772" y="38007931"/>
            <a:chExt cx="9738360" cy="585216"/>
          </a:xfrm>
        </p:grpSpPr>
        <p:sp>
          <p:nvSpPr>
            <p:cNvPr id="2081" name="Rectangle 2080"/>
            <p:cNvSpPr/>
            <p:nvPr/>
          </p:nvSpPr>
          <p:spPr>
            <a:xfrm>
              <a:off x="20973772" y="38090227"/>
              <a:ext cx="420624" cy="420624"/>
            </a:xfrm>
            <a:prstGeom prst="rect">
              <a:avLst/>
            </a:prstGeom>
            <a:solidFill>
              <a:srgbClr val="A9D08E"/>
            </a:solidFill>
            <a:ln w="9525">
              <a:solidFill>
                <a:srgbClr val="9999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2" name="TextBox 2081"/>
            <p:cNvSpPr txBox="1"/>
            <p:nvPr/>
          </p:nvSpPr>
          <p:spPr>
            <a:xfrm>
              <a:off x="21485836" y="38007931"/>
              <a:ext cx="1408176" cy="585216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000" b="1" i="0">
                  <a:solidFill>
                    <a:srgbClr val="222222"/>
                  </a:solidFill>
                  <a:latin typeface="Tahoma"/>
                </a:rPr>
                <a:t>Low</a:t>
              </a:r>
            </a:p>
          </p:txBody>
        </p:sp>
        <p:sp>
          <p:nvSpPr>
            <p:cNvPr id="2083" name="Rectangle 2082"/>
            <p:cNvSpPr/>
            <p:nvPr/>
          </p:nvSpPr>
          <p:spPr>
            <a:xfrm>
              <a:off x="23031172" y="38090227"/>
              <a:ext cx="420624" cy="420624"/>
            </a:xfrm>
            <a:prstGeom prst="rect">
              <a:avLst/>
            </a:prstGeom>
            <a:solidFill>
              <a:srgbClr val="FFEB9C"/>
            </a:solidFill>
            <a:ln w="9525">
              <a:solidFill>
                <a:srgbClr val="9999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4" name="TextBox 2083"/>
            <p:cNvSpPr txBox="1"/>
            <p:nvPr/>
          </p:nvSpPr>
          <p:spPr>
            <a:xfrm>
              <a:off x="23543236" y="38007931"/>
              <a:ext cx="2093976" cy="585216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000" b="1" i="0" dirty="0">
                  <a:solidFill>
                    <a:srgbClr val="222222"/>
                  </a:solidFill>
                  <a:latin typeface="Tahoma"/>
                </a:rPr>
                <a:t>Medium</a:t>
              </a:r>
            </a:p>
          </p:txBody>
        </p:sp>
        <p:sp>
          <p:nvSpPr>
            <p:cNvPr id="2085" name="Rectangle 2084"/>
            <p:cNvSpPr/>
            <p:nvPr/>
          </p:nvSpPr>
          <p:spPr>
            <a:xfrm>
              <a:off x="25774372" y="38090227"/>
              <a:ext cx="420624" cy="420624"/>
            </a:xfrm>
            <a:prstGeom prst="rect">
              <a:avLst/>
            </a:prstGeom>
            <a:solidFill>
              <a:srgbClr val="F4B084"/>
            </a:solidFill>
            <a:ln w="9525">
              <a:solidFill>
                <a:srgbClr val="9999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6" name="TextBox 2085"/>
            <p:cNvSpPr txBox="1"/>
            <p:nvPr/>
          </p:nvSpPr>
          <p:spPr>
            <a:xfrm>
              <a:off x="26286436" y="38007931"/>
              <a:ext cx="1545336" cy="585216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000" b="1" i="0">
                  <a:solidFill>
                    <a:srgbClr val="222222"/>
                  </a:solidFill>
                  <a:latin typeface="Tahoma"/>
                </a:rPr>
                <a:t>High</a:t>
              </a:r>
            </a:p>
          </p:txBody>
        </p:sp>
        <p:sp>
          <p:nvSpPr>
            <p:cNvPr id="2087" name="Rectangle 2086"/>
            <p:cNvSpPr/>
            <p:nvPr/>
          </p:nvSpPr>
          <p:spPr>
            <a:xfrm>
              <a:off x="27968932" y="38090227"/>
              <a:ext cx="420624" cy="42062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9999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8" name="TextBox 2087"/>
            <p:cNvSpPr txBox="1"/>
            <p:nvPr/>
          </p:nvSpPr>
          <p:spPr>
            <a:xfrm>
              <a:off x="28480996" y="38007931"/>
              <a:ext cx="2231136" cy="585216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000" b="1" i="0">
                  <a:solidFill>
                    <a:srgbClr val="222222"/>
                  </a:solidFill>
                  <a:latin typeface="Tahoma"/>
                </a:rPr>
                <a:t>Critical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6BC59BD-7BB8-4610-95A9-2CA69B4544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931" y="33972197"/>
            <a:ext cx="5198279" cy="44185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4FD64A6-28CC-44FD-941C-36455C7E304E}"/>
              </a:ext>
            </a:extLst>
          </p:cNvPr>
          <p:cNvSpPr/>
          <p:nvPr/>
        </p:nvSpPr>
        <p:spPr>
          <a:xfrm>
            <a:off x="16864636" y="30689705"/>
            <a:ext cx="14590411" cy="11675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ctr">
              <a:lnSpc>
                <a:spcPct val="104000"/>
              </a:lnSpc>
              <a:spcAft>
                <a:spcPts val="1000"/>
              </a:spcAft>
            </a:pPr>
            <a:r>
              <a:rPr lang="en-US" altLang="en-US" sz="4000" b="1" dirty="0">
                <a:solidFill>
                  <a:srgbClr val="20208C"/>
                </a:solidFill>
                <a:latin typeface="Tahoma"/>
              </a:rPr>
              <a:t>Roadmap for Asset-Centric Risk Score Computation in MCP Environments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CDA145E-8706-4E3E-BAB5-7D3FE5B6F6BB}"/>
              </a:ext>
            </a:extLst>
          </p:cNvPr>
          <p:cNvSpPr/>
          <p:nvPr/>
        </p:nvSpPr>
        <p:spPr>
          <a:xfrm>
            <a:off x="775812" y="30698693"/>
            <a:ext cx="15371245" cy="116754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04000"/>
              </a:lnSpc>
              <a:spcAft>
                <a:spcPts val="1000"/>
              </a:spcAft>
            </a:pPr>
            <a:r>
              <a:rPr lang="en-US" altLang="en-US" sz="4000" b="1" dirty="0">
                <a:solidFill>
                  <a:srgbClr val="20208C"/>
                </a:solidFill>
                <a:latin typeface="Tahoma"/>
              </a:rPr>
              <a:t>MCP Risk Score Triage</a:t>
            </a:r>
            <a:endParaRPr lang="en-US" altLang="en-US" sz="4000" dirty="0">
              <a:latin typeface="Tahom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02720C-6DB8-4D76-9FD1-1956F9B412F4}"/>
              </a:ext>
            </a:extLst>
          </p:cNvPr>
          <p:cNvSpPr/>
          <p:nvPr/>
        </p:nvSpPr>
        <p:spPr>
          <a:xfrm>
            <a:off x="2004252" y="22106538"/>
            <a:ext cx="28459639" cy="7180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ctr">
              <a:lnSpc>
                <a:spcPct val="104000"/>
              </a:lnSpc>
              <a:spcAft>
                <a:spcPts val="1000"/>
              </a:spcAft>
            </a:pPr>
            <a:r>
              <a:rPr lang="en-US" sz="4800" b="1" dirty="0">
                <a:solidFill>
                  <a:srgbClr val="CF8377"/>
                </a:solidFill>
                <a:latin typeface="Lucida Console" panose="020B0609040504020204" pitchFamily="49" charset="0"/>
              </a:rPr>
              <a:t>Compute a risk score that reflects the potential damage to MCP-managed assets</a:t>
            </a:r>
          </a:p>
        </p:txBody>
      </p:sp>
      <p:pic>
        <p:nvPicPr>
          <p:cNvPr id="1026" name="Picture 2" descr="https://cyber.bgu.ac.il/wp-content/uploads/2017/11/310x56_Logo.png">
            <a:extLst>
              <a:ext uri="{FF2B5EF4-FFF2-40B4-BE49-F238E27FC236}">
                <a16:creationId xmlns:a16="http://schemas.microsoft.com/office/drawing/2014/main" id="{8A5EE35B-A7EB-4BD5-944C-88157279D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33" y="4270320"/>
            <a:ext cx="8268798" cy="149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File:Lenovo Global Corporate Logo.png - Wikimedia Commons">
            <a:extLst>
              <a:ext uri="{FF2B5EF4-FFF2-40B4-BE49-F238E27FC236}">
                <a16:creationId xmlns:a16="http://schemas.microsoft.com/office/drawing/2014/main" id="{B2CC9A6E-A1FF-42F4-801C-15609F26E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6911" y="4019362"/>
            <a:ext cx="5309835" cy="177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9" name="TextBox 2088"/>
          <p:cNvSpPr txBox="1"/>
          <p:nvPr/>
        </p:nvSpPr>
        <p:spPr>
          <a:xfrm>
            <a:off x="19568160" y="14813280"/>
            <a:ext cx="12161520" cy="868680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20208C"/>
                </a:solidFill>
                <a:latin typeface="Tahoma"/>
              </a:rPr>
              <a:t>Filesystem MCP server</a:t>
            </a:r>
            <a:r>
              <a:rPr sz="2200" b="0" i="0">
                <a:solidFill>
                  <a:srgbClr val="222222"/>
                </a:solidFill>
                <a:latin typeface="Tahoma"/>
              </a:rPr>
              <a:t> — a concrete, high-exposure testbed.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900" b="0" i="1">
                <a:solidFill>
                  <a:srgbClr val="5E6874"/>
                </a:solidFill>
                <a:latin typeface="Tahoma"/>
              </a:rPr>
              <a:t>A realistic enterprise file tree exercised by both benign and malicious agent traffic.</a:t>
            </a:r>
          </a:p>
        </p:txBody>
      </p:sp>
      <p:sp>
        <p:nvSpPr>
          <p:cNvPr id="2090" name="Rounded Rectangle 2089"/>
          <p:cNvSpPr/>
          <p:nvPr/>
        </p:nvSpPr>
        <p:spPr>
          <a:xfrm>
            <a:off x="19568160" y="15773400"/>
            <a:ext cx="3810000" cy="1280160"/>
          </a:xfrm>
          <a:prstGeom prst="roundRect">
            <a:avLst/>
          </a:prstGeom>
          <a:solidFill>
            <a:srgbClr val="F1F4F9"/>
          </a:solidFill>
          <a:ln w="15875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0208C"/>
                </a:solidFill>
                <a:latin typeface="Tahoma"/>
              </a:rPr>
              <a:t>8</a:t>
            </a:r>
          </a:p>
          <a:p>
            <a:pPr algn="ctr"/>
            <a:r>
              <a:rPr sz="1900">
                <a:solidFill>
                  <a:srgbClr val="222222"/>
                </a:solidFill>
                <a:latin typeface="Tahoma"/>
              </a:rPr>
              <a:t>Filesystem tools</a:t>
            </a:r>
          </a:p>
        </p:txBody>
      </p:sp>
      <p:sp>
        <p:nvSpPr>
          <p:cNvPr id="2091" name="Rounded Rectangle 2090"/>
          <p:cNvSpPr/>
          <p:nvPr/>
        </p:nvSpPr>
        <p:spPr>
          <a:xfrm>
            <a:off x="23743920" y="15773400"/>
            <a:ext cx="3810000" cy="1280160"/>
          </a:xfrm>
          <a:prstGeom prst="roundRect">
            <a:avLst/>
          </a:prstGeom>
          <a:solidFill>
            <a:srgbClr val="F1F4F9"/>
          </a:solidFill>
          <a:ln w="15875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0208C"/>
                </a:solidFill>
                <a:latin typeface="Tahoma"/>
              </a:rPr>
              <a:t>8</a:t>
            </a:r>
          </a:p>
          <a:p>
            <a:pPr algn="ctr"/>
            <a:r>
              <a:rPr sz="1900">
                <a:solidFill>
                  <a:srgbClr val="222222"/>
                </a:solidFill>
                <a:latin typeface="Tahoma"/>
              </a:rPr>
              <a:t>Directory classes</a:t>
            </a:r>
          </a:p>
        </p:txBody>
      </p:sp>
      <p:sp>
        <p:nvSpPr>
          <p:cNvPr id="2092" name="Rounded Rectangle 2091"/>
          <p:cNvSpPr/>
          <p:nvPr/>
        </p:nvSpPr>
        <p:spPr>
          <a:xfrm>
            <a:off x="27919680" y="15773400"/>
            <a:ext cx="3810000" cy="1280160"/>
          </a:xfrm>
          <a:prstGeom prst="roundRect">
            <a:avLst/>
          </a:prstGeom>
          <a:solidFill>
            <a:srgbClr val="F1F4F9"/>
          </a:solidFill>
          <a:ln w="15875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0208C"/>
                </a:solidFill>
                <a:latin typeface="Tahoma"/>
              </a:rPr>
              <a:t>12</a:t>
            </a:r>
          </a:p>
          <a:p>
            <a:pPr algn="ctr"/>
            <a:r>
              <a:rPr sz="1900">
                <a:solidFill>
                  <a:srgbClr val="222222"/>
                </a:solidFill>
                <a:latin typeface="Tahoma"/>
              </a:rPr>
              <a:t>File types</a:t>
            </a:r>
          </a:p>
        </p:txBody>
      </p:sp>
      <p:sp>
        <p:nvSpPr>
          <p:cNvPr id="2093" name="TextBox 2092"/>
          <p:cNvSpPr txBox="1"/>
          <p:nvPr/>
        </p:nvSpPr>
        <p:spPr>
          <a:xfrm>
            <a:off x="19568160" y="17172432"/>
            <a:ext cx="12161520" cy="420624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0208C"/>
                </a:solidFill>
                <a:latin typeface="Tahoma"/>
              </a:rPr>
              <a:t>Exposed tools</a:t>
            </a:r>
          </a:p>
        </p:txBody>
      </p:sp>
      <p:sp>
        <p:nvSpPr>
          <p:cNvPr id="2094" name="Rounded Rectangle 2093"/>
          <p:cNvSpPr/>
          <p:nvPr/>
        </p:nvSpPr>
        <p:spPr>
          <a:xfrm>
            <a:off x="19568160" y="17611344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read_file</a:t>
            </a:r>
          </a:p>
        </p:txBody>
      </p:sp>
      <p:sp>
        <p:nvSpPr>
          <p:cNvPr id="2095" name="Rounded Rectangle 2094"/>
          <p:cNvSpPr/>
          <p:nvPr/>
        </p:nvSpPr>
        <p:spPr>
          <a:xfrm>
            <a:off x="22672548" y="17611344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write_file</a:t>
            </a:r>
          </a:p>
        </p:txBody>
      </p:sp>
      <p:sp>
        <p:nvSpPr>
          <p:cNvPr id="2096" name="Rounded Rectangle 2095"/>
          <p:cNvSpPr/>
          <p:nvPr/>
        </p:nvSpPr>
        <p:spPr>
          <a:xfrm>
            <a:off x="25776936" y="17611344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edit_file</a:t>
            </a:r>
          </a:p>
        </p:txBody>
      </p:sp>
      <p:sp>
        <p:nvSpPr>
          <p:cNvPr id="2097" name="Rounded Rectangle 2096"/>
          <p:cNvSpPr/>
          <p:nvPr/>
        </p:nvSpPr>
        <p:spPr>
          <a:xfrm>
            <a:off x="28881324" y="17611344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move_file</a:t>
            </a:r>
          </a:p>
        </p:txBody>
      </p:sp>
      <p:sp>
        <p:nvSpPr>
          <p:cNvPr id="2098" name="Rounded Rectangle 2097"/>
          <p:cNvSpPr/>
          <p:nvPr/>
        </p:nvSpPr>
        <p:spPr>
          <a:xfrm>
            <a:off x="19568160" y="18214848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search</a:t>
            </a:r>
          </a:p>
        </p:txBody>
      </p:sp>
      <p:sp>
        <p:nvSpPr>
          <p:cNvPr id="2099" name="Rounded Rectangle 2098"/>
          <p:cNvSpPr/>
          <p:nvPr/>
        </p:nvSpPr>
        <p:spPr>
          <a:xfrm>
            <a:off x="22672548" y="18214848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create_dir</a:t>
            </a:r>
          </a:p>
        </p:txBody>
      </p:sp>
      <p:sp>
        <p:nvSpPr>
          <p:cNvPr id="2100" name="Rounded Rectangle 2099"/>
          <p:cNvSpPr/>
          <p:nvPr/>
        </p:nvSpPr>
        <p:spPr>
          <a:xfrm>
            <a:off x="25776936" y="18214848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list_dir</a:t>
            </a:r>
          </a:p>
        </p:txBody>
      </p:sp>
      <p:sp>
        <p:nvSpPr>
          <p:cNvPr id="2101" name="Rounded Rectangle 2100"/>
          <p:cNvSpPr/>
          <p:nvPr/>
        </p:nvSpPr>
        <p:spPr>
          <a:xfrm>
            <a:off x="28881324" y="18214848"/>
            <a:ext cx="2848356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1900" b="1">
                <a:solidFill>
                  <a:srgbClr val="20208C"/>
                </a:solidFill>
                <a:latin typeface="Consolas"/>
              </a:rPr>
              <a:t>get_file_info</a:t>
            </a:r>
          </a:p>
        </p:txBody>
      </p:sp>
      <p:sp>
        <p:nvSpPr>
          <p:cNvPr id="2102" name="Rounded Rectangle 2101"/>
          <p:cNvSpPr/>
          <p:nvPr/>
        </p:nvSpPr>
        <p:spPr>
          <a:xfrm>
            <a:off x="19568160" y="18873216"/>
            <a:ext cx="12161520" cy="1481328"/>
          </a:xfrm>
          <a:prstGeom prst="roundRect">
            <a:avLst/>
          </a:prstGeom>
          <a:solidFill>
            <a:srgbClr val="F1F4F9"/>
          </a:solidFill>
          <a:ln w="15875">
            <a:solidFill>
              <a:srgbClr val="202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rIns="274320" rtlCol="0" anchor="ctr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>
                <a:solidFill>
                  <a:srgbClr val="20208C"/>
                </a:solidFill>
                <a:latin typeface="Tahoma"/>
              </a:rPr>
              <a:t>Directories:  </a:t>
            </a:r>
            <a:r>
              <a:rPr sz="1900">
                <a:solidFill>
                  <a:srgbClr val="222222"/>
                </a:solidFill>
                <a:latin typeface="Tahoma"/>
              </a:rPr>
              <a:t>Sensitive Docs → Public  —  ranked by sensitivity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>
                <a:solidFill>
                  <a:srgbClr val="20208C"/>
                </a:solidFill>
                <a:latin typeface="Tahoma"/>
              </a:rPr>
              <a:t>File types:  </a:t>
            </a:r>
            <a:r>
              <a:rPr sz="1900">
                <a:solidFill>
                  <a:srgbClr val="222222"/>
                </a:solidFill>
                <a:latin typeface="Tahoma"/>
              </a:rPr>
              <a:t>.sys · .exe → .md · .png  —  ranked by misuse impact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800" b="0" i="0">
                <a:solidFill>
                  <a:srgbClr val="222222"/>
                </a:solidFill>
                <a:latin typeface="Tahoma"/>
              </a:rPr>
              <a:t>Each call → atomic ops → </a:t>
            </a:r>
            <a:r>
              <a:rPr sz="1800" b="1" i="0">
                <a:solidFill>
                  <a:srgbClr val="20208C"/>
                </a:solidFill>
                <a:latin typeface="Tahoma"/>
              </a:rPr>
              <a:t>an asset-aware score</a:t>
            </a:r>
            <a:r>
              <a:rPr sz="1800" b="0" i="0">
                <a:solidFill>
                  <a:srgbClr val="222222"/>
                </a:solidFill>
                <a:latin typeface="Tahoma"/>
              </a:rPr>
              <a:t> over the Directory × File-type × Tool cube.</a:t>
            </a:r>
          </a:p>
        </p:txBody>
      </p:sp>
    </p:spTree>
    <p:extLst>
      <p:ext uri="{BB962C8B-B14F-4D97-AF65-F5344CB8AC3E}">
        <p14:creationId xmlns:p14="http://schemas.microsoft.com/office/powerpoint/2010/main" val="13621454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6966b5-b9a2-4047-8ad7-6349593315f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9B09D47D9E93A4429F0CD6A06BF73F25" ma:contentTypeVersion="16" ma:contentTypeDescription="צור מסמך חדש." ma:contentTypeScope="" ma:versionID="fdf7ff24ce10d9952e300244f4ecde98">
  <xsd:schema xmlns:xsd="http://www.w3.org/2001/XMLSchema" xmlns:xs="http://www.w3.org/2001/XMLSchema" xmlns:p="http://schemas.microsoft.com/office/2006/metadata/properties" xmlns:ns3="ce6966b5-b9a2-4047-8ad7-6349593315f9" xmlns:ns4="594791ce-020e-4729-8bdd-6fb9560a4b17" targetNamespace="http://schemas.microsoft.com/office/2006/metadata/properties" ma:root="true" ma:fieldsID="8bb01feffeb1449176f795b7d7c386e4" ns3:_="" ns4:_="">
    <xsd:import namespace="ce6966b5-b9a2-4047-8ad7-6349593315f9"/>
    <xsd:import namespace="594791ce-020e-4729-8bdd-6fb9560a4b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966b5-b9a2-4047-8ad7-634959331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791ce-020e-4729-8bdd-6fb9560a4b1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משותף עם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משותף עם פרטים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של רמז לשיתוף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E571A3-4274-4753-B71D-96B1981441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655F4B-4B13-40E3-8E0D-DAA9123C95D7}">
  <ds:schemaRefs>
    <ds:schemaRef ds:uri="http://schemas.microsoft.com/office/2006/documentManagement/types"/>
    <ds:schemaRef ds:uri="http://purl.org/dc/terms/"/>
    <ds:schemaRef ds:uri="http://www.w3.org/XML/1998/namespace"/>
    <ds:schemaRef ds:uri="594791ce-020e-4729-8bdd-6fb9560a4b17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ce6966b5-b9a2-4047-8ad7-6349593315f9"/>
  </ds:schemaRefs>
</ds:datastoreItem>
</file>

<file path=customXml/itemProps3.xml><?xml version="1.0" encoding="utf-8"?>
<ds:datastoreItem xmlns:ds="http://schemas.openxmlformats.org/officeDocument/2006/customXml" ds:itemID="{1BE8EB55-46F3-4C11-83C4-D76BA21ADF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6966b5-b9a2-4047-8ad7-6349593315f9"/>
    <ds:schemaRef ds:uri="594791ce-020e-4729-8bdd-6fb9560a4b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13184</TotalTime>
  <Words>550</Words>
  <Application>Microsoft Office PowerPoint</Application>
  <PresentationFormat>Custom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Consolas</vt:lpstr>
      <vt:lpstr>David</vt:lpstr>
      <vt:lpstr>Letter Gothic</vt:lpstr>
      <vt:lpstr>Lucida Console</vt:lpstr>
      <vt:lpstr>Tahoma</vt:lpstr>
      <vt:lpstr>Times New Roman</vt:lpstr>
      <vt:lpstr>Default Design</vt:lpstr>
      <vt:lpstr>PowerPoint Presentation</vt:lpstr>
    </vt:vector>
  </TitlesOfParts>
  <Company>Cain Project 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Tracy Volz</dc:creator>
  <cp:lastModifiedBy>תומר עובדיה</cp:lastModifiedBy>
  <cp:revision>223</cp:revision>
  <cp:lastPrinted>2024-07-02T11:58:41Z</cp:lastPrinted>
  <dcterms:created xsi:type="dcterms:W3CDTF">2000-03-31T17:39:35Z</dcterms:created>
  <dcterms:modified xsi:type="dcterms:W3CDTF">2026-05-26T09:48:54Z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0x0101009B09D47D9E93A4429F0CD6A06BF73F25</vt:lpwstr>
  </property>
</Properties>
</file>