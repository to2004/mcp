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1920240"/>
            <a:ext cx="11368735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000" b="1" i="0">
                <a:solidFill>
                  <a:srgbClr val="FFFFFF"/>
                </a:solidFill>
              </a:rPr>
              <a:t>POC Protocol — 3 MCPs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11480" y="3429000"/>
            <a:ext cx="11368735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0" i="0">
                <a:solidFill>
                  <a:srgbClr val="BBBBBB"/>
                </a:solidFill>
              </a:rPr>
              <a:t>Filesystem  ·  SQLite  ·  Slack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4160520"/>
            <a:ext cx="11368735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888888"/>
                </a:solidFill>
              </a:rPr>
              <a:t>We selected 3 MCPs to cover a wide range of operations and misuse possibilities.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3 MCPs — Wide Operational Coverage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6873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8EE"/>
                </a:solidFill>
              </a:rPr>
              <a:t>Selected to span local file I/O, structured data queries, and real-time team communication.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3698138" cy="5303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76072" y="1069848"/>
            <a:ext cx="336895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FILESYSTEM MCP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76072" y="1673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Exposes a local directory tree to an AI agent, allowing it to read,</a:t>
            </a:r>
          </a:p>
          <a:p>
            <a:pPr algn="l"/>
            <a:r>
              <a:rPr sz="1300" b="0" i="0">
                <a:solidFill>
                  <a:srgbClr val="222222"/>
                </a:solidFill>
              </a:rPr>
              <a:t>write, and manipulate files directly on the host machine.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576072" y="3410712"/>
            <a:ext cx="3368954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76072" y="3502152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Key tools: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76072" y="3931920"/>
            <a:ext cx="118872" cy="1828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58952" y="3849624"/>
            <a:ext cx="3186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ourier New"/>
              </a:rPr>
              <a:t>read_file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76072" y="4572000"/>
            <a:ext cx="118872" cy="1828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4489704"/>
            <a:ext cx="3186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ourier New"/>
              </a:rPr>
              <a:t>write_file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76072" y="5212080"/>
            <a:ext cx="118872" cy="182880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58952" y="5129784"/>
            <a:ext cx="3186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ourier New"/>
              </a:rPr>
              <a:t>move_file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246778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246778" y="960120"/>
            <a:ext cx="3698138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411370" y="1069848"/>
            <a:ext cx="336895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SQLite DATABASE MCP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1370" y="1673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Wraps a SQLite database and lets an AI agent query and modify</a:t>
            </a:r>
          </a:p>
          <a:p>
            <a:pPr algn="l"/>
            <a:r>
              <a:rPr sz="1300" b="0" i="0">
                <a:solidFill>
                  <a:srgbClr val="222222"/>
                </a:solidFill>
              </a:rPr>
              <a:t>structured data through SQL operations.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411370" y="3410712"/>
            <a:ext cx="3368954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4411370" y="3502152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Key tools: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411370" y="3931920"/>
            <a:ext cx="118872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594250" y="3849624"/>
            <a:ext cx="3186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ourier New"/>
              </a:rPr>
              <a:t>read_query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411370" y="4572000"/>
            <a:ext cx="118872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594250" y="4489704"/>
            <a:ext cx="3186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ourier New"/>
              </a:rPr>
              <a:t>write_query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411370" y="5212080"/>
            <a:ext cx="118872" cy="182880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594250" y="5129784"/>
            <a:ext cx="3186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ourier New"/>
              </a:rPr>
              <a:t>list_tables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082076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082076" y="960120"/>
            <a:ext cx="3698138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246668" y="1069848"/>
            <a:ext cx="3368954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FFFFF"/>
                </a:solidFill>
              </a:rPr>
              <a:t>SLACK MCP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46668" y="1673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Connects an AI agent to a Slack workspace, enabling it to read</a:t>
            </a:r>
          </a:p>
          <a:p>
            <a:pPr algn="l"/>
            <a:r>
              <a:rPr sz="1300" b="0" i="0">
                <a:solidFill>
                  <a:srgbClr val="222222"/>
                </a:solidFill>
              </a:rPr>
              <a:t>messages, post content, and manage channels.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246668" y="3410712"/>
            <a:ext cx="3368954" cy="18288"/>
          </a:xfrm>
          <a:prstGeom prst="rect">
            <a:avLst/>
          </a:prstGeom>
          <a:solidFill>
            <a:srgbClr val="6B72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246668" y="3502152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6B7280"/>
                </a:solidFill>
              </a:rPr>
              <a:t>Key tools:</a:t>
            </a:r>
          </a:p>
        </p:txBody>
      </p:sp>
      <p:sp>
        <p:nvSpPr>
          <p:cNvPr id="36" name="Rectangle 35"/>
          <p:cNvSpPr/>
          <p:nvPr/>
        </p:nvSpPr>
        <p:spPr>
          <a:xfrm>
            <a:off x="8246668" y="3931920"/>
            <a:ext cx="118872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8429548" y="3849624"/>
            <a:ext cx="3186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ourier New"/>
              </a:rPr>
              <a:t>post_message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8246668" y="4572000"/>
            <a:ext cx="118872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429548" y="4489704"/>
            <a:ext cx="3186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ourier New"/>
              </a:rPr>
              <a:t>get_channel_history</a:t>
            </a:r>
          </a:p>
        </p:txBody>
      </p:sp>
      <p:sp>
        <p:nvSpPr>
          <p:cNvPr id="40" name="Rectangle 39"/>
          <p:cNvSpPr/>
          <p:nvPr/>
        </p:nvSpPr>
        <p:spPr>
          <a:xfrm>
            <a:off x="8246668" y="5212080"/>
            <a:ext cx="118872" cy="182880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8429548" y="5129784"/>
            <a:ext cx="3186074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1295C"/>
                </a:solidFill>
                <a:latin typeface="Courier New"/>
              </a:rPr>
              <a:t>list_channels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Filesystem MCP — Toolset Breadth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6873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8EE"/>
                </a:solidFill>
              </a:rPr>
              <a:t>Exposes a local directory tree; an agent can read, write, and move files on the host machine.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2699640" cy="5303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051560"/>
            <a:ext cx="2562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read_file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1120" y="960120"/>
            <a:ext cx="998498" cy="530352"/>
          </a:xfrm>
          <a:prstGeom prst="rect">
            <a:avLst/>
          </a:prstGeom>
          <a:solidFill>
            <a:srgbClr val="EA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6840" y="1005840"/>
            <a:ext cx="90705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5F2D"/>
                </a:solidFill>
              </a:rPr>
              <a:t>Low – 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91640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What it does: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984248"/>
            <a:ext cx="336895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Returns the full text content of any file at a given path, giving the agent direct visibility into its contents.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3538728"/>
            <a:ext cx="336895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666744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Why it matters: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959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A single call can expose credentials, private keys, source code, or PII stored anywhere in the allowed directory tree.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6778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6778" y="960120"/>
            <a:ext cx="2699640" cy="5303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6506" y="1051560"/>
            <a:ext cx="2562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write_file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6418" y="960120"/>
            <a:ext cx="998498" cy="530352"/>
          </a:xfrm>
          <a:prstGeom prst="rect">
            <a:avLst/>
          </a:prstGeom>
          <a:solidFill>
            <a:srgbClr val="EA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2138" y="1005840"/>
            <a:ext cx="90705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5F2D"/>
                </a:solidFill>
              </a:rPr>
              <a:t>High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1370" y="1691640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What it does: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1370" y="1984248"/>
            <a:ext cx="336895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Creates or overwrites a file with agent-supplied content — direct write access to the filesystem.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1370" y="3538728"/>
            <a:ext cx="336895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1370" y="3666744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Why it matters: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370" y="3959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Can inject backdoors, overwrite configs, corrupt data, or plant files that are later executed by the system.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2076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2076" y="960120"/>
            <a:ext cx="2699640" cy="530352"/>
          </a:xfrm>
          <a:prstGeom prst="rect">
            <a:avLst/>
          </a:prstGeom>
          <a:solidFill>
            <a:srgbClr val="2C5F2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804" y="1051560"/>
            <a:ext cx="2562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move_file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1716" y="960120"/>
            <a:ext cx="998498" cy="530352"/>
          </a:xfrm>
          <a:prstGeom prst="rect">
            <a:avLst/>
          </a:prstGeom>
          <a:solidFill>
            <a:srgbClr val="EAF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27436" y="1005840"/>
            <a:ext cx="90705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C5F2D"/>
                </a:solidFill>
              </a:rPr>
              <a:t>Med – High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6668" y="1691640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What it does: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6668" y="1984248"/>
            <a:ext cx="336895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Relocates a file from one path to another, effectively renaming or repositioning it on disk.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6668" y="3538728"/>
            <a:ext cx="336895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6668" y="3666744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Why it matters: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6668" y="3959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Can hide sensitive files, break directory structure, or stage data in a predictable location for later exfiltration.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SQLite MCP — Toolset Breadth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6873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8EE"/>
                </a:solidFill>
              </a:rPr>
              <a:t>Wraps a SQLite database; an agent can query and mutate structured data via SQL operations.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269964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051560"/>
            <a:ext cx="2562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read_query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1120" y="960120"/>
            <a:ext cx="998498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6840" y="1005840"/>
            <a:ext cx="90705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</a:rPr>
              <a:t>Low – Med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91640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What it does: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984248"/>
            <a:ext cx="336895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Executes a SELECT statement against the database and returns all matching rows to the agent.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3538728"/>
            <a:ext cx="336895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666744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Why it matters: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959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Grants read access to any table — exposing PII, credentials, business records, or audit logs at scale with one call.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6778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6778" y="960120"/>
            <a:ext cx="269964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6506" y="1051560"/>
            <a:ext cx="2562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write_query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6418" y="960120"/>
            <a:ext cx="998498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2138" y="1005840"/>
            <a:ext cx="90705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</a:rPr>
              <a:t>High – Crit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1370" y="1691640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What it does: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1370" y="1984248"/>
            <a:ext cx="336895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Executes INSERT, UPDATE, or DELETE statements, allowing the agent to alter or destroy any stored data.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1370" y="3538728"/>
            <a:ext cx="336895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1370" y="3666744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Why it matters: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370" y="3959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Three blast radii under a single tool name — corruption, tampering, and deletion — with no naming signal to the caller.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2076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2076" y="960120"/>
            <a:ext cx="2699640" cy="530352"/>
          </a:xfrm>
          <a:prstGeom prst="rect">
            <a:avLst/>
          </a:prstGeom>
          <a:solidFill>
            <a:srgbClr val="2563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804" y="1051560"/>
            <a:ext cx="2562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list_tables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1716" y="960120"/>
            <a:ext cx="998498" cy="530352"/>
          </a:xfrm>
          <a:prstGeom prst="rect">
            <a:avLst/>
          </a:prstGeom>
          <a:solidFill>
            <a:srgbClr val="DBEAF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27436" y="1005840"/>
            <a:ext cx="90705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2563EB"/>
                </a:solidFill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6668" y="1691640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What it does: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6668" y="1984248"/>
            <a:ext cx="336895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Returns all table names in the database, providing full schema visibility without prior knowledge.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6668" y="3538728"/>
            <a:ext cx="336895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6668" y="3666744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Why it matters: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6668" y="3959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Enables schema discovery — the essential first step before any targeted data attack or bulk exfiltration attempt.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2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822960"/>
          </a:xfrm>
          <a:prstGeom prst="rect">
            <a:avLst/>
          </a:prstGeom>
          <a:solidFill>
            <a:srgbClr val="2129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11480" y="91440"/>
            <a:ext cx="1136873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700" b="1" i="0">
                <a:solidFill>
                  <a:srgbClr val="FFFFFF"/>
                </a:solidFill>
              </a:rPr>
              <a:t>Slack MCP — Toolset Breadth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548640"/>
            <a:ext cx="11368735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C8D8EE"/>
                </a:solidFill>
              </a:rPr>
              <a:t>Connects to a Slack workspace; an agent can read messages, post content, and enumerate channels.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11480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411480" y="960120"/>
            <a:ext cx="269964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21208" y="1051560"/>
            <a:ext cx="2562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post_message</a:t>
            </a:r>
          </a:p>
        </p:txBody>
      </p:sp>
      <p:sp>
        <p:nvSpPr>
          <p:cNvPr id="9" name="Rectangle 8"/>
          <p:cNvSpPr/>
          <p:nvPr/>
        </p:nvSpPr>
        <p:spPr>
          <a:xfrm>
            <a:off x="3111120" y="960120"/>
            <a:ext cx="998498" cy="530352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156840" y="1005840"/>
            <a:ext cx="90705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Med –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76072" y="1691640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What it does: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76072" y="1984248"/>
            <a:ext cx="336895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Sends a message to any channel or DM the OAuth token can reach, appearing as the authenticated user.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76072" y="3538728"/>
            <a:ext cx="336895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76072" y="3666744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Why it matters: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76072" y="3959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Agent can phish team members, spread misinformation, or exfiltrate data disguised as legitimate communication.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246778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4246778" y="960120"/>
            <a:ext cx="269964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4356506" y="1051560"/>
            <a:ext cx="2562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get_channel_history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946418" y="960120"/>
            <a:ext cx="998498" cy="530352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92138" y="1005840"/>
            <a:ext cx="90705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Medium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411370" y="1691640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What it does: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11370" y="1984248"/>
            <a:ext cx="336895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Retrieves the full conversation history of a channel, including all messages and shared content.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411370" y="3538728"/>
            <a:ext cx="336895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411370" y="3666744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Why it matters: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411370" y="3959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Exposes private discussions, credentials shared in chat, strategic decisions, and sensitive organizational context.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082076" y="960120"/>
            <a:ext cx="3698138" cy="5623560"/>
          </a:xfrm>
          <a:prstGeom prst="rect">
            <a:avLst/>
          </a:prstGeom>
          <a:solidFill>
            <a:srgbClr val="FFFFFF"/>
          </a:solidFill>
          <a:ln>
            <a:solidFill>
              <a:srgbClr val="E5E7E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8082076" y="960120"/>
            <a:ext cx="2699640" cy="530352"/>
          </a:xfrm>
          <a:prstGeom prst="rect">
            <a:avLst/>
          </a:prstGeom>
          <a:solidFill>
            <a:srgbClr val="7C3AE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191804" y="1051560"/>
            <a:ext cx="2562480" cy="4206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Courier New"/>
              </a:rPr>
              <a:t>list_channels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10781716" y="960120"/>
            <a:ext cx="998498" cy="530352"/>
          </a:xfrm>
          <a:prstGeom prst="rect">
            <a:avLst/>
          </a:prstGeom>
          <a:solidFill>
            <a:srgbClr val="F3E8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827436" y="1005840"/>
            <a:ext cx="907058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7C3AED"/>
                </a:solidFill>
              </a:rPr>
              <a:t>Low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46668" y="1691640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What it does: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246668" y="1984248"/>
            <a:ext cx="3368954" cy="1508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Enumerates all channels visible to the token, returning names, IDs, and membership metadata.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246668" y="3538728"/>
            <a:ext cx="3368954" cy="18288"/>
          </a:xfrm>
          <a:prstGeom prst="rect">
            <a:avLst/>
          </a:prstGeom>
          <a:solidFill>
            <a:srgbClr val="E5E7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8246668" y="3666744"/>
            <a:ext cx="3368954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6B7280"/>
                </a:solidFill>
              </a:rPr>
              <a:t>Why it matters: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46668" y="3959352"/>
            <a:ext cx="3368954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222222"/>
                </a:solidFill>
              </a:rPr>
              <a:t>Maps the organization's communication structure — enabling the agent to identify and target high-value channels.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