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8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25" autoAdjust="0"/>
    <p:restoredTop sz="95238" autoAdjust="0"/>
  </p:normalViewPr>
  <p:slideViewPr>
    <p:cSldViewPr snapToGrid="0" snapToObjects="1">
      <p:cViewPr varScale="1">
        <p:scale>
          <a:sx n="113" d="100"/>
          <a:sy n="113" d="100"/>
        </p:scale>
        <p:origin x="870" y="114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E8B57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calendar_cbg</c:v>
                </c:pt>
                <c:pt idx="1">
                  <c:v>github_cbg</c:v>
                </c:pt>
                <c:pt idx="2">
                  <c:v>slack_cbg</c:v>
                </c:pt>
                <c:pt idx="3">
                  <c:v>sqlite_cbg</c:v>
                </c:pt>
                <c:pt idx="4">
                  <c:v>sqlite_devops</c:v>
                </c:pt>
                <c:pt idx="5">
                  <c:v>fs_corp</c:v>
                </c:pt>
                <c:pt idx="6">
                  <c:v>fs_fintech</c:v>
                </c:pt>
                <c:pt idx="7">
                  <c:v>fs_law_firm</c:v>
                </c:pt>
                <c:pt idx="8">
                  <c:v>fs_media</c:v>
                </c:pt>
                <c:pt idx="9">
                  <c:v>fs_medical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14</c:v>
                </c:pt>
                <c:pt idx="2">
                  <c:v>27</c:v>
                </c:pt>
                <c:pt idx="3">
                  <c:v>6</c:v>
                </c:pt>
                <c:pt idx="4">
                  <c:v>8</c:v>
                </c:pt>
                <c:pt idx="5">
                  <c:v>52</c:v>
                </c:pt>
                <c:pt idx="6">
                  <c:v>54</c:v>
                </c:pt>
                <c:pt idx="7">
                  <c:v>64</c:v>
                </c:pt>
                <c:pt idx="8">
                  <c:v>49</c:v>
                </c:pt>
                <c:pt idx="9">
                  <c:v>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A1B-4A8B-A232-CFF3295443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0A400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calendar_cbg</c:v>
                </c:pt>
                <c:pt idx="1">
                  <c:v>github_cbg</c:v>
                </c:pt>
                <c:pt idx="2">
                  <c:v>slack_cbg</c:v>
                </c:pt>
                <c:pt idx="3">
                  <c:v>sqlite_cbg</c:v>
                </c:pt>
                <c:pt idx="4">
                  <c:v>sqlite_devops</c:v>
                </c:pt>
                <c:pt idx="5">
                  <c:v>fs_corp</c:v>
                </c:pt>
                <c:pt idx="6">
                  <c:v>fs_fintech</c:v>
                </c:pt>
                <c:pt idx="7">
                  <c:v>fs_law_firm</c:v>
                </c:pt>
                <c:pt idx="8">
                  <c:v>fs_media</c:v>
                </c:pt>
                <c:pt idx="9">
                  <c:v>fs_medical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28</c:v>
                </c:pt>
                <c:pt idx="1">
                  <c:v>13</c:v>
                </c:pt>
                <c:pt idx="2">
                  <c:v>28</c:v>
                </c:pt>
                <c:pt idx="3">
                  <c:v>13</c:v>
                </c:pt>
                <c:pt idx="4">
                  <c:v>5</c:v>
                </c:pt>
                <c:pt idx="5">
                  <c:v>56</c:v>
                </c:pt>
                <c:pt idx="6">
                  <c:v>95</c:v>
                </c:pt>
                <c:pt idx="7">
                  <c:v>112</c:v>
                </c:pt>
                <c:pt idx="8">
                  <c:v>125</c:v>
                </c:pt>
                <c:pt idx="9">
                  <c:v>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A1B-4A8B-A232-CFF3295443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E8720C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calendar_cbg</c:v>
                </c:pt>
                <c:pt idx="1">
                  <c:v>github_cbg</c:v>
                </c:pt>
                <c:pt idx="2">
                  <c:v>slack_cbg</c:v>
                </c:pt>
                <c:pt idx="3">
                  <c:v>sqlite_cbg</c:v>
                </c:pt>
                <c:pt idx="4">
                  <c:v>sqlite_devops</c:v>
                </c:pt>
                <c:pt idx="5">
                  <c:v>fs_corp</c:v>
                </c:pt>
                <c:pt idx="6">
                  <c:v>fs_fintech</c:v>
                </c:pt>
                <c:pt idx="7">
                  <c:v>fs_law_firm</c:v>
                </c:pt>
                <c:pt idx="8">
                  <c:v>fs_media</c:v>
                </c:pt>
                <c:pt idx="9">
                  <c:v>fs_medical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21</c:v>
                </c:pt>
                <c:pt idx="1">
                  <c:v>23</c:v>
                </c:pt>
                <c:pt idx="2">
                  <c:v>19</c:v>
                </c:pt>
                <c:pt idx="3">
                  <c:v>11</c:v>
                </c:pt>
                <c:pt idx="4">
                  <c:v>9</c:v>
                </c:pt>
                <c:pt idx="5">
                  <c:v>71</c:v>
                </c:pt>
                <c:pt idx="6">
                  <c:v>104</c:v>
                </c:pt>
                <c:pt idx="7">
                  <c:v>98</c:v>
                </c:pt>
                <c:pt idx="8">
                  <c:v>86</c:v>
                </c:pt>
                <c:pt idx="9">
                  <c:v>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A1B-4A8B-A232-CFF3295443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9E1B1B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calendar_cbg</c:v>
                </c:pt>
                <c:pt idx="1">
                  <c:v>github_cbg</c:v>
                </c:pt>
                <c:pt idx="2">
                  <c:v>slack_cbg</c:v>
                </c:pt>
                <c:pt idx="3">
                  <c:v>sqlite_cbg</c:v>
                </c:pt>
                <c:pt idx="4">
                  <c:v>sqlite_devops</c:v>
                </c:pt>
                <c:pt idx="5">
                  <c:v>fs_corp</c:v>
                </c:pt>
                <c:pt idx="6">
                  <c:v>fs_fintech</c:v>
                </c:pt>
                <c:pt idx="7">
                  <c:v>fs_law_firm</c:v>
                </c:pt>
                <c:pt idx="8">
                  <c:v>fs_media</c:v>
                </c:pt>
                <c:pt idx="9">
                  <c:v>fs_medical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11</c:v>
                </c:pt>
                <c:pt idx="1">
                  <c:v>16</c:v>
                </c:pt>
                <c:pt idx="2">
                  <c:v>6</c:v>
                </c:pt>
                <c:pt idx="3">
                  <c:v>5</c:v>
                </c:pt>
                <c:pt idx="4">
                  <c:v>3</c:v>
                </c:pt>
                <c:pt idx="5">
                  <c:v>31</c:v>
                </c:pt>
                <c:pt idx="6">
                  <c:v>69</c:v>
                </c:pt>
                <c:pt idx="7">
                  <c:v>34</c:v>
                </c:pt>
                <c:pt idx="8">
                  <c:v>34</c:v>
                </c:pt>
                <c:pt idx="9">
                  <c:v>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A1B-4A8B-A232-CFF3295443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7/6/2026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Arial"/>
              </a:rPr>
              <a:t>The MCP Static Scanner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F26A52"/>
                </a:solidFill>
                <a:latin typeface="Arial"/>
              </a:rPr>
              <a:t>Scoring the risk of every tool-on-asset a server exposes — before it goes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5532120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26222E"/>
          </a:solidFill>
          <a:ln w="12700">
            <a:solidFill>
              <a:srgbClr val="3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5614416"/>
            <a:ext cx="13716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1251B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5614416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0AAB8"/>
                </a:solidFill>
                <a:latin typeface="Arial"/>
              </a:rPr>
              <a:t>servers scanned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5532120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26222E"/>
          </a:solidFill>
          <a:ln w="12700">
            <a:solidFill>
              <a:srgbClr val="3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5614416"/>
            <a:ext cx="13716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E1251B"/>
                </a:solidFill>
                <a:latin typeface="Arial"/>
              </a:rPr>
              <a:t>1,700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2431" y="5614416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0AAB8"/>
                </a:solidFill>
                <a:latin typeface="Arial"/>
              </a:rPr>
              <a:t>risk cells scored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91271" y="5532120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26222E"/>
          </a:solidFill>
          <a:ln w="12700">
            <a:solidFill>
              <a:srgbClr val="3A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9871" y="5614416"/>
            <a:ext cx="13716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1251B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5614416"/>
            <a:ext cx="17373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0AAB8"/>
                </a:solidFill>
                <a:latin typeface="Arial"/>
              </a:rPr>
              <a:t>LLM prompt stages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Design time builds the matrix; runtime just looks 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10671048" cy="1965960"/>
          </a:xfrm>
          <a:prstGeom prst="roundRect">
            <a:avLst>
              <a:gd name="adj" fmla="val 5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987552" y="1499616"/>
            <a:ext cx="6400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1251B"/>
                </a:solidFill>
                <a:latin typeface="Arial"/>
              </a:rPr>
              <a:t>DESIGN TIME  (static scanner)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1" y="193852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6" name="TextBox 5"/>
          <p:cNvSpPr txBox="1"/>
          <p:nvPr/>
        </p:nvSpPr>
        <p:spPr>
          <a:xfrm>
            <a:off x="1033271" y="2202252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2B2530"/>
                </a:solidFill>
                <a:latin typeface="Arial"/>
              </a:rPr>
              <a:t>tools/list  +
on-disk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9272" y="2233030"/>
            <a:ext cx="384048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26A52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93852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9" name="TextBox 8"/>
          <p:cNvSpPr txBox="1"/>
          <p:nvPr/>
        </p:nvSpPr>
        <p:spPr>
          <a:xfrm>
            <a:off x="3703320" y="2202252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2B2530"/>
                </a:solidFill>
                <a:latin typeface="Arial"/>
              </a:rPr>
              <a:t>LLM derives
3 primitives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233030"/>
            <a:ext cx="384048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26A52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193852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2" name="TextBox 11"/>
          <p:cNvSpPr txBox="1"/>
          <p:nvPr/>
        </p:nvSpPr>
        <p:spPr>
          <a:xfrm>
            <a:off x="6373368" y="2356140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2B2530"/>
                </a:solidFill>
                <a:latin typeface="Arial"/>
              </a:rPr>
              <a:t>score → 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7" y="2233030"/>
            <a:ext cx="384048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26A52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3416" y="193852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5" name="TextBox 14"/>
          <p:cNvSpPr txBox="1"/>
          <p:nvPr/>
        </p:nvSpPr>
        <p:spPr>
          <a:xfrm>
            <a:off x="9043416" y="2202252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risk matrix
per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3703320"/>
            <a:ext cx="10671048" cy="1965960"/>
          </a:xfrm>
          <a:prstGeom prst="roundRect">
            <a:avLst>
              <a:gd name="adj" fmla="val 5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7" name="TextBox 16"/>
          <p:cNvSpPr txBox="1"/>
          <p:nvPr/>
        </p:nvSpPr>
        <p:spPr>
          <a:xfrm>
            <a:off x="987552" y="3831335"/>
            <a:ext cx="6400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046AD"/>
                </a:solidFill>
                <a:latin typeface="Arial"/>
              </a:rPr>
              <a:t>RUNTIME  (call scorer)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1" y="427024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1033271" y="4533972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2B2530"/>
                </a:solidFill>
                <a:latin typeface="Arial"/>
              </a:rPr>
              <a:t>observed
tool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4564750"/>
            <a:ext cx="384048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046AD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427024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2" name="TextBox 21"/>
          <p:cNvSpPr txBox="1"/>
          <p:nvPr/>
        </p:nvSpPr>
        <p:spPr>
          <a:xfrm>
            <a:off x="3703320" y="4533972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2B2530"/>
                </a:solidFill>
                <a:latin typeface="Arial"/>
              </a:rPr>
              <a:t>resolve args →
scanned asset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564750"/>
            <a:ext cx="384048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046AD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427024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5" name="TextBox 24"/>
          <p:cNvSpPr txBox="1"/>
          <p:nvPr/>
        </p:nvSpPr>
        <p:spPr>
          <a:xfrm>
            <a:off x="6373368" y="4533972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2B2530"/>
                </a:solidFill>
                <a:latin typeface="Arial"/>
              </a:rPr>
              <a:t>look up cell
in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7" y="4564750"/>
            <a:ext cx="384048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046AD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3416" y="4270248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304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8" name="TextBox 27"/>
          <p:cNvSpPr txBox="1"/>
          <p:nvPr/>
        </p:nvSpPr>
        <p:spPr>
          <a:xfrm>
            <a:off x="9043416" y="4533972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band + param
escalation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806440"/>
            <a:ext cx="10671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6B6570"/>
                </a:solidFill>
                <a:latin typeface="Arial"/>
              </a:rPr>
              <a:t>The matrix is computed once, offline. Every runtime decision is a cheap lookup — no LLM call on the hot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Three primitives the LLM derives, multiplied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10671048" cy="822960"/>
          </a:xfrm>
          <a:prstGeom prst="roundRect">
            <a:avLst>
              <a:gd name="adj" fmla="val 5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758952" y="1413748"/>
            <a:ext cx="10671048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>
                <a:solidFill>
                  <a:srgbClr val="F26A52"/>
                </a:solidFill>
                <a:latin typeface="Courier New"/>
              </a:rPr>
              <a:t>score</a:t>
            </a:r>
            <a:r>
              <a:rPr b="0" i="0">
                <a:solidFill>
                  <a:srgbClr val="E8E4EC"/>
                </a:solidFill>
                <a:latin typeface="Courier New"/>
              </a:rPr>
              <a:t>  =  </a:t>
            </a:r>
            <a:r>
              <a:rPr b="1" i="0">
                <a:solidFill>
                  <a:srgbClr val="7FD1B9"/>
                </a:solidFill>
                <a:latin typeface="Courier New"/>
              </a:rPr>
              <a:t>asset_sensitivity</a:t>
            </a:r>
            <a:r>
              <a:rPr b="0" i="0">
                <a:solidFill>
                  <a:srgbClr val="E8E4EC"/>
                </a:solidFill>
                <a:latin typeface="Courier New"/>
              </a:rPr>
              <a:t> (1–5)  ×  </a:t>
            </a:r>
            <a:r>
              <a:rPr b="1" i="0">
                <a:solidFill>
                  <a:srgbClr val="9DB4FF"/>
                </a:solidFill>
                <a:latin typeface="Courier New"/>
              </a:rPr>
              <a:t>blast_radius</a:t>
            </a:r>
            <a:r>
              <a:rPr b="0" i="0">
                <a:solidFill>
                  <a:srgbClr val="E8E4EC"/>
                </a:solidFill>
                <a:latin typeface="Courier New"/>
              </a:rPr>
              <a:t> (1–4)  ×  </a:t>
            </a:r>
            <a:r>
              <a:rPr b="1" i="0">
                <a:solidFill>
                  <a:srgbClr val="F2B36A"/>
                </a:solidFill>
                <a:latin typeface="Courier New"/>
              </a:rPr>
              <a:t>tool_impact</a:t>
            </a:r>
            <a:r>
              <a:rPr b="0" i="0">
                <a:solidFill>
                  <a:srgbClr val="E8E4EC"/>
                </a:solidFill>
                <a:latin typeface="Courier New"/>
              </a:rPr>
              <a:t> (1–3)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468880"/>
            <a:ext cx="340156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6" name="Rounded Rectangle 5"/>
          <p:cNvSpPr/>
          <p:nvPr/>
        </p:nvSpPr>
        <p:spPr>
          <a:xfrm>
            <a:off x="987552" y="2724912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F2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" name="TextBox 6"/>
          <p:cNvSpPr txBox="1"/>
          <p:nvPr/>
        </p:nvSpPr>
        <p:spPr>
          <a:xfrm>
            <a:off x="987552" y="2746322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620"/>
                </a:solidFill>
                <a:latin typeface="Arial"/>
              </a:rPr>
              <a:t>1 –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547872"/>
            <a:ext cx="294436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 err="1">
                <a:solidFill>
                  <a:srgbClr val="11184F"/>
                </a:solidFill>
                <a:latin typeface="Courier New"/>
              </a:rPr>
              <a:t>tool_impact</a:t>
            </a:r>
            <a:endParaRPr sz="2800" b="1" i="0" dirty="0">
              <a:solidFill>
                <a:srgbClr val="11184F"/>
              </a:solidFill>
              <a:latin typeface="Courier New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4019454"/>
            <a:ext cx="314735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 dirty="0">
                <a:solidFill>
                  <a:srgbClr val="6B6570"/>
                </a:solidFill>
                <a:latin typeface="Arial"/>
              </a:rPr>
              <a:t>read = 1  ·  create = 2  ·  overwrite / delete / move =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3692" y="2468880"/>
            <a:ext cx="340156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2" name="Rounded Rectangle 11"/>
          <p:cNvSpPr/>
          <p:nvPr/>
        </p:nvSpPr>
        <p:spPr>
          <a:xfrm>
            <a:off x="4622292" y="2724912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7FD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3" name="TextBox 12"/>
          <p:cNvSpPr txBox="1"/>
          <p:nvPr/>
        </p:nvSpPr>
        <p:spPr>
          <a:xfrm>
            <a:off x="4622292" y="2746322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620"/>
                </a:solidFill>
                <a:latin typeface="Arial"/>
              </a:rPr>
              <a:t>1 –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2228" y="3404690"/>
            <a:ext cx="2944368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 err="1">
                <a:solidFill>
                  <a:srgbClr val="11184F"/>
                </a:solidFill>
                <a:latin typeface="Courier New"/>
              </a:rPr>
              <a:t>asset_sensitivity</a:t>
            </a:r>
            <a:endParaRPr sz="2800" b="1" i="0" dirty="0">
              <a:solidFill>
                <a:srgbClr val="11184F"/>
              </a:solidFill>
              <a:latin typeface="Courier New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0300" y="4266464"/>
            <a:ext cx="3126633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 dirty="0">
                <a:solidFill>
                  <a:srgbClr val="6B6570"/>
                </a:solidFill>
                <a:latin typeface="Arial"/>
              </a:rPr>
              <a:t>1 public  …  5 regulated / PII / secrets / crown jewels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468880"/>
            <a:ext cx="340156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Rounded Rectangle 17"/>
          <p:cNvSpPr/>
          <p:nvPr/>
        </p:nvSpPr>
        <p:spPr>
          <a:xfrm>
            <a:off x="8257031" y="2724912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9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9" name="TextBox 18"/>
          <p:cNvSpPr txBox="1"/>
          <p:nvPr/>
        </p:nvSpPr>
        <p:spPr>
          <a:xfrm>
            <a:off x="8257031" y="2746322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620"/>
                </a:solidFill>
                <a:latin typeface="Arial"/>
              </a:rPr>
              <a:t>1 –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547872"/>
            <a:ext cx="294436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84F"/>
                </a:solidFill>
                <a:latin typeface="Courier New"/>
              </a:rPr>
              <a:t>blast_radius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7" y="3980985"/>
            <a:ext cx="294436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 dirty="0">
                <a:solidFill>
                  <a:srgbClr val="6B6570"/>
                </a:solidFill>
                <a:latin typeface="Arial"/>
              </a:rPr>
              <a:t>1 single file  …  4 whole store / fan-out across many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Complete matrix — sqlite : cbg_sqlite  (35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24128"/>
            <a:ext cx="10671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6570"/>
                </a:solidFill>
                <a:latin typeface="Arial"/>
              </a:rPr>
              <a:t>Every (tool, asset) cell shows its raw score, coloured by band. Derived live by the LLM; no checked-in table read.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1417320"/>
          <a:ext cx="10241280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asset \ tool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list_tables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describe_table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read_query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write_query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insert_row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employees  ·  s4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projects  ·  s4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datasets  ·  s5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15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45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20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experiments  ·  s3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9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9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9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27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publications  ·  s2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18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grants  ·  s5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15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45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20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530"/>
                          </a:solidFill>
                          <a:latin typeface="Courier New"/>
                        </a:rPr>
                        <a:t>api_keys  ·  s5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60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urier New"/>
                        </a:rPr>
                        <a:t>30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" y="5074920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50566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5074920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0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87168" y="50566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1" y="5074920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04487" y="50566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5074920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1807" y="50566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critical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Complete matrix — calendar : cbg  (66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24128"/>
            <a:ext cx="10671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6570"/>
                </a:solidFill>
                <a:latin typeface="Arial"/>
              </a:rPr>
              <a:t>11 tools × 6 calendars. The destructive column delete_all_events is critical across the board; a bulk send_email_invite is critical too.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1463040"/>
          <a:ext cx="10671048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asset \ tool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list_calendars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list_events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list_week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get_event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find_free_slot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access_contacts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create_event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update_event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send_email_invite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delete_event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delete_all_events</a:t>
                      </a:r>
                    </a:p>
                  </a:txBody>
                  <a:tcPr marL="27432" marR="27432" marT="9144" marB="9144" anchor="ctr">
                    <a:solidFill>
                      <a:srgbClr val="111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personal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team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executive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recruiting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contacts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36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530"/>
                          </a:solidFill>
                          <a:latin typeface="Courier New"/>
                        </a:rPr>
                        <a:t>holidays</a:t>
                      </a:r>
                    </a:p>
                  </a:txBody>
                  <a:tcPr marL="27432" marR="27432" marT="9144" marB="9144" anchor="ctr">
                    <a:solidFill>
                      <a:srgbClr val="EFEC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6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6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6</a:t>
                      </a:r>
                    </a:p>
                  </a:txBody>
                  <a:tcPr marL="27432" marR="27432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8</a:t>
                      </a:r>
                    </a:p>
                  </a:txBody>
                  <a:tcPr marL="27432" marR="27432" marT="9144" marB="9144" anchor="ctr">
                    <a:solidFill>
                      <a:srgbClr val="E0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18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12</a:t>
                      </a:r>
                    </a:p>
                  </a:txBody>
                  <a:tcPr marL="27432" marR="27432" marT="9144" marB="9144" anchor="ctr"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ourier New"/>
                        </a:rPr>
                        <a:t>24</a:t>
                      </a:r>
                    </a:p>
                  </a:txBody>
                  <a:tcPr marL="27432" marR="27432" marT="9144" marB="9144" anchor="ctr">
                    <a:solidFill>
                      <a:srgbClr val="9E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" y="5175504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51572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5175504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0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87168" y="51572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1" y="5175504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04487" y="51572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5175504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1807" y="51572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E444E"/>
                </a:solidFill>
                <a:latin typeface="Arial"/>
              </a:rPr>
              <a:t>critical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Six LLM stages turn a tool list into a banded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87552"/>
            <a:ext cx="106710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Every primitive comes from a prompt to the local model (Qwen2.5 / Ollama). The prompts are domain-agnostic: stage 0 infers the domain once, and every later stage is anchored to that profile — no per-kind branches.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60020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01368"/>
            <a:ext cx="548640" cy="548640"/>
          </a:xfrm>
          <a:prstGeom prst="ellipse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013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" y="1819656"/>
            <a:ext cx="23500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Domain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68880"/>
            <a:ext cx="29443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Reads the whole registry once; infers mcp_kind, what an asset means, dangerous classes, irreversible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692" y="160020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94859" y="1801368"/>
            <a:ext cx="548640" cy="54864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4859" y="18013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9804" y="1819656"/>
            <a:ext cx="23500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Tool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292" y="2468880"/>
            <a:ext cx="29443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Damage ceiling of the tool itself (1/2/3) — worst outcome of any call, independent of caller.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1801368"/>
            <a:ext cx="548640" cy="54864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8013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1819656"/>
            <a:ext cx="23500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Asset 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468880"/>
            <a:ext cx="29443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Criticality if the asset class is exposed, corrupted or destroyed (1–5).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361188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0120" y="3813048"/>
            <a:ext cx="548640" cy="54864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8130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5064" y="3831336"/>
            <a:ext cx="23500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Blast radius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480560"/>
            <a:ext cx="29443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How far a (tool, asset) pair reaches (0–4) — with the breadth rule for bulk reads.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3692" y="361188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94859" y="3813048"/>
            <a:ext cx="548640" cy="548640"/>
          </a:xfrm>
          <a:prstGeom prst="ellipse">
            <a:avLst/>
          </a:prstGeom>
          <a:solidFill>
            <a:srgbClr val="304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4859" y="38130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9804" y="3831336"/>
            <a:ext cx="23500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Judge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2292" y="4480560"/>
            <a:ext cx="29443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An independent reviewer re-decides each value, then compares — catches under/over-scoring.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3611880"/>
            <a:ext cx="34015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600" y="3813048"/>
            <a:ext cx="548640" cy="548640"/>
          </a:xfrm>
          <a:prstGeom prst="ellipse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38130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3831336"/>
            <a:ext cx="235000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Risk band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480560"/>
            <a:ext cx="29443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4E444E"/>
                </a:solidFill>
                <a:latin typeface="Arial"/>
              </a:rPr>
              <a:t>The LLM assigns low/med/high/critical per cell with security judgement, not a fixed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Prompts — Stage 0 infers the domain, Stage 1 rates the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52578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" y="155448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0 — Domain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90872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90872" y="157276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029967"/>
            <a:ext cx="4800600" cy="3566159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2139696"/>
            <a:ext cx="4434840" cy="3346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“You are a security analyst bootstrapping a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misuse-scoring system for an MCP server.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From the ENTIRE tool registry + a sample of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assets, infer with no outside hints:”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7FD1B9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mcp_kind          filesystem? SQL? pay?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asset_meaning     what an asset IS here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dangerous_classes secrets / PII / money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irreversible_actions  deletes, transfers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• worked_example    one (tool,asset) reason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E8E4EC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needs_human_review=true if too sparse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1 — Tool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04120" y="157276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29967"/>
            <a:ext cx="4800600" cy="3566159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139696"/>
            <a:ext cx="4434840" cy="3346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“Assign TOOL IMPACT (1/2/3) — the damage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ceiling of the tool itself, the worst outcome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of ANY call, independent of caller/params.”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E8E4EC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 1 = read-only; can leak, not change state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 2 = state-changing, generally recoverable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 3 = destructive: clobber/wipe, grant access,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     execute code, irreversible real effect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FF9C8A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Assign the HIGHEST tier any capability reaches;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arbitrary code/exec is always 3; if ambiguous,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pick higher tier + lower confidence.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Prompts — the two axes: sensitivity, and reach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512064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" y="1554480"/>
            <a:ext cx="36575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2 — Asset sensitivity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53712" y="157276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029967"/>
            <a:ext cx="4663440" cy="3566159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2139696"/>
            <a:ext cx="4297679" cy="3346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“Assign ASSET SENSITIVITY (1–5) — criticality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if this class is exposed, corrupted, destroyed.”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E8E4EC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 5 = catastrophic / legally-reportable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 4 = prod data, source, employee data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 3 = medium internal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 2 = low     1 = public / ephemeral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7FD1B9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Escalate classes matching the inferred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dangerous_classes. If the org supplied a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priority, treat it as the primary anchor.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39496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3 — Blast radius  (breadth rule)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04120" y="157276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29967"/>
            <a:ext cx="4937760" cy="3566159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139696"/>
            <a:ext cx="4572000" cy="3346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0 = cannot touch    1 = single-item read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2 = scoped recoverable change of one item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3 = broad change / overwrite, OR a read that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    spans MANY items at once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4 = clobber / destroy / fan-out across many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FF9C8A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DB4FF"/>
                </a:solidFill>
                <a:latin typeface="Courier New"/>
              </a:rPr>
              <a:t> BREADTH RULE (do not under-score reads):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a tool that ENUMERATES or reads ACROSS a whole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scope — list a dir, walk a tree, glob, SELECT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a table — aggregates exposure over every item.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When the asset is a container and the tool bulk-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reads it, blast radius is broad (≥3).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Prompts — an independent judge, then the LLM band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5257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" y="155448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Judge — independent re-decision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90872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90872" y="157276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029967"/>
            <a:ext cx="4800600" cy="3246120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2139696"/>
            <a:ext cx="4434840" cy="3026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“You are an independent security reviewer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verifying another model's decision. Decide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INDEPENDENTLY what the value should be, THEN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compare.”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E8E4EC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Be skeptical. The first model may have under-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scored a dangerous capability or over-scored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a benign one. If you disagree, give your own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value.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E8E4EC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7FD1B9"/>
                </a:solidFill>
                <a:latin typeface="Courier New"/>
              </a:rPr>
              <a:t> → {agree, judged_value, reasoning, confidence}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1184F"/>
                </a:solidFill>
                <a:latin typeface="Arial"/>
              </a:rPr>
              <a:t>Stage 5 — Risk band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1572768"/>
            <a:ext cx="1097280" cy="347472"/>
          </a:xfrm>
          <a:prstGeom prst="roundRect">
            <a:avLst>
              <a:gd name="adj" fmla="val 6000"/>
            </a:avLst>
          </a:prstGeom>
          <a:solidFill>
            <a:srgbClr val="EF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04120" y="157276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046AD"/>
                </a:solidFill>
                <a:latin typeface="Courier New"/>
              </a:rPr>
              <a:t>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29967"/>
            <a:ext cx="4800600" cy="3246120"/>
          </a:xfrm>
          <a:prstGeom prst="roundRect">
            <a:avLst>
              <a:gd name="adj" fmla="val 4000"/>
            </a:avLst>
          </a:prstGeom>
          <a:solidFill>
            <a:srgbClr val="1E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139696"/>
            <a:ext cx="4434840" cy="3026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“Assign a RISK BAND per (asset, tool) pair —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low | medium | high | critical — with security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4EC"/>
                </a:solidFill>
                <a:latin typeface="Courier New"/>
              </a:rPr>
              <a:t> judgement, NOT a fixed numeric threshold.”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E8E4EC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critical: irreversible destruction / mass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F9C8A"/>
                </a:solidFill>
                <a:latin typeface="Courier New"/>
              </a:rPr>
              <a:t>  exfiltration of a crown jewel. Rare.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high: bulk read / enumeration over a SENSITIVE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F2B36A"/>
                </a:solidFill>
                <a:latin typeface="Courier New"/>
              </a:rPr>
              <a:t>  scope — one call leaks the whole scope.</a:t>
            </a:r>
          </a:p>
          <a:p>
            <a:pPr algn="l">
              <a:lnSpc>
                <a:spcPct val="112000"/>
              </a:lnSpc>
            </a:pPr>
            <a:endParaRPr sz="1050" b="0" i="0">
              <a:solidFill>
                <a:srgbClr val="F2B36A"/>
              </a:solidFill>
              <a:latin typeface="Courier New"/>
            </a:endParaRP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DB4FF"/>
                </a:solidFill>
                <a:latin typeface="Courier New"/>
              </a:rPr>
              <a:t> “given impact, blast &amp; score as evidence —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DB4FF"/>
                </a:solidFill>
                <a:latin typeface="Courier New"/>
              </a:rPr>
              <a:t>  the band is your judgement, not a formula.”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577840"/>
            <a:ext cx="10671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B6570"/>
                </a:solidFill>
                <a:latin typeface="Arial"/>
              </a:rPr>
              <a:t>This LLM band is the intended output — it can escalate (delete_all_events high→critical) or de-escalate a modest write. ~52% of stored bands are this override.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Input-parameter scoring — the value can swing the band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87552"/>
            <a:ext cx="106710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Beyond which tool touches which asset, the value matters: inviting 3 people vs 200, a bounded SELECT … LIMIT 100 vs an unbounded one, a money amount. A per-tool rubric escalates — never lowers — the cell band.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" y="1600200"/>
          <a:ext cx="10671048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server</a:t>
                      </a:r>
                    </a:p>
                  </a:txBody>
                  <a:tcPr marT="18288" marB="18288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T="18288" marB="18288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T="18288" marB="18288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swing</a:t>
                      </a:r>
                    </a:p>
                  </a:txBody>
                  <a:tcPr marT="18288" marB="18288" anchor="ctr">
                    <a:solidFill>
                      <a:srgbClr val="111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top trigger</a:t>
                      </a:r>
                    </a:p>
                  </a:txBody>
                  <a:tcPr marT="18288" marB="18288" anchor="ctr">
                    <a:solidFill>
                      <a:srgbClr val="111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calendar_cbg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send_email_invite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recipients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1251B"/>
                          </a:solidFill>
                          <a:latin typeface="Arial"/>
                        </a:rPr>
                        <a:t>low → critical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items ≥ 50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calendar_cbg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create_event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attendees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1251B"/>
                          </a:solidFill>
                          <a:latin typeface="Arial"/>
                        </a:rPr>
                        <a:t>low → critical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items ≥ 20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fs_*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read_multiple_files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paths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1251B"/>
                          </a:solidFill>
                          <a:latin typeface="Arial"/>
                        </a:rPr>
                        <a:t>low → critical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items ≥ 20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sqlite_*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read_query / write_query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Courier New"/>
                        </a:rPr>
                        <a:t>sql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1251B"/>
                          </a:solidFill>
                          <a:latin typeface="Arial"/>
                        </a:rPr>
                        <a:t>low → critical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530"/>
                          </a:solidFill>
                          <a:latin typeface="Arial"/>
                        </a:rPr>
                        <a:t>unbounded (no LIMIT)</a:t>
                      </a:r>
                    </a:p>
                  </a:txBody>
                  <a:tcPr marT="18288" marB="18288" anchor="ctr">
                    <a:solidFill>
                      <a:srgbClr val="F5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" y="4526280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4690872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4F"/>
                </a:solidFill>
                <a:latin typeface="Arial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9112" y="4690872"/>
            <a:ext cx="1965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B2530"/>
                </a:solidFill>
                <a:latin typeface="Arial"/>
              </a:rPr>
              <a:t>magnitude parameters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6570"/>
                </a:solidFill>
                <a:latin typeface="Arial"/>
              </a:rPr>
              <a:t>across 9 servers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4526280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FC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26864" y="4690872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1251B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8423" y="4690872"/>
            <a:ext cx="1965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B2530"/>
                </a:solidFill>
                <a:latin typeface="Arial"/>
              </a:rPr>
              <a:t>found on github last scan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6570"/>
                </a:solidFill>
                <a:latin typeface="Arial"/>
              </a:rPr>
              <a:t>gap the improved prompt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4526280"/>
            <a:ext cx="3401568" cy="1234440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5" y="4690872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4F"/>
                </a:solidFill>
                <a:latin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7736" y="4690872"/>
            <a:ext cx="1965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B2530"/>
                </a:solidFill>
                <a:latin typeface="Arial"/>
              </a:rPr>
              <a:t>a money amount on a payments tool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6570"/>
                </a:solidFill>
                <a:latin typeface="Arial"/>
              </a:rPr>
              <a:t>would surface here identically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Call scoring — resolve an observed call, or admit you can't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87552"/>
            <a:ext cx="1067104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E444E"/>
                </a:solidFill>
                <a:latin typeface="Arial"/>
              </a:rPr>
              <a:t>call_scoring/ resolves a captured call's arguments to a scanned asset (filesystem by path-suffix, SQL by table, slack by channel, calendar by calendar, github by repo) and returns the cell's band — escalated by the parameter rubric. Crucially, it never fabricates.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783080"/>
            <a:ext cx="34015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87552" y="2039112"/>
            <a:ext cx="2944368" cy="566928"/>
          </a:xfrm>
          <a:prstGeom prst="roundRect">
            <a:avLst>
              <a:gd name="adj" fmla="val 6000"/>
            </a:avLst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039112"/>
            <a:ext cx="2944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invalid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788920"/>
            <a:ext cx="28529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B2530"/>
                </a:solidFill>
                <a:latin typeface="Arial"/>
              </a:rPr>
              <a:t>Call to a tool the server never advertised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611880"/>
            <a:ext cx="2852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1251B"/>
                </a:solidFill>
                <a:latin typeface="Courier New"/>
              </a:rPr>
              <a:t>→ invalid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692" y="1783080"/>
            <a:ext cx="34015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22292" y="2039112"/>
            <a:ext cx="2944368" cy="566928"/>
          </a:xfrm>
          <a:prstGeom prst="roundRect">
            <a:avLst>
              <a:gd name="adj" fmla="val 6000"/>
            </a:avLst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2292" y="2039112"/>
            <a:ext cx="2944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unresolved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8012" y="2788920"/>
            <a:ext cx="28529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B2530"/>
                </a:solidFill>
                <a:latin typeface="Arial"/>
              </a:rPr>
              <a:t>Call to an asset the scan never enumerated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8012" y="3611880"/>
            <a:ext cx="2852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26A52"/>
                </a:solidFill>
                <a:latin typeface="Courier New"/>
              </a:rPr>
              <a:t>→ unresolved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40156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57031" y="2039112"/>
            <a:ext cx="2944368" cy="566928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2039112"/>
            <a:ext cx="29443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banded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88920"/>
            <a:ext cx="28529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2B2530"/>
                </a:solidFill>
                <a:latin typeface="Arial"/>
              </a:rPr>
              <a:t>Only a resolved (tool, asset)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11880"/>
            <a:ext cx="2852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8B57"/>
                </a:solidFill>
                <a:latin typeface="Courier New"/>
              </a:rPr>
              <a:t>→ a real band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4343400"/>
            <a:ext cx="10671048" cy="658368"/>
          </a:xfrm>
          <a:prstGeom prst="roundRect">
            <a:avLst>
              <a:gd name="adj" fmla="val 6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343400"/>
            <a:ext cx="102138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FFFFFF"/>
                </a:solidFill>
                <a:latin typeface="Arial"/>
              </a:rPr>
              <a:t>This is what keeps the scorer general: it reports what the scan says, or admits it cannot — but never invents a number.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Coverage — ten servers · five kinds · 1,700 cells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58952" y="1417320"/>
          <a:ext cx="7772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732520" y="1463040"/>
            <a:ext cx="2743200" cy="896112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33688" y="155448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1184F"/>
                </a:solidFill>
                <a:latin typeface="Arial"/>
              </a:rPr>
              <a:t>1,700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155448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E444E"/>
                </a:solidFill>
                <a:latin typeface="Arial"/>
              </a:rPr>
              <a:t>cells scored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496312"/>
            <a:ext cx="2743200" cy="896112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33688" y="2587752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1251B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2587752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E444E"/>
                </a:solidFill>
                <a:latin typeface="Arial"/>
              </a:rPr>
              <a:t>MCP servers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3529584"/>
            <a:ext cx="2743200" cy="896112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33688" y="362102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26A52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3621024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E444E"/>
                </a:solidFill>
                <a:latin typeface="Arial"/>
              </a:rPr>
              <a:t>server kinds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562856"/>
            <a:ext cx="2743200" cy="896112"/>
          </a:xfrm>
          <a:prstGeom prst="roundRect">
            <a:avLst>
              <a:gd name="adj" fmla="val 6000"/>
            </a:avLst>
          </a:prstGeom>
          <a:solidFill>
            <a:srgbClr val="F5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33688" y="4654296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9E1B1B"/>
                </a:solidFill>
                <a:latin typeface="Arial"/>
              </a:rPr>
              <a:t>~1–2%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465429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E444E"/>
                </a:solidFill>
                <a:latin typeface="Arial"/>
              </a:rPr>
              <a:t>land in 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6692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6570"/>
                </a:solidFill>
                <a:latin typeface="Arial"/>
              </a:rPr>
              <a:t>Filesystem servers dominate the cell count — 14 tools × up to 23 asset classes each.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1184F"/>
                </a:solidFill>
                <a:latin typeface="Arial"/>
              </a:rPr>
              <a:t>Validation — four checks; the scanner never sees the answer key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" y="1600200"/>
            <a:ext cx="457200" cy="457200"/>
          </a:xfrm>
          <a:prstGeom prst="ellipse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627632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vs LLM-reviewed ground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217627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1184F"/>
                </a:solidFill>
                <a:latin typeface="Arial"/>
              </a:rPr>
              <a:t>97%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4992" y="21762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530"/>
                </a:solidFill>
                <a:latin typeface="Arial"/>
              </a:rPr>
              <a:t>tool-impact agreement (59/61)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85292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6570"/>
                </a:solidFill>
                <a:latin typeface="Arial"/>
              </a:rPr>
              <a:t>asset-sensitivity 71% · full-band cell thin (one banded server)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627632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vs an independent oracle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7627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26A52"/>
                </a:solidFill>
                <a:latin typeface="Arial"/>
              </a:rPr>
              <a:t>35% / 69%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1762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530"/>
                </a:solidFill>
                <a:latin typeface="Arial"/>
              </a:rPr>
              <a:t>exact / within-one vs consensus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85292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6570"/>
                </a:solidFill>
                <a:latin typeface="Arial"/>
              </a:rPr>
              <a:t>inter-rater ceiling is 50% / 78% — within the human spread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6576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87552" y="388620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13632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as a graded severity scorer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46227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8B57"/>
                </a:solidFill>
                <a:latin typeface="Arial"/>
              </a:rPr>
              <a:t>0.64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44622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530"/>
                </a:solidFill>
                <a:latin typeface="Arial"/>
              </a:rPr>
              <a:t>Spearman on unseen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513892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6570"/>
                </a:solidFill>
                <a:latin typeface="Arial"/>
              </a:rPr>
              <a:t>beats CVSS &amp; DREAD, ties NIST/OWASP; &gt; AgentTrust's 0.43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6576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00800" y="3886200"/>
            <a:ext cx="457200" cy="457200"/>
          </a:xfrm>
          <a:prstGeom prst="ellipse">
            <a:avLst/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913632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4F"/>
                </a:solidFill>
                <a:latin typeface="Arial"/>
              </a:rPr>
              <a:t>formula robustness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46227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E8720C"/>
                </a:solidFill>
                <a:latin typeface="Arial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462272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530"/>
                </a:solidFill>
                <a:latin typeface="Arial"/>
              </a:rPr>
              <a:t>of cells stable under ±1 (weak spot)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513892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6570"/>
                </a:solidFill>
                <a:latin typeface="Arial"/>
              </a:rPr>
              <a:t>85% flip band under a one-step primitive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Arial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051560"/>
            <a:ext cx="106710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6A52"/>
                </a:solidFill>
                <a:latin typeface="Arial"/>
              </a:rPr>
              <a:t>Faithful, within the human spread — and honest about two calibration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74519"/>
            <a:ext cx="5257800" cy="3749039"/>
          </a:xfrm>
          <a:prstGeom prst="roundRect">
            <a:avLst>
              <a:gd name="adj" fmla="val 5000"/>
            </a:avLst>
          </a:prstGeom>
          <a:solidFill>
            <a:srgbClr val="23202C"/>
          </a:solidFill>
          <a:ln w="12700">
            <a:solidFill>
              <a:srgbClr val="343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4983" y="2057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B57"/>
                </a:solidFill>
                <a:latin typeface="Arial"/>
              </a:rPr>
              <a:t>What holds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2542032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400" b="0" i="0">
                <a:solidFill>
                  <a:srgbClr val="DAD5E0"/>
                </a:solidFill>
                <a:latin typeface="Arial"/>
              </a:rPr>
              <a:t>Reproduces reviewed tool-impact judgement at 97%.</a:t>
            </a:r>
          </a:p>
          <a:p>
            <a:pPr marL="201168" indent="-201168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400" b="0" i="0">
                <a:solidFill>
                  <a:srgbClr val="DAD5E0"/>
                </a:solidFill>
                <a:latin typeface="Arial"/>
              </a:rPr>
              <a:t>Sits within the human inter-rater spread on full banding (35% / 69% vs a 50% / 78% ceiling).</a:t>
            </a:r>
          </a:p>
          <a:p>
            <a:pPr marL="201168" indent="-201168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400" b="0" i="0">
                <a:solidFill>
                  <a:srgbClr val="DAD5E0"/>
                </a:solidFill>
                <a:latin typeface="Arial"/>
              </a:rPr>
              <a:t>Beats classical risk frameworks as a severity scorer; generalizes to unseen servers.</a:t>
            </a:r>
          </a:p>
          <a:p>
            <a:pPr marL="201168" indent="-201168">
              <a:lnSpc>
                <a:spcPct val="105000"/>
              </a:lnSpc>
              <a:spcAft>
                <a:spcPts val="1100"/>
              </a:spcAft>
              <a:buFont typeface="Arial"/>
              <a:buChar char="•"/>
            </a:pPr>
            <a:r>
              <a:rPr sz="1400" b="0" i="0">
                <a:solidFill>
                  <a:srgbClr val="DAD5E0"/>
                </a:solidFill>
                <a:latin typeface="Arial"/>
              </a:rPr>
              <a:t>The scorer is faithful and not overfit — it never fabricates a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257800" cy="3749039"/>
          </a:xfrm>
          <a:prstGeom prst="roundRect">
            <a:avLst>
              <a:gd name="adj" fmla="val 5000"/>
            </a:avLst>
          </a:prstGeom>
          <a:solidFill>
            <a:srgbClr val="2E2028"/>
          </a:solidFill>
          <a:ln w="12700">
            <a:solidFill>
              <a:srgbClr val="4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2057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6A52"/>
                </a:solidFill>
                <a:latin typeface="Arial"/>
              </a:rPr>
              <a:t>What to be honest 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542032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EAD9DE"/>
                </a:solidFill>
                <a:latin typeface="Arial"/>
              </a:rPr>
              <a:t>Band labels are ~52% LLM judgement — not reproducible across rescans.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EAD9DE"/>
                </a:solidFill>
                <a:latin typeface="Arial"/>
              </a:rPr>
              <a:t>The formula is fragile: 85% of cells flip band under a ±1 primitive change.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EAD9DE"/>
                </a:solidFill>
                <a:latin typeface="Arial"/>
              </a:rPr>
              <a:t>Content- &amp; obfuscation-blind — scores capability, not intent (dynamic scorer closes this).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EAD9DE"/>
                </a:solidFill>
                <a:latin typeface="Arial"/>
              </a:rPr>
              <a:t>Flat sensitivity on some kinds (every calendar rated 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5806440"/>
            <a:ext cx="10671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B7B1C0"/>
                </a:solidFill>
                <a:latin typeface="Arial"/>
              </a:rPr>
              <a:t>Neither gap is a correctness bug — both are calibration decisions worth owning in the writeup.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6CFE95-771C-4802-B140-C778003BEB93}">
  <ds:schemaRefs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b888f069-4316-4301-b40e-a42e2759f60d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bc213cb-2322-46ee-a57c-56e57332137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7652</TotalTime>
  <Words>1906</Words>
  <Application>Microsoft Office PowerPoint</Application>
  <PresentationFormat>Custom</PresentationFormat>
  <Paragraphs>378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Lenovo Master</vt:lpstr>
      <vt:lpstr>The MCP Static Scanner</vt:lpstr>
      <vt:lpstr>Design time builds the matrix; runtime just looks up</vt:lpstr>
      <vt:lpstr>Three primitives the LLM derives, multiplied</vt:lpstr>
      <vt:lpstr>Complete matrix — sqlite : cbg_sqlite  (35 cells)</vt:lpstr>
      <vt:lpstr>Complete matrix — calendar : cbg  (66 cells)</vt:lpstr>
      <vt:lpstr>Six LLM stages turn a tool list into a banded matrix</vt:lpstr>
      <vt:lpstr>Prompts — Stage 0 infers the domain, Stage 1 rates the tool</vt:lpstr>
      <vt:lpstr>Prompts — the two axes: sensitivity, and reach</vt:lpstr>
      <vt:lpstr>Prompts — an independent judge, then the LLM band</vt:lpstr>
      <vt:lpstr>Input-parameter scoring — the value can swing the band</vt:lpstr>
      <vt:lpstr>Call scoring — resolve an observed call, or admit you can't</vt:lpstr>
      <vt:lpstr>Coverage — ten servers · five kinds · 1,700 cells</vt:lpstr>
      <vt:lpstr>Validation — four checks; the scanner never sees the answer key</vt:lpstr>
      <vt:lpstr>Bottom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תומר עובדיה</cp:lastModifiedBy>
  <cp:revision>2</cp:revision>
  <dcterms:created xsi:type="dcterms:W3CDTF">2025-02-26T11:25:58Z</dcterms:created>
  <dcterms:modified xsi:type="dcterms:W3CDTF">2026-07-06T11:16:43Z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