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4" r:id="rId5"/>
    <p:sldId id="509" r:id="rId6"/>
    <p:sldId id="502" r:id="rId7"/>
    <p:sldId id="503" r:id="rId8"/>
    <p:sldId id="510" r:id="rId9"/>
    <p:sldId id="364" r:id="rId1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5" autoAdjust="0"/>
    <p:restoredTop sz="83353" autoAdjust="0"/>
  </p:normalViewPr>
  <p:slideViewPr>
    <p:cSldViewPr snapToGrid="0" snapToObjects="1">
      <p:cViewPr varScale="1">
        <p:scale>
          <a:sx n="113" d="100"/>
          <a:sy n="113" d="100"/>
        </p:scale>
        <p:origin x="870" y="114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4/28/2026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09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387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5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  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  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50334" y="1524000"/>
            <a:ext cx="9912096" cy="3273368"/>
          </a:xfrm>
        </p:spPr>
        <p:txBody>
          <a:bodyPr/>
          <a:lstStyle/>
          <a:p>
            <a:r>
              <a:rPr lang="en-US" dirty="0"/>
              <a:t>MCP Proxy </a:t>
            </a:r>
            <a:br>
              <a:rPr lang="en-US" dirty="0"/>
            </a:br>
            <a:r>
              <a:rPr lang="en-US" dirty="0"/>
              <a:t>Logging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60414" y="5046115"/>
            <a:ext cx="9912096" cy="356616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39344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MCP proxy?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What it is</a:t>
            </a:r>
          </a:p>
          <a:p>
            <a:pPr lvl="1"/>
            <a:r>
              <a:rPr lang="en-US" dirty="0"/>
              <a:t>A pass-through layer between clients and servers</a:t>
            </a:r>
          </a:p>
          <a:p>
            <a:pPr lvl="1"/>
            <a:r>
              <a:rPr lang="en-US" dirty="0"/>
              <a:t>Speaks MCP on both sides — looks like a server to your agent / REPL, and like a client to each backend</a:t>
            </a:r>
          </a:p>
          <a:p>
            <a:pPr lvl="1"/>
            <a:r>
              <a:rPr lang="en-US" dirty="0"/>
              <a:t>Sits transparently in the middle — neither side has to change</a:t>
            </a:r>
          </a:p>
          <a:p>
            <a:pPr lvl="1"/>
            <a:r>
              <a:rPr lang="en-US" dirty="0"/>
              <a:t>One process, one SSE endpoint, many backends behind it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b="1" dirty="0"/>
              <a:t>What it does</a:t>
            </a:r>
          </a:p>
          <a:p>
            <a:pPr lvl="1"/>
            <a:r>
              <a:rPr lang="en-US" dirty="0"/>
              <a:t>Receives every JSON-RPC request from the client (tools/list, tools/call, ...)</a:t>
            </a:r>
          </a:p>
          <a:p>
            <a:pPr lvl="1"/>
            <a:r>
              <a:rPr lang="en-US" dirty="0"/>
              <a:t>Forwards the request to the right backend and returns the response</a:t>
            </a:r>
          </a:p>
          <a:p>
            <a:pPr lvl="1"/>
            <a:r>
              <a:rPr lang="en-US" dirty="0"/>
              <a:t>Captures every request and response that flows through — the camera</a:t>
            </a:r>
          </a:p>
          <a:p>
            <a:pPr lvl="1"/>
            <a:r>
              <a:rPr lang="en-US" dirty="0"/>
              <a:t>Aggregates many backends behind one endpoint with namespaced tool names</a:t>
            </a:r>
          </a:p>
          <a:p>
            <a:pPr lvl="1"/>
            <a:r>
              <a:rPr lang="en-US" dirty="0"/>
              <a:t>A natural hook point for security checks before forwarding (later)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5D3821-B7B3-9516-06C4-E54FDC2EB7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11538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One MCP client, one proxy, multiple backends — middleware in the middle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proxy sits in the call 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4FDB9-AD3F-C7BE-7523-01E87B0F02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450000" y="3000000"/>
            <a:ext cx="2200000" cy="130000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rial"/>
              </a:rPr>
              <a:t>MCP client</a:t>
            </a:r>
          </a:p>
          <a:p>
            <a:pPr algn="ctr"/>
            <a:endParaRPr sz="1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00000" y="1700000"/>
            <a:ext cx="5800000" cy="4250000"/>
          </a:xfrm>
          <a:prstGeom prst="roundRect">
            <a:avLst/>
          </a:prstGeom>
          <a:solidFill>
            <a:srgbClr val="F4F6FA"/>
          </a:solidFill>
          <a:ln w="317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50000" y="1880000"/>
            <a:ext cx="55000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i="0" dirty="0">
                <a:solidFill>
                  <a:srgbClr val="1F3A5F"/>
                </a:solidFill>
                <a:latin typeface="Arial"/>
              </a:rPr>
              <a:t>Our MCP Proxy   (single </a:t>
            </a:r>
            <a:r>
              <a:rPr lang="en-US" sz="1800" b="1" dirty="0">
                <a:solidFill>
                  <a:srgbClr val="1F3A5F"/>
                </a:solidFill>
              </a:rPr>
              <a:t>Server-Sent Events (</a:t>
            </a:r>
            <a:r>
              <a:rPr sz="1800" b="1" i="0" dirty="0">
                <a:solidFill>
                  <a:srgbClr val="1F3A5F"/>
                </a:solidFill>
                <a:latin typeface="Arial"/>
              </a:rPr>
              <a:t>SSE</a:t>
            </a:r>
            <a:r>
              <a:rPr lang="en-US" sz="1800" b="1" i="0" dirty="0">
                <a:solidFill>
                  <a:srgbClr val="1F3A5F"/>
                </a:solidFill>
                <a:latin typeface="Arial"/>
              </a:rPr>
              <a:t>) endpoint</a:t>
            </a:r>
            <a:r>
              <a:rPr sz="1800" b="1" i="0" dirty="0">
                <a:solidFill>
                  <a:srgbClr val="1F3A5F"/>
                </a:solidFill>
                <a:latin typeface="Arial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4667" y="2410000"/>
            <a:ext cx="5000000" cy="800000"/>
          </a:xfrm>
          <a:prstGeom prst="round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300" b="0" dirty="0">
                <a:solidFill>
                  <a:srgbClr val="FFFFFF"/>
                </a:solidFill>
                <a:latin typeface="Arial"/>
              </a:rPr>
              <a:t>Scoring in the future </a:t>
            </a:r>
            <a:endParaRPr sz="13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00000" y="3450000"/>
            <a:ext cx="5000000" cy="21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6F5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0000" y="3610000"/>
            <a:ext cx="444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E76F51"/>
                </a:solidFill>
                <a:latin typeface="Arial"/>
              </a:rPr>
              <a:t>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0000" y="4130000"/>
            <a:ext cx="444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 dirty="0">
                <a:solidFill>
                  <a:srgbClr val="1B2632"/>
                </a:solidFill>
                <a:latin typeface="Arial"/>
              </a:rPr>
              <a:t>one record per call —  who called, with what arguments,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0000" y="4470000"/>
            <a:ext cx="444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1B2632"/>
                </a:solidFill>
                <a:latin typeface="Arial"/>
              </a:rPr>
              <a:t>what came back, errors, timing — all in one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0000" y="4950000"/>
            <a:ext cx="4440000" cy="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>
                <a:solidFill>
                  <a:srgbClr val="C0573C"/>
                </a:solidFill>
                <a:latin typeface="Arial"/>
              </a:rPr>
              <a:t>records every call regardless of what the server emits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15333" y="3681750"/>
            <a:ext cx="2050000" cy="900000"/>
          </a:xfrm>
          <a:prstGeom prst="roundRect">
            <a:avLst/>
          </a:prstGeom>
          <a:solidFill>
            <a:srgbClr val="2E5984"/>
          </a:solidFill>
          <a:ln w="19050">
            <a:solidFill>
              <a:srgbClr val="2E5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filesystem 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38985" y="1945714"/>
            <a:ext cx="2050000" cy="900000"/>
          </a:xfrm>
          <a:prstGeom prst="roundRect">
            <a:avLst/>
          </a:prstGeom>
          <a:solidFill>
            <a:srgbClr val="2E5984"/>
          </a:solidFill>
          <a:ln w="19050">
            <a:solidFill>
              <a:srgbClr val="2E5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git 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00000" y="4700000"/>
            <a:ext cx="2050000" cy="900000"/>
          </a:xfrm>
          <a:prstGeom prst="roundRect">
            <a:avLst/>
          </a:prstGeom>
          <a:solidFill>
            <a:srgbClr val="2E5984"/>
          </a:solidFill>
          <a:ln w="19050">
            <a:solidFill>
              <a:srgbClr val="2E5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time  server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50000" y="3650000"/>
            <a:ext cx="1050000" cy="0"/>
          </a:xfrm>
          <a:prstGeom prst="line">
            <a:avLst/>
          </a:prstGeom>
          <a:ln w="25400">
            <a:solidFill>
              <a:srgbClr val="34495E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</p:cNvCxnSpPr>
          <p:nvPr/>
        </p:nvCxnSpPr>
        <p:spPr>
          <a:xfrm>
            <a:off x="9479001" y="2382300"/>
            <a:ext cx="336332" cy="0"/>
          </a:xfrm>
          <a:prstGeom prst="line">
            <a:avLst/>
          </a:prstGeom>
          <a:ln w="25400">
            <a:solidFill>
              <a:srgbClr val="34495E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</p:cNvCxnSpPr>
          <p:nvPr/>
        </p:nvCxnSpPr>
        <p:spPr>
          <a:xfrm>
            <a:off x="9500000" y="4093526"/>
            <a:ext cx="315333" cy="0"/>
          </a:xfrm>
          <a:prstGeom prst="line">
            <a:avLst/>
          </a:prstGeom>
          <a:ln w="25400">
            <a:solidFill>
              <a:srgbClr val="34495E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</p:cNvCxnSpPr>
          <p:nvPr/>
        </p:nvCxnSpPr>
        <p:spPr>
          <a:xfrm flipV="1">
            <a:off x="9538825" y="5150000"/>
            <a:ext cx="261175" cy="8000"/>
          </a:xfrm>
          <a:prstGeom prst="line">
            <a:avLst/>
          </a:prstGeom>
          <a:ln w="25400">
            <a:solidFill>
              <a:srgbClr val="34495E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0000" y="6080000"/>
            <a:ext cx="11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1B2632"/>
                </a:solidFill>
                <a:latin typeface="Arial"/>
              </a:rPr>
              <a:t>The server still emits its own notifications/message — that is the narrator.   The proxy is a passive camera that records every call.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C343A2-C1DD-4DE0-97C1-718E09690532}"/>
              </a:ext>
            </a:extLst>
          </p:cNvPr>
          <p:cNvSpPr/>
          <p:nvPr/>
        </p:nvSpPr>
        <p:spPr>
          <a:xfrm>
            <a:off x="10328237" y="3198167"/>
            <a:ext cx="8835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Local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FD3554-8360-4834-B1BA-4F2AA706099A}"/>
              </a:ext>
            </a:extLst>
          </p:cNvPr>
          <p:cNvSpPr/>
          <p:nvPr/>
        </p:nvSpPr>
        <p:spPr>
          <a:xfrm>
            <a:off x="10398545" y="1433683"/>
            <a:ext cx="7429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317157360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single audit.jsonl entry — args, response, score, timing, all together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— what the proxy actually captures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C4FDB9-AD3F-C7BE-7523-01E87B0F02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F29602-DD06-4F18-B915-0D8616958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65" y="1335073"/>
            <a:ext cx="9800765" cy="52211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C28EA94-E871-42FC-9579-F3C585C8AB99}"/>
              </a:ext>
            </a:extLst>
          </p:cNvPr>
          <p:cNvSpPr/>
          <p:nvPr/>
        </p:nvSpPr>
        <p:spPr>
          <a:xfrm>
            <a:off x="7106281" y="2926100"/>
            <a:ext cx="11208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session key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B30FF1-5A18-4063-B859-F72DE63327C8}"/>
              </a:ext>
            </a:extLst>
          </p:cNvPr>
          <p:cNvCxnSpPr>
            <a:cxnSpLocks/>
          </p:cNvCxnSpPr>
          <p:nvPr/>
        </p:nvCxnSpPr>
        <p:spPr>
          <a:xfrm flipH="1">
            <a:off x="6794870" y="3177474"/>
            <a:ext cx="377455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B1334CC-89C1-48EE-88C8-0EC2C47223F8}"/>
              </a:ext>
            </a:extLst>
          </p:cNvPr>
          <p:cNvSpPr/>
          <p:nvPr/>
        </p:nvSpPr>
        <p:spPr>
          <a:xfrm>
            <a:off x="10640056" y="3079989"/>
            <a:ext cx="10743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Input + tool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B04825-167D-44CB-B613-D38759F2E676}"/>
              </a:ext>
            </a:extLst>
          </p:cNvPr>
          <p:cNvCxnSpPr>
            <a:cxnSpLocks/>
          </p:cNvCxnSpPr>
          <p:nvPr/>
        </p:nvCxnSpPr>
        <p:spPr>
          <a:xfrm flipH="1">
            <a:off x="10328645" y="3345524"/>
            <a:ext cx="377455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3002AB7-F646-4382-9272-964F77924954}"/>
              </a:ext>
            </a:extLst>
          </p:cNvPr>
          <p:cNvSpPr/>
          <p:nvPr/>
        </p:nvSpPr>
        <p:spPr>
          <a:xfrm>
            <a:off x="10894294" y="4877039"/>
            <a:ext cx="6815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output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A9DEE4-3D5F-4398-9B27-A7403103D5E9}"/>
              </a:ext>
            </a:extLst>
          </p:cNvPr>
          <p:cNvCxnSpPr>
            <a:cxnSpLocks/>
          </p:cNvCxnSpPr>
          <p:nvPr/>
        </p:nvCxnSpPr>
        <p:spPr>
          <a:xfrm flipH="1">
            <a:off x="10582883" y="5142574"/>
            <a:ext cx="377455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9357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CAB14-C9DC-409A-B8E1-D4AABA19D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01458-EC58-43BF-AA20-9B04E29F9C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What use cases we would like to simulate/emulate?</a:t>
            </a:r>
          </a:p>
          <a:p>
            <a:r>
              <a:rPr lang="en-US" dirty="0"/>
              <a:t>What real </a:t>
            </a:r>
            <a:r>
              <a:rPr lang="en-US" dirty="0" err="1"/>
              <a:t>mcp</a:t>
            </a:r>
            <a:r>
              <a:rPr lang="en-US" dirty="0"/>
              <a:t> server we would like </a:t>
            </a:r>
            <a:r>
              <a:rPr lang="en-US"/>
              <a:t>to evaluate?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D0171E-95E6-4D60-A8E8-F31E3F947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19023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51197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http://schemas.microsoft.com/office/infopath/2007/PartnerControls"/>
    <ds:schemaRef ds:uri="http://purl.org/dc/terms/"/>
    <ds:schemaRef ds:uri="http://purl.org/dc/dcmitype/"/>
    <ds:schemaRef ds:uri="b888f069-4316-4301-b40e-a42e2759f60d"/>
    <ds:schemaRef ds:uri="fbc213cb-2322-46ee-a57c-56e573321373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sharepoint/v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7719</TotalTime>
  <Words>298</Words>
  <Application>Microsoft Office PowerPoint</Application>
  <PresentationFormat>Custom</PresentationFormat>
  <Paragraphs>44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Lenovo Master</vt:lpstr>
      <vt:lpstr>MCP Proxy  Logging</vt:lpstr>
      <vt:lpstr>What is an MCP proxy?</vt:lpstr>
      <vt:lpstr>How the proxy sits in the call flow</vt:lpstr>
      <vt:lpstr>Example — what the proxy actually captures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</dc:title>
  <dc:creator>user</dc:creator>
  <cp:lastModifiedBy>תומר עובדיה</cp:lastModifiedBy>
  <cp:revision>9</cp:revision>
  <dcterms:created xsi:type="dcterms:W3CDTF">2025-02-26T11:25:58Z</dcterms:created>
  <dcterms:modified xsi:type="dcterms:W3CDTF">2026-04-28T14:31:48Z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