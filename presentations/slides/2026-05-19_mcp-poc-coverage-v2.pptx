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7729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2200" b="1">
                <a:solidFill>
                  <a:srgbClr val="000000"/>
                </a:solidFill>
              </a:rPr>
              <a:t>We started with 3 MCPs to cover a wide range of operations and misuse possibilities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3576218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800" b="1" i="0">
                <a:solidFill>
                  <a:srgbClr val="000000"/>
                </a:solidFill>
              </a:rPr>
              <a:t>Filesystem MCP</a:t>
            </a:r>
          </a:p>
          <a:p>
            <a:pPr algn="l">
              <a:spcBef>
                <a:spcPts val="600"/>
              </a:spcBef>
            </a:pPr>
            <a:r>
              <a:rPr sz="1200" b="0" i="1">
                <a:solidFill>
                  <a:srgbClr val="444444"/>
                </a:solidFill>
              </a:rPr>
              <a:t>An MCP server that exposes a local directory tree, allowing an AI agent to read, write, and manipulate files on the host machine.</a:t>
            </a:r>
          </a:p>
          <a:p>
            <a:pPr algn="l">
              <a:spcBef>
                <a:spcPts val="1400"/>
              </a:spcBef>
            </a:pPr>
            <a:r>
              <a:rPr sz="1300" b="1" i="0">
                <a:solidFill>
                  <a:srgbClr val="000000"/>
                </a:solidFill>
              </a:rPr>
              <a:t>read_file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444444"/>
                </a:solidFill>
              </a:rPr>
              <a:t>Returns the full content of any file — can expose credentials, keys, or source code stored anywhere in the tree.</a:t>
            </a:r>
          </a:p>
          <a:p>
            <a:pPr algn="l">
              <a:spcBef>
                <a:spcPts val="1400"/>
              </a:spcBef>
            </a:pPr>
            <a:r>
              <a:rPr sz="1300" b="1" i="0">
                <a:solidFill>
                  <a:srgbClr val="000000"/>
                </a:solidFill>
              </a:rPr>
              <a:t>write_file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444444"/>
                </a:solidFill>
              </a:rPr>
              <a:t>Creates or overwrites a file with agent-supplied content — can inject backdoors or corrupt critical configs.</a:t>
            </a:r>
          </a:p>
          <a:p>
            <a:pPr algn="l">
              <a:spcBef>
                <a:spcPts val="1400"/>
              </a:spcBef>
            </a:pPr>
            <a:r>
              <a:rPr sz="1300" b="1" i="0">
                <a:solidFill>
                  <a:srgbClr val="000000"/>
                </a:solidFill>
              </a:rPr>
              <a:t>move_file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444444"/>
                </a:solidFill>
              </a:rPr>
              <a:t>Relocates a file to a new path — can hide sensitive files or stage data for later exfiltration.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07738" y="914400"/>
            <a:ext cx="3576218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800" b="1" i="0">
                <a:solidFill>
                  <a:srgbClr val="000000"/>
                </a:solidFill>
              </a:rPr>
              <a:t>SQLite MCP</a:t>
            </a:r>
          </a:p>
          <a:p>
            <a:pPr algn="l">
              <a:spcBef>
                <a:spcPts val="600"/>
              </a:spcBef>
            </a:pPr>
            <a:r>
              <a:rPr sz="1200" b="0" i="1">
                <a:solidFill>
                  <a:srgbClr val="444444"/>
                </a:solidFill>
              </a:rPr>
              <a:t>An MCP server wrapping a SQLite database, enabling an AI agent to query and modify structured data through SQL operations.</a:t>
            </a:r>
          </a:p>
          <a:p>
            <a:pPr algn="l">
              <a:spcBef>
                <a:spcPts val="1400"/>
              </a:spcBef>
            </a:pPr>
            <a:r>
              <a:rPr sz="1300" b="1" i="0">
                <a:solidFill>
                  <a:srgbClr val="000000"/>
                </a:solidFill>
              </a:rPr>
              <a:t>read_query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444444"/>
                </a:solidFill>
              </a:rPr>
              <a:t>Executes SELECT statements — grants read access to any table, exposing PII, credentials, or business records at scale.</a:t>
            </a:r>
          </a:p>
          <a:p>
            <a:pPr algn="l">
              <a:spcBef>
                <a:spcPts val="1400"/>
              </a:spcBef>
            </a:pPr>
            <a:r>
              <a:rPr sz="1300" b="1" i="0">
                <a:solidFill>
                  <a:srgbClr val="000000"/>
                </a:solidFill>
              </a:rPr>
              <a:t>write_query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444444"/>
                </a:solidFill>
              </a:rPr>
              <a:t>Executes INSERT / UPDATE / DELETE — three blast radii under a single tool name; can corrupt or wipe stored data.</a:t>
            </a:r>
          </a:p>
          <a:p>
            <a:pPr algn="l">
              <a:spcBef>
                <a:spcPts val="1400"/>
              </a:spcBef>
            </a:pPr>
            <a:r>
              <a:rPr sz="1300" b="1" i="0">
                <a:solidFill>
                  <a:srgbClr val="000000"/>
                </a:solidFill>
              </a:rPr>
              <a:t>list_tables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444444"/>
                </a:solidFill>
              </a:rPr>
              <a:t>Returns all table names — full schema discovery with one call, the first step in any targeted data attack.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58276" y="914400"/>
            <a:ext cx="3576218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800" b="1" i="0">
                <a:solidFill>
                  <a:srgbClr val="000000"/>
                </a:solidFill>
              </a:rPr>
              <a:t>Slack MCP</a:t>
            </a:r>
          </a:p>
          <a:p>
            <a:pPr algn="l">
              <a:spcBef>
                <a:spcPts val="600"/>
              </a:spcBef>
            </a:pPr>
            <a:r>
              <a:rPr sz="1200" b="0" i="1">
                <a:solidFill>
                  <a:srgbClr val="444444"/>
                </a:solidFill>
              </a:rPr>
              <a:t>An MCP server that connects an AI agent to a Slack workspace, enabling it to read messages, post content, and interact with channels.</a:t>
            </a:r>
          </a:p>
          <a:p>
            <a:pPr algn="l">
              <a:spcBef>
                <a:spcPts val="1400"/>
              </a:spcBef>
            </a:pPr>
            <a:r>
              <a:rPr sz="1300" b="1" i="0">
                <a:solidFill>
                  <a:srgbClr val="000000"/>
                </a:solidFill>
              </a:rPr>
              <a:t>post_message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444444"/>
                </a:solidFill>
              </a:rPr>
              <a:t>Sends messages as the authenticated user — enables phishing, misinformation, or data exfiltration via chat.</a:t>
            </a:r>
          </a:p>
          <a:p>
            <a:pPr algn="l">
              <a:spcBef>
                <a:spcPts val="1400"/>
              </a:spcBef>
            </a:pPr>
            <a:r>
              <a:rPr sz="1300" b="1" i="0">
                <a:solidFill>
                  <a:srgbClr val="000000"/>
                </a:solidFill>
              </a:rPr>
              <a:t>get_channel_history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444444"/>
                </a:solidFill>
              </a:rPr>
              <a:t>Retrieves full conversation history — exposes private discussions, credentials shared in chat, and strategic decisions.</a:t>
            </a:r>
          </a:p>
          <a:p>
            <a:pPr algn="l">
              <a:spcBef>
                <a:spcPts val="1400"/>
              </a:spcBef>
            </a:pPr>
            <a:r>
              <a:rPr sz="1300" b="1" i="0">
                <a:solidFill>
                  <a:srgbClr val="000000"/>
                </a:solidFill>
              </a:rPr>
              <a:t>list_channels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444444"/>
                </a:solidFill>
              </a:rPr>
              <a:t>Enumerates all visible channels — maps the org's communication structure for targeted follow-up attacks.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