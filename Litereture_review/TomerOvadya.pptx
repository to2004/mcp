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5"/>
    <p:sldId id="258" r:id="rId4"/>
    <p:sldId id="259" r:id="rId3"/>
    <p:sldId id="260" r:id="rId2"/>
    <p:sldId id="261" r:id="rId12"/>
    <p:sldId id="262" r:id="rId13"/>
    <p:sldId id="26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128" y="55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5.xml"/><Relationship Id="rId3" Type="http://schemas.openxmlformats.org/officeDocument/2006/relationships/slide" Target="slides/slide4.xml"/><Relationship Id="rId4" Type="http://schemas.openxmlformats.org/officeDocument/2006/relationships/slide" Target="slides/slide3.xml"/><Relationship Id="rId5" Type="http://schemas.openxmlformats.org/officeDocument/2006/relationships/slide" Target="slides/slide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0F73B4-5C4D-43D3-9B0F-DFCF4FAC602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100078-1288-440E-909C-59AA2A26B6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916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708B6-8648-416E-8FAC-4DAE37E2B9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133352-BC8F-45DC-A7B5-A3E0AB0E7C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E95EF5-201C-42D4-BAFF-CCB30AC42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9E0CB-EF5B-4388-909C-B296337DFCE1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89BA2E-50D1-45F4-8212-7DB8DA33F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71F8FB-A452-470B-A48F-04333F20C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4FB8F-7C3C-45A5-B989-92C87E8AF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515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CD99B-FD71-4A3E-B213-071E898A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1EB48-6F4C-41C2-A5BC-3E0A4B4E8B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31B915-EE01-40B2-BCE3-F0395C0A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9E0CB-EF5B-4388-909C-B296337DFCE1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186E71-5365-42A5-8E8A-9E0A73195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E823A5-6B80-49E1-88BE-0D01107DD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4FB8F-7C3C-45A5-B989-92C87E8AF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039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51155-E346-423D-BFDA-EB2B0FA96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523949-DB35-49D2-BF22-793A0ECBE9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CCCE1F-724B-4D57-9F02-005108FED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9E0CB-EF5B-4388-909C-B296337DFCE1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53D011-A9AA-46F4-B58E-438ECF2D5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0E4EB7-0935-4021-A7E3-39BD41C52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4FB8F-7C3C-45A5-B989-92C87E8AF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299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CD6D8-54DF-40F7-8EA6-2AF00549A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619DF-B057-462C-8092-92447F5325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AB5CA7-8C20-420C-8C96-C485CAED0A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7388C4-2403-4AD2-ADE4-D6DE54B9D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9E0CB-EF5B-4388-909C-B296337DFCE1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3CACE1-ADA5-4A43-952E-662918E73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65306E-8E74-4058-A8B4-AA14F5F92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4FB8F-7C3C-45A5-B989-92C87E8AF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123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631ED-E7D8-4F9F-B789-A63C18A73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87E8B-5751-4A77-AED0-9DB40A6699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18357A-568A-4DCC-942D-7A32C6398B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61229C-3876-420B-B316-0EFBF5B144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32CEF4-A50B-4BD5-96A9-BBD2F1E8DB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4F343F-AB63-40BF-BF1B-0125FF169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9E0CB-EF5B-4388-909C-B296337DFCE1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F42A37-7F87-4BFD-8412-63FA21CE6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D6F069-A4DA-43E4-A907-E9B84AA7C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4FB8F-7C3C-45A5-B989-92C87E8AF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388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35826-24EC-476D-BE2C-746565057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EA6726-FBB6-4685-9EFF-32F394713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9E0CB-EF5B-4388-909C-B296337DFCE1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6A8C81-6E89-4D8A-84B0-B2852E5F0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F914D3-349E-4CFB-9B48-CA6C58B58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4FB8F-7C3C-45A5-B989-92C87E8AF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774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513201-55A4-4C27-9B02-D7EF5AD44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9E0CB-EF5B-4388-909C-B296337DFCE1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AE7E85-5E20-445B-AD79-144BE4CA9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C1F12A-4D00-46EE-8751-E6DEA134E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4FB8F-7C3C-45A5-B989-92C87E8AF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481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10A35-99F2-4173-B576-B6857530C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D1434-DD2D-44D9-827F-7C63D1921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853104-8512-47ED-BC7C-F8A829ACE9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9929F3-9954-4083-865D-3B80F598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9E0CB-EF5B-4388-909C-B296337DFCE1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589EB8-016E-4418-A402-2C129B9CC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A6DBD9-A2CE-49B6-B272-964448B47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4FB8F-7C3C-45A5-B989-92C87E8AF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100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6A3D2-11B2-4B5B-8BB9-4FE3D52F2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6AA45B-6DA2-446C-ABD0-36F1B5ECA1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F42F4A-A7B6-4608-AD56-93CF63737C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A0A1D0-8BEE-49FF-B102-D3B7B5508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9E0CB-EF5B-4388-909C-B296337DFCE1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E4D8A7-E315-4FFC-A019-F6EEF3686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73F57-8E72-4CF3-8C1C-28F70094B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4FB8F-7C3C-45A5-B989-92C87E8AF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614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3EC86-E46A-4DD4-A02E-0EF063526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DDB998-1B70-4D9B-A288-4B9165B6F1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C26F6C-EDC4-4C44-8372-7C0DBD6A8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9E0CB-EF5B-4388-909C-B296337DFCE1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54ED2-9ADC-422C-9418-EB1FC5999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63E5FC-930D-4C04-AA1D-50FDC4F83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4FB8F-7C3C-45A5-B989-92C87E8AF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329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8B140C-D50D-45F0-B4F0-FF799B1A98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BA92CA-424E-479D-B4C2-EA397F283C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E4992-ED12-4584-BA94-56CB81F93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9E0CB-EF5B-4388-909C-B296337DFCE1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65B2D1-0E81-4860-AEB1-72A746B63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7FA810-BC8E-40AD-8B3B-94430676E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4FB8F-7C3C-45A5-B989-92C87E8AF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8667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039BF0A-2D9C-3FDA-C812-ACB56EA51E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3376" y="0"/>
            <a:ext cx="13204549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4DA3D7B5-5BE4-46C1-BA83-AEDFF303DE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65376" y="4186989"/>
            <a:ext cx="9144000" cy="745617"/>
          </a:xfrm>
        </p:spPr>
        <p:txBody>
          <a:bodyPr>
            <a:normAutofit/>
          </a:bodyPr>
          <a:lstStyle>
            <a:lvl1pPr marL="0" indent="0" algn="l">
              <a:buNone/>
              <a:defRPr lang="he-IL" sz="20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subtitle style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03C65-1526-4474-93EA-92201F973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9B177-566B-45B9-9BF6-239C7A6F6B4B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4A285-90E9-4F27-9CCA-0A2DBEB47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119B0E-8F10-4832-ADC3-EA2B0C457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3B7ABFB-09F4-460B-B477-A1D1ECD4AA1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E63641E-6E31-433F-92A1-D1E0EF473555}"/>
              </a:ext>
            </a:extLst>
          </p:cNvPr>
          <p:cNvSpPr txBox="1">
            <a:spLocks/>
          </p:cNvSpPr>
          <p:nvPr/>
        </p:nvSpPr>
        <p:spPr>
          <a:xfrm>
            <a:off x="1877568" y="6226956"/>
            <a:ext cx="9144000" cy="745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1800" dirty="0">
                <a:solidFill>
                  <a:schemeClr val="tx1"/>
                </a:solidFill>
              </a:rPr>
              <a:t>Telekom Innovation Labs in Israel</a:t>
            </a: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CBG Cyber Security Research Center at Ben Gurion University of the Negev</a:t>
            </a:r>
            <a:endParaRPr lang="pt-BR" sz="1800" dirty="0">
              <a:solidFill>
                <a:schemeClr val="tx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A7EAADB-1CBF-E625-069E-53CF9BC2D7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5376" y="1354011"/>
            <a:ext cx="9144000" cy="238760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e-IL" sz="48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he-IL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9C69AD20-A148-6903-18C2-2FDBC598857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865313" y="5141913"/>
            <a:ext cx="9156700" cy="642937"/>
          </a:xfrm>
        </p:spPr>
        <p:txBody>
          <a:bodyPr/>
          <a:lstStyle>
            <a:lvl1pPr marL="0" indent="0">
              <a:buNone/>
              <a:defRPr lang="en-US" sz="2000" kern="1200" dirty="0" smtClean="0">
                <a:solidFill>
                  <a:srgbClr val="009DBB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20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>
              <a:defRPr lang="en-US" sz="20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>
              <a:defRPr lang="en-US" sz="20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>
              <a:defRPr lang="he-IL" sz="20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8211829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D3F048-F6F0-4459-AB5C-A6F8A734C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051D29-7995-43A5-8862-AACF53663C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7A74F8-6965-4EE2-9A71-01E9314CB8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A9E0CB-EF5B-4388-909C-B296337DFCE1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4DDFC-4296-4A93-892A-CA18505250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8AC022-DF2E-439E-9919-0896A3C511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D4FB8F-7C3C-45A5-B989-92C87E8AF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610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418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09DBB"/>
                </a:solidFill>
                <a:latin typeface="Calibri Light"/>
              </a:rPr>
              <a:t>Dynamic Risk Scoring for
MCP Agent Access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657600"/>
            <a:ext cx="9418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  <a:latin typeface="Calibri"/>
              </a:rPr>
              <a:t>Tomer Ovadya</a:t>
            </a:r>
          </a:p>
          <a:p>
            <a:pPr algn="ctr">
              <a:spcBef>
                <a:spcPts val="1200"/>
              </a:spcBef>
            </a:pPr>
            <a:r>
              <a:rPr sz="2000" b="0">
                <a:solidFill>
                  <a:srgbClr val="44546A"/>
                </a:solidFill>
                <a:latin typeface="Calibri"/>
              </a:rPr>
              <a:t>Advisor: Prof. Asaf Shabtai</a:t>
            </a:r>
          </a:p>
          <a:p>
            <a:pPr algn="ctr">
              <a:spcBef>
                <a:spcPts val="600"/>
              </a:spcBef>
            </a:pPr>
            <a:r>
              <a:rPr sz="1800" b="0">
                <a:solidFill>
                  <a:srgbClr val="44546A"/>
                </a:solidFill>
                <a:latin typeface="Calibri"/>
              </a:rPr>
              <a:t>Ben-Gurion University of the Negev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2743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09DBB"/>
                </a:solidFill>
                <a:latin typeface="Calibri Light"/>
              </a:rPr>
              <a:t>Problem &amp; 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2000" b="0">
                <a:solidFill>
                  <a:srgbClr val="000000"/>
                </a:solidFill>
                <a:latin typeface="Calibri"/>
              </a:rPr>
              <a:t>•  MCP (Model Context Protocol) enables AI agents to access external tools and services</a:t>
            </a:r>
          </a:p>
          <a:p>
            <a:pPr>
              <a:spcBef>
                <a:spcPts val="1400"/>
              </a:spcBef>
            </a:pPr>
            <a:r>
              <a:rPr sz="2000" b="0">
                <a:solidFill>
                  <a:srgbClr val="000000"/>
                </a:solidFill>
                <a:latin typeface="Calibri"/>
              </a:rPr>
              <a:t>•  Rapid adoption: 67,000+ public servers; integrated by Anthropic, OpenAI, Google</a:t>
            </a:r>
          </a:p>
          <a:p>
            <a:pPr>
              <a:spcBef>
                <a:spcPts val="1400"/>
              </a:spcBef>
            </a:pPr>
            <a:r>
              <a:rPr sz="2000" b="0">
                <a:solidFill>
                  <a:srgbClr val="000000"/>
                </a:solidFill>
                <a:latin typeface="Calibri"/>
              </a:rPr>
              <a:t>•  Current security approach: Binary allow / deny decisions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000000"/>
                </a:solidFill>
                <a:latin typeface="Calibri"/>
              </a:rPr>
              <a:t>•  No mechanism exists to quantify the risk level of agent requests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000000"/>
                </a:solidFill>
                <a:latin typeface="Calibri"/>
              </a:rPr>
              <a:t>•  Need: Dynamic, context-aware risk assessment for trusted agent access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2743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09DBB"/>
                </a:solidFill>
                <a:latin typeface="Calibri Light"/>
              </a:rPr>
              <a:t>Research Goals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09DBB"/>
                </a:solidFill>
                <a:latin typeface="Calibri Light"/>
              </a:rPr>
              <a:t>Research Question</a:t>
            </a:r>
          </a:p>
          <a:p>
            <a:pPr>
              <a:spcBef>
                <a:spcPts val="800"/>
              </a:spcBef>
            </a:pPr>
            <a:r>
              <a:rPr sz="2200" b="1">
                <a:solidFill>
                  <a:srgbClr val="44546A"/>
                </a:solidFill>
                <a:latin typeface="Calibri"/>
              </a:rPr>
              <a:t>How can we determine if an MCP agent is trusted,</a:t>
            </a:r>
          </a:p>
          <a:p>
            <a:r>
              <a:rPr sz="2200" b="1">
                <a:solidFill>
                  <a:srgbClr val="44546A"/>
                </a:solidFill>
                <a:latin typeface="Calibri"/>
              </a:rPr>
              <a:t>and calculate a dynamic risk score for its access request?</a:t>
            </a:r>
          </a:p>
          <a:p>
            <a:pPr>
              <a:spcBef>
                <a:spcPts val="3000"/>
              </a:spcBef>
            </a:pPr>
            <a:r>
              <a:rPr sz="2400" b="1">
                <a:solidFill>
                  <a:srgbClr val="009DBB"/>
                </a:solidFill>
                <a:latin typeface="Calibri Light"/>
              </a:rPr>
              <a:t>Goals</a:t>
            </a:r>
          </a:p>
          <a:p>
            <a:pPr>
              <a:spcBef>
                <a:spcPts val="1000"/>
              </a:spcBef>
            </a:pPr>
            <a:r>
              <a:rPr sz="2000" b="0">
                <a:solidFill>
                  <a:srgbClr val="000000"/>
                </a:solidFill>
                <a:latin typeface="Calibri"/>
              </a:rPr>
              <a:t>•  Design a dynamic risk scoring system (1–10 scale)</a:t>
            </a:r>
          </a:p>
          <a:p>
            <a:pPr>
              <a:spcBef>
                <a:spcPts val="1000"/>
              </a:spcBef>
            </a:pPr>
            <a:r>
              <a:rPr sz="2000" b="0">
                <a:solidFill>
                  <a:srgbClr val="000000"/>
                </a:solidFill>
                <a:latin typeface="Calibri"/>
              </a:rPr>
              <a:t>•  Evaluate agent access requests using multiple risk factors</a:t>
            </a:r>
          </a:p>
          <a:p>
            <a:pPr>
              <a:spcBef>
                <a:spcPts val="1000"/>
              </a:spcBef>
            </a:pPr>
            <a:r>
              <a:rPr sz="2000" b="0">
                <a:solidFill>
                  <a:srgbClr val="000000"/>
                </a:solidFill>
                <a:latin typeface="Calibri"/>
              </a:rPr>
              <a:t>•  Provide real-time, context-aware risk assessment</a:t>
            </a:r>
          </a:p>
          <a:p>
            <a:pPr>
              <a:spcBef>
                <a:spcPts val="1000"/>
              </a:spcBef>
            </a:pPr>
            <a:r>
              <a:rPr sz="2000" b="0">
                <a:solidFill>
                  <a:srgbClr val="000000"/>
                </a:solidFill>
                <a:latin typeface="Calibri"/>
              </a:rPr>
              <a:t>•  Enable granular access decisions — beyond binary allow / deny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2743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09DBB"/>
                </a:solidFill>
                <a:latin typeface="Calibri Light"/>
              </a:rPr>
              <a:t>Literature Review — Key Domains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463040"/>
            <a:ext cx="4754880" cy="2103120"/>
          </a:xfrm>
          <a:prstGeom prst="roundRect">
            <a:avLst/>
          </a:prstGeom>
          <a:solidFill>
            <a:srgbClr val="009D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 Light"/>
              </a:rPr>
              <a:t>1. MCP Security &amp;
    Threat Landscape</a:t>
            </a:r>
          </a:p>
          <a:p>
            <a:pPr algn="ctr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Threat taxonomies · Protocol analysis
Ecosystem vulnerabilities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4754880" cy="2103120"/>
          </a:xfrm>
          <a:prstGeom prst="roundRect">
            <a:avLst/>
          </a:prstGeom>
          <a:solidFill>
            <a:srgbClr val="006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 Light"/>
              </a:rPr>
              <a:t>2. Defense Frameworks
    &amp; Access Control</a:t>
            </a:r>
          </a:p>
          <a:p>
            <a:pPr algn="ctr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Sandbox probing · Cascaded defense
Privilege control · OS permissions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931920"/>
            <a:ext cx="4754880" cy="2103120"/>
          </a:xfrm>
          <a:prstGeom prst="roundRect">
            <a:avLst/>
          </a:prstGeom>
          <a:solidFill>
            <a:srgbClr val="006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 Light"/>
              </a:rPr>
              <a:t>3. Attack Methods &amp;
    Tool Poisoning</a:t>
            </a:r>
          </a:p>
          <a:p>
            <a:pPr algn="ctr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Tool poisoning benchmarks
Parasitic attacks · Implicit poisoning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31920"/>
            <a:ext cx="4754880" cy="2103120"/>
          </a:xfrm>
          <a:prstGeom prst="roundRect">
            <a:avLst/>
          </a:prstGeom>
          <a:solidFill>
            <a:srgbClr val="009D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 Light"/>
              </a:rPr>
              <a:t>4. Risk &amp; Trust
    Scoring</a:t>
            </a:r>
          </a:p>
          <a:p>
            <a:pPr algn="ctr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Vulnerability scoring · TRiSM framework
Guard agents · Step-level guardrails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2743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09DBB"/>
                </a:solidFill>
                <a:latin typeface="Calibri Light"/>
              </a:rPr>
              <a:t>MCP Threats &amp; Attack 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800" b="1">
                <a:solidFill>
                  <a:srgbClr val="009DBB"/>
                </a:solidFill>
                <a:latin typeface="Calibri"/>
              </a:rPr>
              <a:t>MCP Landscape </a:t>
            </a:r>
            <a:r>
              <a:rPr sz="1400" b="0">
                <a:solidFill>
                  <a:srgbClr val="44546A"/>
                </a:solidFill>
                <a:latin typeface="Calibri"/>
              </a:rPr>
              <a:t>(Hou et al., 2025)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000000"/>
                </a:solidFill>
                <a:latin typeface="Calibri"/>
              </a:rPr>
              <a:t>    → First comprehensive threat taxonomy — 4 attacker types, 16 scenarios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009DBB"/>
                </a:solidFill>
                <a:latin typeface="Calibri"/>
              </a:rPr>
              <a:t>When MCP Servers Attack </a:t>
            </a:r>
            <a:r>
              <a:rPr sz="1400" b="0">
                <a:solidFill>
                  <a:srgbClr val="44546A"/>
                </a:solidFill>
                <a:latin typeface="Calibri"/>
              </a:rPr>
              <a:t>(Zhao et al., 2025)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000000"/>
                </a:solidFill>
                <a:latin typeface="Calibri"/>
              </a:rPr>
              <a:t>    → Malicious server analysis — 12 attack categories across 6 components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009DBB"/>
                </a:solidFill>
                <a:latin typeface="Calibri"/>
              </a:rPr>
              <a:t>MCPTox </a:t>
            </a:r>
            <a:r>
              <a:rPr sz="1400" b="0">
                <a:solidFill>
                  <a:srgbClr val="44546A"/>
                </a:solidFill>
                <a:latin typeface="Calibri"/>
              </a:rPr>
              <a:t>(Wang et al., 2025)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000000"/>
                </a:solidFill>
                <a:latin typeface="Calibri"/>
              </a:rPr>
              <a:t>    → First tool poisoning benchmark on real MCP servers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009DBB"/>
                </a:solidFill>
                <a:latin typeface="Calibri"/>
              </a:rPr>
              <a:t>MCP-ITP </a:t>
            </a:r>
            <a:r>
              <a:rPr sz="1400" b="0">
                <a:solidFill>
                  <a:srgbClr val="44546A"/>
                </a:solidFill>
                <a:latin typeface="Calibri"/>
              </a:rPr>
              <a:t>(Li et al., 2026)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000000"/>
                </a:solidFill>
                <a:latin typeface="Calibri"/>
              </a:rPr>
              <a:t>    → Automated implicit tool poisoning — &lt;1% detection rate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009DBB"/>
                </a:solidFill>
                <a:latin typeface="Calibri"/>
              </a:rPr>
              <a:t>Breaking the Protocol </a:t>
            </a:r>
            <a:r>
              <a:rPr sz="1400" b="0">
                <a:solidFill>
                  <a:srgbClr val="44546A"/>
                </a:solidFill>
                <a:latin typeface="Calibri"/>
              </a:rPr>
              <a:t>(Maloyan &amp; Namiot, 2026)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000000"/>
                </a:solidFill>
                <a:latin typeface="Calibri"/>
              </a:rPr>
              <a:t>    → Architectural flaws in MCP spec itself, not implementation bugs</a:t>
            </a:r>
          </a:p>
          <a:p>
            <a:pPr>
              <a:spcBef>
                <a:spcPts val="2000"/>
              </a:spcBef>
            </a:pPr>
            <a:r>
              <a:rPr sz="1800" b="1">
                <a:solidFill>
                  <a:srgbClr val="F49021"/>
                </a:solidFill>
                <a:latin typeface="Calibri"/>
              </a:rPr>
              <a:t>Gap: </a:t>
            </a:r>
            <a:r>
              <a:rPr sz="1800" b="1">
                <a:solidFill>
                  <a:srgbClr val="44546A"/>
                </a:solidFill>
                <a:latin typeface="Calibri"/>
              </a:rPr>
              <a:t>Focus on identifying threats — not on quantifying risk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2743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09DBB"/>
                </a:solidFill>
                <a:latin typeface="Calibri Light"/>
              </a:rPr>
              <a:t>Defense Frameworks &amp; Access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800" b="1">
                <a:solidFill>
                  <a:srgbClr val="009DBB"/>
                </a:solidFill>
                <a:latin typeface="Calibri"/>
              </a:rPr>
              <a:t>MCPShield </a:t>
            </a:r>
            <a:r>
              <a:rPr sz="1400" b="0">
                <a:solidFill>
                  <a:srgbClr val="44546A"/>
                </a:solidFill>
                <a:latin typeface="Calibri"/>
              </a:rPr>
              <a:t>(Zhou et al., 2026)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000000"/>
                </a:solidFill>
                <a:latin typeface="Calibri"/>
              </a:rPr>
              <a:t>    → Trust calibration via sandbox probing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CC0000"/>
                </a:solidFill>
                <a:latin typeface="Calibri"/>
              </a:rPr>
              <a:t>    ✗ Self-hosted only, no risk score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009DBB"/>
                </a:solidFill>
                <a:latin typeface="Calibri"/>
              </a:rPr>
              <a:t>MCP-Guard </a:t>
            </a:r>
            <a:r>
              <a:rPr sz="1400" b="0">
                <a:solidFill>
                  <a:srgbClr val="44546A"/>
                </a:solidFill>
                <a:latin typeface="Calibri"/>
              </a:rPr>
              <a:t>(Xing et al., 2026)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000000"/>
                </a:solidFill>
                <a:latin typeface="Calibri"/>
              </a:rPr>
              <a:t>    → Cascaded defense: regex → neural → LLM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CC0000"/>
                </a:solidFill>
                <a:latin typeface="Calibri"/>
              </a:rPr>
              <a:t>    ✗ Binary classification only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009DBB"/>
                </a:solidFill>
                <a:latin typeface="Calibri"/>
              </a:rPr>
              <a:t>Progent </a:t>
            </a:r>
            <a:r>
              <a:rPr sz="1400" b="0">
                <a:solidFill>
                  <a:srgbClr val="44546A"/>
                </a:solidFill>
                <a:latin typeface="Calibri"/>
              </a:rPr>
              <a:t>(Shi et al., 2025)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000000"/>
                </a:solidFill>
                <a:latin typeface="Calibri"/>
              </a:rPr>
              <a:t>    → Programmable privilege control for agents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CC0000"/>
                </a:solidFill>
                <a:latin typeface="Calibri"/>
              </a:rPr>
              <a:t>    ✗ Manual policies, no scoring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009DBB"/>
                </a:solidFill>
                <a:latin typeface="Calibri"/>
              </a:rPr>
              <a:t>AgentBound </a:t>
            </a:r>
            <a:r>
              <a:rPr sz="1400" b="0">
                <a:solidFill>
                  <a:srgbClr val="44546A"/>
                </a:solidFill>
                <a:latin typeface="Calibri"/>
              </a:rPr>
              <a:t>(Buhler et al., 2025)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000000"/>
                </a:solidFill>
                <a:latin typeface="Calibri"/>
              </a:rPr>
              <a:t>    → OS-level permissions for MCP servers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CC0000"/>
                </a:solidFill>
                <a:latin typeface="Calibri"/>
              </a:rPr>
              <a:t>    ✗ Binary allow/deny, no context</a:t>
            </a:r>
          </a:p>
          <a:p>
            <a:pPr>
              <a:spcBef>
                <a:spcPts val="1600"/>
              </a:spcBef>
            </a:pPr>
            <a:r>
              <a:rPr sz="1800" b="1">
                <a:solidFill>
                  <a:srgbClr val="F49021"/>
                </a:solidFill>
                <a:latin typeface="Calibri"/>
              </a:rPr>
              <a:t>Gap: </a:t>
            </a:r>
            <a:r>
              <a:rPr sz="1800" b="1">
                <a:solidFill>
                  <a:srgbClr val="44546A"/>
                </a:solidFill>
                <a:latin typeface="Calibri"/>
              </a:rPr>
              <a:t>Binary decisions — no quantitative risk assessment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2743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09DBB"/>
                </a:solidFill>
                <a:latin typeface="Calibri Light"/>
              </a:rPr>
              <a:t>Risk &amp; Trust Scoring Approaches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800" b="1">
                <a:solidFill>
                  <a:srgbClr val="009DBB"/>
                </a:solidFill>
                <a:latin typeface="Calibri"/>
              </a:rPr>
              <a:t>Desc. to Score </a:t>
            </a:r>
            <a:r>
              <a:rPr sz="1400" b="0">
                <a:solidFill>
                  <a:srgbClr val="44546A"/>
                </a:solidFill>
                <a:latin typeface="Calibri"/>
              </a:rPr>
              <a:t>(Jafarikhah et al., 2026)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000000"/>
                </a:solidFill>
                <a:latin typeface="Calibri"/>
              </a:rPr>
              <a:t>    → LLMs predict CVSS vulnerability scores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CC0000"/>
                </a:solidFill>
                <a:latin typeface="Calibri"/>
              </a:rPr>
              <a:t>    ✗ Not MCP-specific, no agent context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009DBB"/>
                </a:solidFill>
                <a:latin typeface="Calibri"/>
              </a:rPr>
              <a:t>TRiSM Survey </a:t>
            </a:r>
            <a:r>
              <a:rPr sz="1400" b="0">
                <a:solidFill>
                  <a:srgbClr val="44546A"/>
                </a:solidFill>
                <a:latin typeface="Calibri"/>
              </a:rPr>
              <a:t>(Raza et al., 2025)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000000"/>
                </a:solidFill>
                <a:latin typeface="Calibri"/>
              </a:rPr>
              <a:t>    → Trust, Risk &amp; Security framework for multi-agent systems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CC0000"/>
                </a:solidFill>
                <a:latin typeface="Calibri"/>
              </a:rPr>
              <a:t>    ✗ Survey only — no implementation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009DBB"/>
                </a:solidFill>
                <a:latin typeface="Calibri"/>
              </a:rPr>
              <a:t>GuardAgent </a:t>
            </a:r>
            <a:r>
              <a:rPr sz="1400" b="0">
                <a:solidFill>
                  <a:srgbClr val="44546A"/>
                </a:solidFill>
                <a:latin typeface="Calibri"/>
              </a:rPr>
              <a:t>(Xiang et al., 2025)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000000"/>
                </a:solidFill>
                <a:latin typeface="Calibri"/>
              </a:rPr>
              <a:t>    → Knowledge-guided guard agent with reasoning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CC0000"/>
                </a:solidFill>
                <a:latin typeface="Calibri"/>
              </a:rPr>
              <a:t>    ✗ Binary allow/deny, no risk scoring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009DBB"/>
                </a:solidFill>
                <a:latin typeface="Calibri"/>
              </a:rPr>
              <a:t>ToolSafe </a:t>
            </a:r>
            <a:r>
              <a:rPr sz="1400" b="0">
                <a:solidFill>
                  <a:srgbClr val="44546A"/>
                </a:solidFill>
                <a:latin typeface="Calibri"/>
              </a:rPr>
              <a:t>(Mou et al., 2026)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000000"/>
                </a:solidFill>
                <a:latin typeface="Calibri"/>
              </a:rPr>
              <a:t>    → Step-level safety guardrails with proactive feedback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CC0000"/>
                </a:solidFill>
                <a:latin typeface="Calibri"/>
              </a:rPr>
              <a:t>    ✗ 3-level scale only, no continuous monitoring</a:t>
            </a:r>
          </a:p>
          <a:p>
            <a:pPr>
              <a:spcBef>
                <a:spcPts val="1600"/>
              </a:spcBef>
            </a:pPr>
            <a:r>
              <a:rPr sz="1800" b="1">
                <a:solidFill>
                  <a:srgbClr val="F49021"/>
                </a:solidFill>
                <a:latin typeface="Calibri"/>
              </a:rPr>
              <a:t>Gap: </a:t>
            </a:r>
            <a:r>
              <a:rPr sz="1800" b="1">
                <a:solidFill>
                  <a:srgbClr val="44546A"/>
                </a:solidFill>
                <a:latin typeface="Calibri"/>
              </a:rPr>
              <a:t>No dynamic, MCP-specific risk scoring system exists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2743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09DBB"/>
                </a:solidFill>
                <a:latin typeface="Calibri Light"/>
              </a:rPr>
              <a:t>Research Gap Analysis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97280"/>
          <a:ext cx="11612874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293222"/>
                <a:gridCol w="1293222"/>
                <a:gridCol w="1293222"/>
                <a:gridCol w="1293222"/>
                <a:gridCol w="1293222"/>
                <a:gridCol w="1293222"/>
                <a:gridCol w="1293222"/>
              </a:tblGrid>
              <a:tr h="48213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Paper</a:t>
                      </a:r>
                    </a:p>
                  </a:txBody>
                  <a:tcPr anchor="ctr" marL="73152" marR="36576" marT="36576" marB="36576">
                    <a:solidFill>
                      <a:srgbClr val="009DB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MCP
Specific</a:t>
                      </a:r>
                    </a:p>
                  </a:txBody>
                  <a:tcPr anchor="ctr" marL="73152" marR="36576" marT="36576" marB="36576">
                    <a:solidFill>
                      <a:srgbClr val="009DB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Risk
Score</a:t>
                      </a:r>
                    </a:p>
                  </a:txBody>
                  <a:tcPr anchor="ctr" marL="73152" marR="36576" marT="36576" marB="36576">
                    <a:solidFill>
                      <a:srgbClr val="009DB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Agent
Trust</a:t>
                      </a:r>
                    </a:p>
                  </a:txBody>
                  <a:tcPr anchor="ctr" marL="73152" marR="36576" marT="36576" marB="36576">
                    <a:solidFill>
                      <a:srgbClr val="009DB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Real-
Time</a:t>
                      </a:r>
                    </a:p>
                  </a:txBody>
                  <a:tcPr anchor="ctr" marL="73152" marR="36576" marT="36576" marB="36576">
                    <a:solidFill>
                      <a:srgbClr val="009DB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Tool-
Level</a:t>
                      </a:r>
                    </a:p>
                  </a:txBody>
                  <a:tcPr anchor="ctr" marL="73152" marR="36576" marT="36576" marB="36576">
                    <a:solidFill>
                      <a:srgbClr val="009DB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Context-
Aware</a:t>
                      </a:r>
                    </a:p>
                  </a:txBody>
                  <a:tcPr anchor="ctr" marL="73152" marR="36576" marT="36576" marB="36576">
                    <a:solidFill>
                      <a:srgbClr val="009DB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Continuous
Monitoring</a:t>
                      </a:r>
                    </a:p>
                  </a:txBody>
                  <a:tcPr anchor="ctr" marL="73152" marR="36576" marT="36576" marB="36576">
                    <a:solidFill>
                      <a:srgbClr val="009DBB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MCPShield (Zhou et al.)</a:t>
                      </a:r>
                    </a:p>
                  </a:txBody>
                  <a:tcPr anchor="ctr" marL="73152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7A3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 marL="73152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CCCCC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7A3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 marL="73152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CCCCC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7A3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 marL="73152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7A3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 marL="73152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7A3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 marL="73152" marR="36576" marT="18288" marB="18288"/>
                </a:tc>
              </a:tr>
              <a:tr h="48213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MCP-Guard (Xing et al.)</a:t>
                      </a:r>
                    </a:p>
                  </a:txBody>
                  <a:tcPr anchor="ctr" marL="73152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7A3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 marL="73152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CCCCC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CCCCC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7A3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 marL="73152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7A3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 marL="73152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CCCCC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CCCCC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36576" marT="18288" marB="18288">
                    <a:solidFill>
                      <a:srgbClr val="F2F2F2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Progent (Shi et al.)</a:t>
                      </a:r>
                    </a:p>
                  </a:txBody>
                  <a:tcPr anchor="ctr" marL="73152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CCCCC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CCCCC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CCCCC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7A3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 marL="73152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7A3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 marL="73152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7A3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 marL="73152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CCCCC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36576" marT="18288" marB="18288"/>
                </a:tc>
              </a:tr>
              <a:tr h="48213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AgentBound (Buhler et al.)</a:t>
                      </a:r>
                    </a:p>
                  </a:txBody>
                  <a:tcPr anchor="ctr" marL="73152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7A3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 marL="73152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CCCCC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CCCCC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7A3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 marL="73152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7A3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 marL="73152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CCCCC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CCCCC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36576" marT="18288" marB="18288">
                    <a:solidFill>
                      <a:srgbClr val="F2F2F2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Desc. to Score (Jafarikhah)</a:t>
                      </a:r>
                    </a:p>
                  </a:txBody>
                  <a:tcPr anchor="ctr" marL="73152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CCCCC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7A3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 marL="73152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CCCCC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CCCCC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CCCCC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CCCCC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CCCCC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36576" marT="18288" marB="18288"/>
                </a:tc>
              </a:tr>
              <a:tr h="48213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MindGuard (Wang et al.)</a:t>
                      </a:r>
                    </a:p>
                  </a:txBody>
                  <a:tcPr anchor="ctr" marL="73152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CCCCC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CCCCC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CCCCC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7A3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 marL="73152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7A3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 marL="73152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7A3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 marL="73152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CCCCC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36576" marT="18288" marB="18288">
                    <a:solidFill>
                      <a:srgbClr val="F2F2F2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TRiSM (Raza et al.)</a:t>
                      </a:r>
                    </a:p>
                  </a:txBody>
                  <a:tcPr anchor="ctr" marL="73152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CCCCC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CCCCC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7A3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 marL="73152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CCCCC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CCCCC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7A3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 marL="73152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CCCCC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36576" marT="18288" marB="18288"/>
                </a:tc>
              </a:tr>
              <a:tr h="48213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GuardAgent (Xiang et al.)</a:t>
                      </a:r>
                    </a:p>
                  </a:txBody>
                  <a:tcPr anchor="ctr" marL="73152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CCCCC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CCCCC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CCCCC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7A3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 marL="73152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7A3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 marL="73152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7A3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 marL="73152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CCCCC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36576" marT="18288" marB="18288">
                    <a:solidFill>
                      <a:srgbClr val="F2F2F2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ToolSafe (Mou et al.)</a:t>
                      </a:r>
                    </a:p>
                  </a:txBody>
                  <a:tcPr anchor="ctr" marL="73152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CCCCC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CCCCC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CCCCC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7A3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 marL="73152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7A3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 marL="73152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CCCCC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36576" marT="18288" marB="18288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CCCCC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36576" marT="18288" marB="18288"/>
                </a:tc>
              </a:tr>
              <a:tr h="4821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9DBB"/>
                          </a:solidFill>
                          <a:latin typeface="Calibri"/>
                        </a:rPr>
                        <a:t>Our Approach</a:t>
                      </a:r>
                    </a:p>
                  </a:txBody>
                  <a:tcPr anchor="ctr" marL="73152" marR="36576" marT="18288" marB="18288">
                    <a:solidFill>
                      <a:srgbClr val="E0F7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7A3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 marL="73152" marR="36576" marT="18288" marB="18288">
                    <a:solidFill>
                      <a:srgbClr val="E0F7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7A3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 marL="73152" marR="36576" marT="18288" marB="18288">
                    <a:solidFill>
                      <a:srgbClr val="E0F7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7A3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 marL="73152" marR="36576" marT="18288" marB="18288">
                    <a:solidFill>
                      <a:srgbClr val="E0F7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7A3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 marL="73152" marR="36576" marT="18288" marB="18288">
                    <a:solidFill>
                      <a:srgbClr val="E0F7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7A3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 marL="73152" marR="36576" marT="18288" marB="18288">
                    <a:solidFill>
                      <a:srgbClr val="E0F7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7A3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 marL="73152" marR="36576" marT="18288" marB="18288">
                    <a:solidFill>
                      <a:srgbClr val="E0F7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7A3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 marL="73152" marR="36576" marT="18288" marB="18288">
                    <a:solidFill>
                      <a:srgbClr val="E0F7E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4598</TotalTime>
  <Words>260</Words>
  <Application>Microsoft Office PowerPoint</Application>
  <PresentationFormat>Widescreen</PresentationFormat>
  <Paragraphs>19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Office Theme</vt:lpstr>
      <vt:lpstr>Dynamic, Context-Aware Severity Ranking of K8s Misconfigurations Tomer ovadya, Asaf shabtai, Yair meidan  </vt:lpstr>
      <vt:lpstr>Infrastructure-as-Code (IaC) Domain</vt:lpstr>
      <vt:lpstr>Vulnerability prioritization </vt:lpstr>
      <vt:lpstr>Detection misconfigure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Dynamic, Context-Aware Severity Ranking of K8s Misconfigurations</dc:title>
  <dc:creator>user</dc:creator>
  <cp:lastModifiedBy>user</cp:lastModifiedBy>
  <cp:revision>13</cp:revision>
  <dcterms:created xsi:type="dcterms:W3CDTF">2025-12-07T09:33:01Z</dcterms:created>
  <dcterms:modified xsi:type="dcterms:W3CDTF">2025-12-10T14:11:02Z</dcterms:modified>
</cp:coreProperties>
</file>