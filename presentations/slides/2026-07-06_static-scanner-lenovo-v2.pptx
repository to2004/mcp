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11"/>
    <p:sldId id="273" r:id="rId10"/>
    <p:sldId id="274" r:id="rId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13"/>
    <a:srgbClr val="DDB8C6"/>
    <a:srgbClr val="E6BDC1"/>
    <a:srgbClr val="DCC5DB"/>
    <a:srgbClr val="D6B7D0"/>
    <a:srgbClr val="C8AFCE"/>
    <a:srgbClr val="AF70A5"/>
    <a:srgbClr val="CEAECB"/>
    <a:srgbClr val="CFBED9"/>
    <a:srgbClr val="819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C2B970-1E2C-D5A3-F16E-5F0DF457B275}" v="3" dt="2022-07-25T12:54:18.14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25" autoAdjust="0"/>
    <p:restoredTop sz="95238" autoAdjust="0"/>
  </p:normalViewPr>
  <p:slideViewPr>
    <p:cSldViewPr snapToGrid="0" snapToObjects="1">
      <p:cViewPr>
        <p:scale>
          <a:sx n="75" d="100"/>
          <a:sy n="75" d="100"/>
        </p:scale>
        <p:origin x="1190" y="499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405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9.xml"/><Relationship Id="rId10" Type="http://schemas.openxmlformats.org/officeDocument/2006/relationships/slide" Target="slides/slide18.xml"/><Relationship Id="rId11" Type="http://schemas.openxmlformats.org/officeDocument/2006/relationships/slide" Target="slides/slide17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2E8B57"/>
            </a:solidFill>
          </c:spPr>
          <c:cat>
            <c:strRef>
              <c:f>Sheet1!$A$2:$A$12</c:f>
              <c:strCache>
                <c:ptCount val="11"/>
                <c:pt idx="0">
                  <c:v>calendar_cbg</c:v>
                </c:pt>
                <c:pt idx="1">
                  <c:v>github_cbg</c:v>
                </c:pt>
                <c:pt idx="2">
                  <c:v>github_real</c:v>
                </c:pt>
                <c:pt idx="3">
                  <c:v>slack_cbg</c:v>
                </c:pt>
                <c:pt idx="4">
                  <c:v>sqlite_cbg</c:v>
                </c:pt>
                <c:pt idx="5">
                  <c:v>sqlite_devops</c:v>
                </c:pt>
                <c:pt idx="6">
                  <c:v>fs_corp</c:v>
                </c:pt>
                <c:pt idx="7">
                  <c:v>fs_fintech</c:v>
                </c:pt>
                <c:pt idx="8">
                  <c:v>fs_law_firm</c:v>
                </c:pt>
                <c:pt idx="9">
                  <c:v>fs_media</c:v>
                </c:pt>
                <c:pt idx="10">
                  <c:v>fs_medical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</c:v>
                </c:pt>
                <c:pt idx="1">
                  <c:v>14</c:v>
                </c:pt>
                <c:pt idx="2">
                  <c:v>75</c:v>
                </c:pt>
                <c:pt idx="3">
                  <c:v>27</c:v>
                </c:pt>
                <c:pt idx="4">
                  <c:v>6</c:v>
                </c:pt>
                <c:pt idx="5">
                  <c:v>8</c:v>
                </c:pt>
                <c:pt idx="6">
                  <c:v>52</c:v>
                </c:pt>
                <c:pt idx="7">
                  <c:v>54</c:v>
                </c:pt>
                <c:pt idx="8">
                  <c:v>64</c:v>
                </c:pt>
                <c:pt idx="9">
                  <c:v>49</c:v>
                </c:pt>
                <c:pt idx="10">
                  <c:v>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E0A400"/>
            </a:solidFill>
          </c:spPr>
          <c:cat>
            <c:strRef>
              <c:f>Sheet1!$A$2:$A$12</c:f>
              <c:strCache>
                <c:ptCount val="11"/>
                <c:pt idx="0">
                  <c:v>calendar_cbg</c:v>
                </c:pt>
                <c:pt idx="1">
                  <c:v>github_cbg</c:v>
                </c:pt>
                <c:pt idx="2">
                  <c:v>github_real</c:v>
                </c:pt>
                <c:pt idx="3">
                  <c:v>slack_cbg</c:v>
                </c:pt>
                <c:pt idx="4">
                  <c:v>sqlite_cbg</c:v>
                </c:pt>
                <c:pt idx="5">
                  <c:v>sqlite_devops</c:v>
                </c:pt>
                <c:pt idx="6">
                  <c:v>fs_corp</c:v>
                </c:pt>
                <c:pt idx="7">
                  <c:v>fs_fintech</c:v>
                </c:pt>
                <c:pt idx="8">
                  <c:v>fs_law_firm</c:v>
                </c:pt>
                <c:pt idx="9">
                  <c:v>fs_media</c:v>
                </c:pt>
                <c:pt idx="10">
                  <c:v>fs_medical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28</c:v>
                </c:pt>
                <c:pt idx="1">
                  <c:v>13</c:v>
                </c:pt>
                <c:pt idx="2">
                  <c:v>47</c:v>
                </c:pt>
                <c:pt idx="3">
                  <c:v>28</c:v>
                </c:pt>
                <c:pt idx="4">
                  <c:v>13</c:v>
                </c:pt>
                <c:pt idx="5">
                  <c:v>5</c:v>
                </c:pt>
                <c:pt idx="6">
                  <c:v>56</c:v>
                </c:pt>
                <c:pt idx="7">
                  <c:v>95</c:v>
                </c:pt>
                <c:pt idx="8">
                  <c:v>112</c:v>
                </c:pt>
                <c:pt idx="9">
                  <c:v>125</c:v>
                </c:pt>
                <c:pt idx="10">
                  <c:v>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E8720C"/>
            </a:solidFill>
          </c:spPr>
          <c:cat>
            <c:strRef>
              <c:f>Sheet1!$A$2:$A$12</c:f>
              <c:strCache>
                <c:ptCount val="11"/>
                <c:pt idx="0">
                  <c:v>calendar_cbg</c:v>
                </c:pt>
                <c:pt idx="1">
                  <c:v>github_cbg</c:v>
                </c:pt>
                <c:pt idx="2">
                  <c:v>github_real</c:v>
                </c:pt>
                <c:pt idx="3">
                  <c:v>slack_cbg</c:v>
                </c:pt>
                <c:pt idx="4">
                  <c:v>sqlite_cbg</c:v>
                </c:pt>
                <c:pt idx="5">
                  <c:v>sqlite_devops</c:v>
                </c:pt>
                <c:pt idx="6">
                  <c:v>fs_corp</c:v>
                </c:pt>
                <c:pt idx="7">
                  <c:v>fs_fintech</c:v>
                </c:pt>
                <c:pt idx="8">
                  <c:v>fs_law_firm</c:v>
                </c:pt>
                <c:pt idx="9">
                  <c:v>fs_media</c:v>
                </c:pt>
                <c:pt idx="10">
                  <c:v>fs_medical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21</c:v>
                </c:pt>
                <c:pt idx="1">
                  <c:v>23</c:v>
                </c:pt>
                <c:pt idx="2">
                  <c:v>20</c:v>
                </c:pt>
                <c:pt idx="3">
                  <c:v>19</c:v>
                </c:pt>
                <c:pt idx="4">
                  <c:v>11</c:v>
                </c:pt>
                <c:pt idx="5">
                  <c:v>9</c:v>
                </c:pt>
                <c:pt idx="6">
                  <c:v>71</c:v>
                </c:pt>
                <c:pt idx="7">
                  <c:v>104</c:v>
                </c:pt>
                <c:pt idx="8">
                  <c:v>98</c:v>
                </c:pt>
                <c:pt idx="9">
                  <c:v>86</c:v>
                </c:pt>
                <c:pt idx="10">
                  <c:v>95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9E1B1B"/>
            </a:solidFill>
          </c:spPr>
          <c:cat>
            <c:strRef>
              <c:f>Sheet1!$A$2:$A$12</c:f>
              <c:strCache>
                <c:ptCount val="11"/>
                <c:pt idx="0">
                  <c:v>calendar_cbg</c:v>
                </c:pt>
                <c:pt idx="1">
                  <c:v>github_cbg</c:v>
                </c:pt>
                <c:pt idx="2">
                  <c:v>github_real</c:v>
                </c:pt>
                <c:pt idx="3">
                  <c:v>slack_cbg</c:v>
                </c:pt>
                <c:pt idx="4">
                  <c:v>sqlite_cbg</c:v>
                </c:pt>
                <c:pt idx="5">
                  <c:v>sqlite_devops</c:v>
                </c:pt>
                <c:pt idx="6">
                  <c:v>fs_corp</c:v>
                </c:pt>
                <c:pt idx="7">
                  <c:v>fs_fintech</c:v>
                </c:pt>
                <c:pt idx="8">
                  <c:v>fs_law_firm</c:v>
                </c:pt>
                <c:pt idx="9">
                  <c:v>fs_media</c:v>
                </c:pt>
                <c:pt idx="10">
                  <c:v>fs_medical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11</c:v>
                </c:pt>
                <c:pt idx="1">
                  <c:v>16</c:v>
                </c:pt>
                <c:pt idx="2">
                  <c:v>14</c:v>
                </c:pt>
                <c:pt idx="3">
                  <c:v>6</c:v>
                </c:pt>
                <c:pt idx="4">
                  <c:v>5</c:v>
                </c:pt>
                <c:pt idx="5">
                  <c:v>3</c:v>
                </c:pt>
                <c:pt idx="6">
                  <c:v>31</c:v>
                </c:pt>
                <c:pt idx="7">
                  <c:v>69</c:v>
                </c:pt>
                <c:pt idx="8">
                  <c:v>34</c:v>
                </c:pt>
                <c:pt idx="9">
                  <c:v>34</c:v>
                </c:pt>
                <c:pt idx="10">
                  <c:v>56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2/26/2025</a:t>
            </a:fld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2/26/2025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093801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6825" y="34"/>
            <a:ext cx="4572000" cy="68579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4" name="Picture 3" descr="A person in a white dress&#10;&#10;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"/>
            <a:ext cx="12188825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6825" y="35"/>
            <a:ext cx="4572000" cy="6857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28" name="Picture 27" descr="A picture containing tree, plant&#10;&#10;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90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0E5A7-B9D3-4A2B-DE64-11D11241AC7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03FC84A-8F52-5F1D-38A9-C64EE5C6B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1547846-5B73-A894-F0B4-466A292FE8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9F5F64D-B9AA-2AAA-21F6-2CAF46B0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093FA7E-6243-55E3-A1D8-E9A2E7479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882876AE-214A-F90F-FAE5-C3E50982F4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5EC1C0B-EC3B-C973-9828-360528AEB9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DA9F1-36A0-76F9-4D49-1FFB30F8CFE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E3E6E29-BEC4-288C-B32B-AF774446EF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12B6CAE-326B-E34A-31F1-77AFF35385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684C43-A236-A698-D9CB-1D9BB8955A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2E76D79-F84B-B7B3-36C7-DDFA1F84B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8B250DB-C361-A6E3-4C85-D21F8209C1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47BE96E-3F4B-84BA-6775-D41FF7C532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F3551-81ED-C908-0D9D-64C876F81F0D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CCA88FD-78DE-CEC8-8BFD-721D475ECD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F7D2711-8021-39A5-678E-CDC6C4470D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C3BC8212-B451-4273-2728-F59952E7BC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FE52C8F5-D1FE-4AC8-4162-7CF0174C7F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B573B61-8792-4F95-2044-72CB5D6018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EFCA5AB-AA3A-875C-1ECF-F75A93964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56568-E050-C688-ED26-0B21D0654CA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14D81DD-1F3B-B50D-F43D-3E209D45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58D34C8-C6F8-F06E-7715-9288F76C9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107FD63-81FF-191D-0B53-F42767D14F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54F87762-C44E-A3F8-3E3D-46E9684774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C9782FAE-D7D9-18FB-6538-0F3C12A16C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396B2B4-C495-974A-4A3B-44C71DDB9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6526B-689D-F225-B2C2-E0BBC08CF3D7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D61DFCD-9B7B-9CEE-09F1-B3FFBCEC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2E7D430F-6BD5-C242-3242-1C4393E85F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5AA8EC8-6FD0-6F7C-5280-A51D231177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7CAAC3B-4107-FAE2-2BB7-B0E46A4F5E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163CF3C-7F65-26FA-53B9-F3B800083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A837C5D-6026-3DC8-E17F-DE9A1A3337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088EC-A7D4-9C0A-C322-1161E9EFEA5E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5C4F613F-1DD6-3F3D-9BAE-708257885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8F30CC7-8DA5-9459-5823-3D7027574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9549D5A1-8221-2608-197C-70D3E119DD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6C29BFA-EBE0-3409-DA75-D6D86C95C5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DE56CA28-603E-6C83-560F-82347F4C92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AE3DA774-A3A9-8F32-B9A2-708F35FC0E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8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8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601657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12096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1209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005ED3-DC5A-16D6-BC0D-2BC8DBC127C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425E7774-98DD-0FEF-9145-91D6B46D26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F3BA1AE-9A9D-B9A4-5403-6AA4C35F1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437AAFBE-8A17-35F2-274B-EB0FA065C2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A3380145-9EE8-3EC6-9B1C-FB9540A9C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0BF31EAF-B3E0-97CF-2E5E-B91BC8A708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0F3C66CC-04BD-A3C8-72CC-31B30C4C59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6540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6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D94C-10A5-93DD-7545-E8A78E3E76DF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B7F9CF2-27FB-5CFF-3AF9-F3D782AF8F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A4FE0BE7-E21B-0A34-6A99-A25D9D183E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9344221-152E-2762-91B6-95EFB33B4E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2B8FF3A7-A802-4EFD-1B3E-BE4FD55930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8E61D3F6-A1B4-B1CF-57E5-6C0A92BC8A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CECCA6D3-F3B6-26C6-0F5D-83832B6120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71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6A780702-9C9B-96F4-8B07-21C9D8C8A0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7E1B9D4-3009-CCED-240A-6514B89A3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F8592D55-D1DD-021F-F58A-C23393CDA1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6ECC017-F717-4757-9B44-6475FFD17C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78498B7-D9E9-F174-4F80-972AA25563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B8B70A7C-1FE3-4C27-A360-FF4D04AB32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BBE49-3380-52D0-1396-73ED8BD97A8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34602-4EFB-8E5B-8FAA-B579A05D71D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10DDEA8-C62F-FFEF-8E88-937A40610A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5215B45-7283-2B79-53B8-8EC24F78CF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C313BF5-1342-2D50-4CD8-F0843C8D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99A91AC-5617-3A97-3CA7-56FF0F2C2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C7400D53-2A85-B307-D1F5-7E6EB77D05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CB004BB-6761-8374-A9BD-CD2644D66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847966-6DB9-1FB6-9676-273C285CBBB9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5AB7E31-14A7-9501-5A1B-CA9C8DF7F9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2254130-3E7F-93A9-7119-F750B966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09E9735-A341-685A-2E0E-8E623D1823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7576E6CE-DA5C-AF50-7933-59F501DBD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9BCEF5B-3A08-5E7B-9ED1-3F71D12FBA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6FEDC4B-7FBE-AE64-86BE-07088AD5B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7">
                <a:extLst>
                  <a:ext uri="{FF2B5EF4-FFF2-40B4-BE49-F238E27FC236}">
                    <a16:creationId xmlns:a16="http://schemas.microsoft.com/office/drawing/2014/main" id="{8776387C-7DBE-0FBD-3AED-689433E768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">
                <a:extLst>
                  <a:ext uri="{FF2B5EF4-FFF2-40B4-BE49-F238E27FC236}">
                    <a16:creationId xmlns:a16="http://schemas.microsoft.com/office/drawing/2014/main" id="{262E0FEC-2981-11B0-3D88-8A94D08178C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9">
                <a:extLst>
                  <a:ext uri="{FF2B5EF4-FFF2-40B4-BE49-F238E27FC236}">
                    <a16:creationId xmlns:a16="http://schemas.microsoft.com/office/drawing/2014/main" id="{FECC1288-545E-BDB4-6462-3EE5544D70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10">
                <a:extLst>
                  <a:ext uri="{FF2B5EF4-FFF2-40B4-BE49-F238E27FC236}">
                    <a16:creationId xmlns:a16="http://schemas.microsoft.com/office/drawing/2014/main" id="{9DB49BE1-F1C8-5A4F-1BE7-B9C5B671A4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5700CEE7-82FA-F314-D150-00348A9C199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58A1D-41DA-DC58-93FB-1ED0F2D56A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C243CA-E9F6-42B7-4EBD-174C6A6167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AF0893DC-4B4F-34BC-2BE3-54AE043B9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2E9ED647-0AE4-33D4-5156-46F4EDDDE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05BD8F00-F164-080D-BE9D-F8D1C4DFAE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5270BA00-DD8B-D870-AA01-525F7B132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214A0A3-3CC6-58A0-8F76-87CEE5EF1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D4ACFFF1-B65B-C5F8-C71D-FED0359A3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0" r:id="rId2"/>
    <p:sldLayoutId id="2147483723" r:id="rId3"/>
    <p:sldLayoutId id="2147483751" r:id="rId4"/>
    <p:sldLayoutId id="2147483670" r:id="rId5"/>
    <p:sldLayoutId id="2147483752" r:id="rId6"/>
    <p:sldLayoutId id="2147483740" r:id="rId7"/>
    <p:sldLayoutId id="2147483753" r:id="rId8"/>
    <p:sldLayoutId id="2147483654" r:id="rId9"/>
    <p:sldLayoutId id="2147483725" r:id="rId10"/>
    <p:sldLayoutId id="2147483738" r:id="rId11"/>
    <p:sldLayoutId id="2147483739" r:id="rId12"/>
    <p:sldLayoutId id="2147483661" r:id="rId13"/>
    <p:sldLayoutId id="2147483726" r:id="rId14"/>
    <p:sldLayoutId id="2147483673" r:id="rId15"/>
    <p:sldLayoutId id="2147483727" r:id="rId16"/>
    <p:sldLayoutId id="2147483662" r:id="rId17"/>
    <p:sldLayoutId id="2147483728" r:id="rId18"/>
    <p:sldLayoutId id="2147483736" r:id="rId19"/>
    <p:sldLayoutId id="2147483737" r:id="rId20"/>
    <p:sldLayoutId id="2147483691" r:id="rId21"/>
    <p:sldLayoutId id="2147483729" r:id="rId22"/>
    <p:sldLayoutId id="2147483755" r:id="rId23"/>
    <p:sldLayoutId id="2147483749" r:id="rId24"/>
    <p:sldLayoutId id="2147483756" r:id="rId25"/>
    <p:sldLayoutId id="2147483711" r:id="rId26"/>
    <p:sldLayoutId id="2147483731" r:id="rId27"/>
    <p:sldLayoutId id="2147483746" r:id="rId28"/>
    <p:sldLayoutId id="2147483722" r:id="rId29"/>
    <p:sldLayoutId id="2147483732" r:id="rId30"/>
    <p:sldLayoutId id="2147483657" r:id="rId31"/>
    <p:sldLayoutId id="2147483733" r:id="rId32"/>
    <p:sldLayoutId id="2147483659" r:id="rId33"/>
    <p:sldLayoutId id="2147483734" r:id="rId34"/>
    <p:sldLayoutId id="2147483748" r:id="rId35"/>
    <p:sldLayoutId id="2147483747" r:id="rId36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Arial"/>
              </a:rPr>
              <a:t>The MCP Static Scanner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solidFill>
                  <a:srgbClr val="F26A52"/>
                </a:solidFill>
                <a:latin typeface="Arial"/>
              </a:rPr>
              <a:t>Scoring the risk of every tool-on-asset a server exposes — before it goes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5532120"/>
            <a:ext cx="3246120" cy="749808"/>
          </a:xfrm>
          <a:prstGeom prst="roundRect">
            <a:avLst>
              <a:gd name="adj" fmla="val 12000"/>
            </a:avLst>
          </a:prstGeom>
          <a:solidFill>
            <a:srgbClr val="26222E"/>
          </a:solidFill>
          <a:ln w="12700">
            <a:solidFill>
              <a:srgbClr val="3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614416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1251B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5614416"/>
            <a:ext cx="17373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0AAB8"/>
                </a:solidFill>
                <a:latin typeface="Arial"/>
              </a:rPr>
              <a:t>servers scanned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5532120"/>
            <a:ext cx="3246120" cy="749808"/>
          </a:xfrm>
          <a:prstGeom prst="roundRect">
            <a:avLst>
              <a:gd name="adj" fmla="val 12000"/>
            </a:avLst>
          </a:prstGeom>
          <a:solidFill>
            <a:srgbClr val="26222E"/>
          </a:solidFill>
          <a:ln w="12700">
            <a:solidFill>
              <a:srgbClr val="3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5614416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1251B"/>
                </a:solidFill>
                <a:latin typeface="Arial"/>
              </a:rPr>
              <a:t>1,700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42431" y="5614416"/>
            <a:ext cx="17373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0AAB8"/>
                </a:solidFill>
                <a:latin typeface="Arial"/>
              </a:rPr>
              <a:t>risk cells scored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91271" y="5532120"/>
            <a:ext cx="3246120" cy="749808"/>
          </a:xfrm>
          <a:prstGeom prst="roundRect">
            <a:avLst>
              <a:gd name="adj" fmla="val 12000"/>
            </a:avLst>
          </a:prstGeom>
          <a:solidFill>
            <a:srgbClr val="26222E"/>
          </a:solidFill>
          <a:ln w="12700">
            <a:solidFill>
              <a:srgbClr val="3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1" y="5614416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1251B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8592" y="5614416"/>
            <a:ext cx="17373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0AAB8"/>
                </a:solidFill>
                <a:latin typeface="Arial"/>
              </a:rPr>
              <a:t>LLM prompt stages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What the static scanner 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5257800" cy="4526280"/>
          </a:xfrm>
          <a:prstGeom prst="roundRect">
            <a:avLst>
              <a:gd name="adj" fmla="val 5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1" y="157276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184F"/>
                </a:solidFill>
                <a:latin typeface="Arial"/>
              </a:rPr>
              <a:t>The threat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29967"/>
            <a:ext cx="4709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2B2530"/>
                </a:solidFill>
                <a:latin typeface="Arial"/>
              </a:rPr>
              <a:t>Protected asset  →  the MCP server</a:t>
            </a:r>
          </a:p>
          <a:p>
            <a:pPr indent="-201168" marL="201168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2B2530"/>
                </a:solidFill>
                <a:latin typeface="Arial"/>
              </a:rPr>
              <a:t>Threat source  →  the AI agent that calls it</a:t>
            </a:r>
          </a:p>
          <a:p>
            <a:pPr indent="-201168" marL="201168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4E444E"/>
                </a:solidFill>
                <a:latin typeface="Arial"/>
              </a:rPr>
              <a:t>Direction is client → server. The reverse (malicious server → agent) is out of scope.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886200"/>
            <a:ext cx="4663440" cy="12801"/>
          </a:xfrm>
          <a:prstGeom prst="rect">
            <a:avLst/>
          </a:prstGeom>
          <a:solidFill>
            <a:srgbClr val="D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04164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251B"/>
                </a:solidFill>
                <a:latin typeface="Arial"/>
              </a:rPr>
              <a:t>Static = the design-time 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407408"/>
            <a:ext cx="4709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4E444E"/>
                </a:solidFill>
                <a:latin typeface="Arial"/>
              </a:rPr>
              <a:t>Runs before a server goes live; never connects to a running server.</a:t>
            </a:r>
          </a:p>
          <a:p>
            <a:pPr indent="-201168" marL="201168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4E444E"/>
                </a:solidFill>
                <a:latin typeface="Arial"/>
              </a:rPr>
              <a:t>Output: a per-server risk matrix — a band for every (tool, asset) pair.</a:t>
            </a:r>
          </a:p>
          <a:p>
            <a:pPr indent="-201168" marL="201168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4E444E"/>
                </a:solidFill>
                <a:latin typeface="Arial"/>
              </a:rPr>
              <a:t>At runtime the call scorer just looks a call up in that matrix.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257800" cy="4526280"/>
          </a:xfrm>
          <a:prstGeom prst="roundRect">
            <a:avLst>
              <a:gd name="adj" fmla="val 5000"/>
            </a:avLst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7276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LLM-only &amp; evidence-bound</a:t>
            </a:r>
          </a:p>
        </p:txBody>
      </p:sp>
      <p:sp>
        <p:nvSpPr>
          <p:cNvPr id="11" name="Oval 10"/>
          <p:cNvSpPr/>
          <p:nvPr/>
        </p:nvSpPr>
        <p:spPr>
          <a:xfrm>
            <a:off x="6446520" y="2212848"/>
            <a:ext cx="137160" cy="137160"/>
          </a:xfrm>
          <a:prstGeom prst="ellipse">
            <a:avLst/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130552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0EA"/>
                </a:solidFill>
                <a:latin typeface="Arial"/>
              </a:rPr>
              <a:t>Derives every risk primitive from the tool list + on-disk assets via a local model (Qwen2.5 / Ollama), in strict mode.</a:t>
            </a:r>
          </a:p>
        </p:txBody>
      </p:sp>
      <p:sp>
        <p:nvSpPr>
          <p:cNvPr id="13" name="Oval 12"/>
          <p:cNvSpPr/>
          <p:nvPr/>
        </p:nvSpPr>
        <p:spPr>
          <a:xfrm>
            <a:off x="6446520" y="3236976"/>
            <a:ext cx="137160" cy="137160"/>
          </a:xfrm>
          <a:prstGeom prst="ellipse">
            <a:avLst/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315468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0EA"/>
                </a:solidFill>
                <a:latin typeface="Arial"/>
              </a:rPr>
              <a:t>If the model is unreachable it raises rather than guess — no silent fallback numbers.</a:t>
            </a:r>
          </a:p>
        </p:txBody>
      </p:sp>
      <p:sp>
        <p:nvSpPr>
          <p:cNvPr id="15" name="Oval 14"/>
          <p:cNvSpPr/>
          <p:nvPr/>
        </p:nvSpPr>
        <p:spPr>
          <a:xfrm>
            <a:off x="6446520" y="4261104"/>
            <a:ext cx="137160" cy="137160"/>
          </a:xfrm>
          <a:prstGeom prst="ellipse">
            <a:avLst/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4178808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0EA"/>
                </a:solidFill>
                <a:latin typeface="Arial"/>
              </a:rPr>
              <a:t>Never reads the checked-in ground-truth tables it is later graded against.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5285232"/>
            <a:ext cx="4754880" cy="457200"/>
          </a:xfrm>
          <a:prstGeom prst="roundRect">
            <a:avLst>
              <a:gd name="adj" fmla="val 6000"/>
            </a:avLst>
          </a:prstGeom>
          <a:solidFill>
            <a:srgbClr val="1C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285232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C9D0F0"/>
                </a:solidFill>
                <a:latin typeface="Arial"/>
              </a:rPr>
              <a:t>Scores capability, not intent — the dynamic scorer handles argument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Design time builds the matrix; runtime just looks 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10671048" cy="1965960"/>
          </a:xfrm>
          <a:prstGeom prst="roundRect">
            <a:avLst>
              <a:gd name="adj" fmla="val 5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499616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251B"/>
                </a:solidFill>
                <a:latin typeface="Arial"/>
              </a:rPr>
              <a:t>DESIGN TIME  (static scanner)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1" y="193852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938528"/>
            <a:ext cx="2286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B2530"/>
                </a:solidFill>
                <a:latin typeface="Arial"/>
              </a:rPr>
              <a:t>tools/list  +
on-disk assets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9272" y="1938528"/>
            <a:ext cx="38404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26A52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93852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938528"/>
            <a:ext cx="2286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B2530"/>
                </a:solidFill>
                <a:latin typeface="Arial"/>
              </a:rPr>
              <a:t>LLM derives
3 primitives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938528"/>
            <a:ext cx="38404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26A52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193852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938528"/>
            <a:ext cx="2286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B2530"/>
                </a:solidFill>
                <a:latin typeface="Arial"/>
              </a:rPr>
              <a:t>score → band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7" y="1938528"/>
            <a:ext cx="38404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26A52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3416" y="193852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938528"/>
            <a:ext cx="2286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risk matrix
per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3703320"/>
            <a:ext cx="10671048" cy="1965960"/>
          </a:xfrm>
          <a:prstGeom prst="roundRect">
            <a:avLst>
              <a:gd name="adj" fmla="val 5000"/>
            </a:avLst>
          </a:prstGeom>
          <a:solidFill>
            <a:srgbClr val="EF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831335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046AD"/>
                </a:solidFill>
                <a:latin typeface="Arial"/>
              </a:rPr>
              <a:t>RUNTIME  (call scorer)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1" y="427024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4270248"/>
            <a:ext cx="2286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B2530"/>
                </a:solidFill>
                <a:latin typeface="Arial"/>
              </a:rPr>
              <a:t>observed
tool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4270248"/>
            <a:ext cx="38404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046AD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427024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4270248"/>
            <a:ext cx="2286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B2530"/>
                </a:solidFill>
                <a:latin typeface="Arial"/>
              </a:rPr>
              <a:t>resolve args →
scanned asset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270248"/>
            <a:ext cx="38404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046AD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3368" y="427024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270248"/>
            <a:ext cx="2286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B2530"/>
                </a:solidFill>
                <a:latin typeface="Arial"/>
              </a:rPr>
              <a:t>look up cell
in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7" y="4270248"/>
            <a:ext cx="38404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046AD"/>
                </a:solidFill>
                <a:latin typeface="Arial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3416" y="427024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304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3416" y="4270248"/>
            <a:ext cx="2286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band + param
escalation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5806440"/>
            <a:ext cx="10671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6B6570"/>
                </a:solidFill>
                <a:latin typeface="Arial"/>
              </a:rPr>
              <a:t>The matrix is computed once, offline. Every runtime decision is a cheap lookup — no LLM call on the hot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Five packages, ~5,300 lines, one clean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10671048" cy="841248"/>
          </a:xfrm>
          <a:prstGeom prst="roundRect">
            <a:avLst>
              <a:gd name="adj" fmla="val 5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5256" y="1527048"/>
            <a:ext cx="2148840" cy="530352"/>
          </a:xfrm>
          <a:prstGeom prst="roundRect">
            <a:avLst>
              <a:gd name="adj" fmla="val 8000"/>
            </a:avLst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527048"/>
            <a:ext cx="2148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ourier New"/>
              </a:rPr>
              <a:t>scanner/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444752"/>
            <a:ext cx="61264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E444E"/>
                </a:solidFill>
                <a:latin typeface="Arial"/>
              </a:rPr>
              <a:t>Assemble a server's description — tools from its own tools/list, assets from its on-disk store — and drive the LLM stage.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5752" y="1508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1251B"/>
                </a:solidFill>
                <a:latin typeface="Arial"/>
              </a:rPr>
              <a:t>377 loc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7112" y="1828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39F"/>
                </a:solidFill>
                <a:latin typeface="Courier New"/>
              </a:rPr>
              <a:t>scan.py · tool_list.py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313432"/>
            <a:ext cx="10671048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5256" y="2468880"/>
            <a:ext cx="2148840" cy="530352"/>
          </a:xfrm>
          <a:prstGeom prst="roundRect">
            <a:avLst>
              <a:gd name="adj" fmla="val 8000"/>
            </a:avLst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468880"/>
            <a:ext cx="2148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ourier New"/>
              </a:rPr>
              <a:t>static_scoring/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386584"/>
            <a:ext cx="61264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E444E"/>
                </a:solidFill>
                <a:latin typeface="Arial"/>
              </a:rPr>
              <a:t>The LLM pipeline: infer domain → score impact, sensitivity, blast radius → multiply → band → judge.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5752" y="245059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1251B"/>
                </a:solidFill>
                <a:latin typeface="Arial"/>
              </a:rPr>
              <a:t>1,913 loc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7112" y="27706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39F"/>
                </a:solidFill>
                <a:latin typeface="Courier New"/>
              </a:rPr>
              <a:t>pipeline.py · prompts.py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3255264"/>
            <a:ext cx="10671048" cy="841248"/>
          </a:xfrm>
          <a:prstGeom prst="roundRect">
            <a:avLst>
              <a:gd name="adj" fmla="val 5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5256" y="3410712"/>
            <a:ext cx="2148840" cy="530352"/>
          </a:xfrm>
          <a:prstGeom prst="roundRect">
            <a:avLst>
              <a:gd name="adj" fmla="val 8000"/>
            </a:avLst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3410712"/>
            <a:ext cx="2148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ourier New"/>
              </a:rPr>
              <a:t>param_scoring/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328416"/>
            <a:ext cx="61264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E444E"/>
                </a:solidFill>
                <a:latin typeface="Arial"/>
              </a:rPr>
              <a:t>Per-tool input rubrics: which inputs carry magnitude (counts, amounts, unbounded queries) and how a value escalates the band.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5752" y="33924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1251B"/>
                </a:solidFill>
                <a:latin typeface="Arial"/>
              </a:rPr>
              <a:t>428 loc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37124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39F"/>
                </a:solidFill>
                <a:latin typeface="Courier New"/>
              </a:rPr>
              <a:t>derive.py · rubric.py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4197096"/>
            <a:ext cx="10671048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" y="4352544"/>
            <a:ext cx="2148840" cy="530352"/>
          </a:xfrm>
          <a:prstGeom prst="roundRect">
            <a:avLst>
              <a:gd name="adj" fmla="val 8000"/>
            </a:avLst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352544"/>
            <a:ext cx="2148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ourier New"/>
              </a:rPr>
              <a:t>call_scoring/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270248"/>
            <a:ext cx="61264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E444E"/>
                </a:solidFill>
                <a:latin typeface="Arial"/>
              </a:rPr>
              <a:t>Resolve an observed call's args to a scanned asset and look up its band; honest status when unresolvable.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43342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1251B"/>
                </a:solidFill>
                <a:latin typeface="Arial"/>
              </a:rPr>
              <a:t>874 loc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465429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39F"/>
                </a:solidFill>
                <a:latin typeface="Courier New"/>
              </a:rPr>
              <a:t>resolve.py · score.py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5138928"/>
            <a:ext cx="10671048" cy="841248"/>
          </a:xfrm>
          <a:prstGeom prst="roundRect">
            <a:avLst>
              <a:gd name="adj" fmla="val 5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256" y="5294376"/>
            <a:ext cx="2148840" cy="530352"/>
          </a:xfrm>
          <a:prstGeom prst="roundRect">
            <a:avLst>
              <a:gd name="adj" fmla="val 8000"/>
            </a:avLst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" y="5294376"/>
            <a:ext cx="2148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ourier New"/>
              </a:rPr>
              <a:t>atomic_ops/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5212080"/>
            <a:ext cx="61264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E444E"/>
                </a:solidFill>
                <a:latin typeface="Arial"/>
              </a:rPr>
              <a:t>Parallel tool-catalog classifier — tags atomic operations and emits the sensitivity / heatmap workbooks.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5276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1251B"/>
                </a:solidFill>
                <a:latin typeface="Arial"/>
              </a:rPr>
              <a:t>1,729 loc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7112" y="55961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39F"/>
                </a:solidFill>
                <a:latin typeface="Courier New"/>
              </a:rPr>
              <a:t>classifier.py · toollist_rules.py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Three primitives the LLM derives, multiplied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10671048" cy="822960"/>
          </a:xfrm>
          <a:prstGeom prst="roundRect">
            <a:avLst>
              <a:gd name="adj" fmla="val 5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371600"/>
            <a:ext cx="1067104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26A52"/>
                </a:solidFill>
                <a:latin typeface="Courier New"/>
              </a:rPr>
              <a:t>score</a:t>
            </a:r>
            <a:r>
              <a:rPr sz="1500" b="0" i="0">
                <a:solidFill>
                  <a:srgbClr val="E8E4EC"/>
                </a:solidFill>
                <a:latin typeface="Courier New"/>
              </a:rPr>
              <a:t>  =  </a:t>
            </a:r>
            <a:r>
              <a:rPr sz="1500" b="1" i="0">
                <a:solidFill>
                  <a:srgbClr val="7FD1B9"/>
                </a:solidFill>
                <a:latin typeface="Courier New"/>
              </a:rPr>
              <a:t>asset_sensitivity</a:t>
            </a:r>
            <a:r>
              <a:rPr sz="1500" b="0" i="0">
                <a:solidFill>
                  <a:srgbClr val="E8E4EC"/>
                </a:solidFill>
                <a:latin typeface="Courier New"/>
              </a:rPr>
              <a:t> (1–5)  ×  </a:t>
            </a:r>
            <a:r>
              <a:rPr sz="1500" b="1" i="0">
                <a:solidFill>
                  <a:srgbClr val="9DB4FF"/>
                </a:solidFill>
                <a:latin typeface="Courier New"/>
              </a:rPr>
              <a:t>blast_radius</a:t>
            </a:r>
            <a:r>
              <a:rPr sz="1500" b="0" i="0">
                <a:solidFill>
                  <a:srgbClr val="E8E4EC"/>
                </a:solidFill>
                <a:latin typeface="Courier New"/>
              </a:rPr>
              <a:t> (1–4)  ×  </a:t>
            </a:r>
            <a:r>
              <a:rPr sz="1500" b="1" i="0">
                <a:solidFill>
                  <a:srgbClr val="F2B36A"/>
                </a:solidFill>
                <a:latin typeface="Courier New"/>
              </a:rPr>
              <a:t>tool_impact</a:t>
            </a:r>
            <a:r>
              <a:rPr sz="1500" b="0" i="0">
                <a:solidFill>
                  <a:srgbClr val="E8E4EC"/>
                </a:solidFill>
                <a:latin typeface="Courier New"/>
              </a:rPr>
              <a:t> (1–3)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468880"/>
            <a:ext cx="340156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2724912"/>
            <a:ext cx="1371600" cy="658368"/>
          </a:xfrm>
          <a:prstGeom prst="roundRect">
            <a:avLst>
              <a:gd name="adj" fmla="val 10000"/>
            </a:avLst>
          </a:prstGeom>
          <a:solidFill>
            <a:srgbClr val="F2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24912"/>
            <a:ext cx="1371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A1620"/>
                </a:solidFill>
                <a:latin typeface="Arial"/>
              </a:rPr>
              <a:t>1 –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54787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Courier New"/>
              </a:rPr>
              <a:t>tool_impact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95020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E444E"/>
                </a:solidFill>
                <a:latin typeface="Arial"/>
              </a:rPr>
              <a:t>Reversibility of the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343400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6570"/>
                </a:solidFill>
                <a:latin typeface="Arial"/>
              </a:rPr>
              <a:t>read = 1  ·  create = 2  ·  overwrite / delete / move =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3692" y="2468880"/>
            <a:ext cx="340156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22292" y="2724912"/>
            <a:ext cx="1371600" cy="658368"/>
          </a:xfrm>
          <a:prstGeom prst="roundRect">
            <a:avLst>
              <a:gd name="adj" fmla="val 10000"/>
            </a:avLst>
          </a:prstGeom>
          <a:solidFill>
            <a:srgbClr val="7FD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2292" y="2724912"/>
            <a:ext cx="1371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A1620"/>
                </a:solidFill>
                <a:latin typeface="Arial"/>
              </a:rPr>
              <a:t>1 –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2292" y="354787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Courier New"/>
              </a:rPr>
              <a:t>asset_sensitivity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2292" y="395020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E444E"/>
                </a:solidFill>
                <a:latin typeface="Arial"/>
              </a:rPr>
              <a:t>Criticality if exposed or destroyed.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2292" y="4343400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6570"/>
                </a:solidFill>
                <a:latin typeface="Arial"/>
              </a:rPr>
              <a:t>1 public  …  5 regulated / PII / secrets / crown jewels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468880"/>
            <a:ext cx="340156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57031" y="2724912"/>
            <a:ext cx="1371600" cy="658368"/>
          </a:xfrm>
          <a:prstGeom prst="roundRect">
            <a:avLst>
              <a:gd name="adj" fmla="val 10000"/>
            </a:avLst>
          </a:prstGeom>
          <a:solidFill>
            <a:srgbClr val="9D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2724912"/>
            <a:ext cx="1371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A1620"/>
                </a:solidFill>
                <a:latin typeface="Arial"/>
              </a:rPr>
              <a:t>1 –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54787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Courier New"/>
              </a:rPr>
              <a:t>blast_radius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395020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E444E"/>
                </a:solidFill>
                <a:latin typeface="Arial"/>
              </a:rPr>
              <a:t>How far one call reaches.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343400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6570"/>
                </a:solidFill>
                <a:latin typeface="Arial"/>
              </a:rPr>
              <a:t>1 single file  …  4 whole store / fan-out across many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5120640"/>
            <a:ext cx="10671048" cy="548640"/>
          </a:xfrm>
          <a:prstGeom prst="roundRect">
            <a:avLst>
              <a:gd name="adj" fmla="val 5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5120640"/>
            <a:ext cx="102138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251B"/>
                </a:solidFill>
                <a:latin typeface="Arial"/>
              </a:rPr>
              <a:t>Likelihood is pinned to 1.0 </a:t>
            </a:r>
            <a:r>
              <a:rPr sz="1300" b="0" i="0">
                <a:solidFill>
                  <a:srgbClr val="4E444E"/>
                </a:solidFill>
                <a:latin typeface="Arial"/>
              </a:rPr>
              <a:t>— a design-time upper bound. The scan asks “what is the worst this cell could do?”, not “how likely is it?”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The band is categorical, not a raw threshold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10671048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5256" y="1572768"/>
            <a:ext cx="1783080" cy="621792"/>
          </a:xfrm>
          <a:prstGeom prst="roundRect">
            <a:avLst>
              <a:gd name="adj" fmla="val 6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572768"/>
            <a:ext cx="1783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2072" y="1517904"/>
            <a:ext cx="49377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530"/>
                </a:solidFill>
                <a:latin typeface="Arial"/>
              </a:rPr>
              <a:t>Irreversible destruction of a crown jewel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36992" y="1554480"/>
            <a:ext cx="3337560" cy="658368"/>
          </a:xfrm>
          <a:prstGeom prst="roundRect">
            <a:avLst>
              <a:gd name="adj" fmla="val 5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9" y="1591056"/>
            <a:ext cx="3154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9DB4FF"/>
                </a:solidFill>
                <a:latin typeface="Courier New"/>
              </a:rPr>
              <a:t>impact 3  ∧  sensitivity 5  ∧  blast ≥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487168"/>
            <a:ext cx="10671048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5256" y="2688336"/>
            <a:ext cx="1783080" cy="621792"/>
          </a:xfrm>
          <a:prstGeom prst="roundRect">
            <a:avLst>
              <a:gd name="adj" fmla="val 6000"/>
            </a:avLst>
          </a:prstGeom>
          <a:solidFill>
            <a:srgbClr val="E87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688336"/>
            <a:ext cx="1783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633472"/>
            <a:ext cx="49377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530"/>
                </a:solidFill>
                <a:latin typeface="Arial"/>
              </a:rPr>
              <a:t>Irreversible op on restricted data, a high raw score, or a broad read of sensitive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2670048"/>
            <a:ext cx="3337560" cy="658368"/>
          </a:xfrm>
          <a:prstGeom prst="roundRect">
            <a:avLst>
              <a:gd name="adj" fmla="val 5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2706624"/>
            <a:ext cx="3154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9DB4FF"/>
                </a:solidFill>
                <a:latin typeface="Courier New"/>
              </a:rPr>
              <a:t>impact 3 ∧ sens ≥ 4   ·   score ≥ 24   ·   mass-read: impact 1 ∧ sens ≥ 4 ∧ blast ≥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3602736"/>
            <a:ext cx="10671048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5256" y="3803904"/>
            <a:ext cx="1783080" cy="621792"/>
          </a:xfrm>
          <a:prstGeom prst="roundRect">
            <a:avLst>
              <a:gd name="adj" fmla="val 6000"/>
            </a:avLst>
          </a:prstGeom>
          <a:solidFill>
            <a:srgbClr val="E0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3803904"/>
            <a:ext cx="1783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3749040"/>
            <a:ext cx="49377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530"/>
                </a:solidFill>
                <a:latin typeface="Arial"/>
              </a:rPr>
              <a:t>Middling score, or any read of a crown jewel (confidentiality floor)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36992" y="3785616"/>
            <a:ext cx="3337560" cy="658368"/>
          </a:xfrm>
          <a:prstGeom prst="roundRect">
            <a:avLst>
              <a:gd name="adj" fmla="val 5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3822192"/>
            <a:ext cx="3154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9DB4FF"/>
                </a:solidFill>
                <a:latin typeface="Courier New"/>
              </a:rPr>
              <a:t>score ≥ 8   ·   reading a secret is never “nothing”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4718304"/>
            <a:ext cx="10671048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" y="4919472"/>
            <a:ext cx="1783080" cy="621792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919472"/>
            <a:ext cx="17830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2072" y="4864608"/>
            <a:ext cx="49377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530"/>
                </a:solidFill>
                <a:latin typeface="Arial"/>
              </a:rPr>
              <a:t>Routine — let it through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36992" y="4901184"/>
            <a:ext cx="3337560" cy="658368"/>
          </a:xfrm>
          <a:prstGeom prst="roundRect">
            <a:avLst>
              <a:gd name="adj" fmla="val 5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4937760"/>
            <a:ext cx="3154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9DB4FF"/>
                </a:solidFill>
                <a:latin typeface="Courier New"/>
              </a:rPr>
              <a:t>everything else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852160"/>
            <a:ext cx="106710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6B6570"/>
                </a:solidFill>
                <a:latin typeface="Arial"/>
              </a:rPr>
              <a:t>A broad read outranks a small write even at a lower score — this yields a ~1–2% “risk pyramid”, not a flat alarm.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Canonical lookup tables — where sensitivity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987552"/>
            <a:ext cx="10671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B6570"/>
                </a:solidFill>
                <a:latin typeface="Arial"/>
              </a:rPr>
              <a:t>Fixed values from heatmap.xlsx that the call / misuse scorer reads — so a value never depends on the model's mood.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41732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4F"/>
                </a:solidFill>
                <a:latin typeface="Arial"/>
              </a:rPr>
              <a:t>Sens — by file extension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" y="1764792"/>
          <a:ext cx="342900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594360"/>
                <a:gridCol w="868680"/>
              </a:tblGrid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Ext</a:t>
                      </a:r>
                    </a:p>
                  </a:txBody>
                  <a:tcPr marL="54864" marR="36576" marT="0" marB="0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Sens</a:t>
                      </a:r>
                    </a:p>
                  </a:txBody>
                  <a:tcPr marL="54864" marR="36576" marT="0" marB="0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Risk level</a:t>
                      </a:r>
                    </a:p>
                  </a:txBody>
                  <a:tcPr marL="54864" marR="36576" marT="0" marB="0" anchor="ctr">
                    <a:solidFill>
                      <a:srgbClr val="1118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Courier New"/>
                        </a:rPr>
                        <a:t>.pem .key .env .exe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0" marB="0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Critical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Courier New"/>
                        </a:rPr>
                        <a:t>.sql .xlsx .docx .code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36576" marT="0" marB="0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Courier New"/>
                        </a:rPr>
                        <a:t>.pdf .csv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36576" marT="0" marB="0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Courier New"/>
                        </a:rPr>
                        <a:t>.md .png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36576" marT="0" marB="0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Courier New"/>
                        </a:rPr>
                        <a:t>.txt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36576" marT="0" marB="0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98264" y="14173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4F"/>
                </a:solidFill>
                <a:latin typeface="Arial"/>
              </a:rPr>
              <a:t>Sens — per-directory baseline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98264" y="1764792"/>
          <a:ext cx="329184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/>
                <a:gridCol w="68580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Directory</a:t>
                      </a:r>
                    </a:p>
                  </a:txBody>
                  <a:tcPr marL="54864" marR="36576" marT="0" marB="0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Sens</a:t>
                      </a:r>
                    </a:p>
                  </a:txBody>
                  <a:tcPr marL="54864" marR="36576" marT="0" marB="0" anchor="ctr">
                    <a:solidFill>
                      <a:srgbClr val="1118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Sensitive Docs · Security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0" marB="0" anchor="ctr">
                    <a:solidFill>
                      <a:srgbClr val="9E1B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Source Code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36576" marT="0" marB="0" anchor="ctr">
                    <a:solidFill>
                      <a:srgbClr val="E8720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Shared Proj Dir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36576" marT="0" marB="0" anchor="ctr">
                    <a:solidFill>
                      <a:srgbClr val="E0A4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Eval Data · QA Plans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36576" marT="0" marB="0" anchor="ctr">
                    <a:solidFill>
                      <a:srgbClr val="E0A4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Onboarding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36576" marT="0" marB="0" anchor="ctr">
                    <a:solidFill>
                      <a:srgbClr val="2E8B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Public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36576" marT="0" marB="0" anchor="ctr">
                    <a:solidFill>
                      <a:srgbClr val="2E8B5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72983" y="14173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4F"/>
                </a:solidFill>
                <a:latin typeface="Arial"/>
              </a:rPr>
              <a:t>Expo — destination exposure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72983" y="1764792"/>
          <a:ext cx="329184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73152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Directory</a:t>
                      </a:r>
                    </a:p>
                  </a:txBody>
                  <a:tcPr marL="54864" marR="36576" marT="0" marB="0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Expo</a:t>
                      </a:r>
                    </a:p>
                  </a:txBody>
                  <a:tcPr marL="54864" marR="36576" marT="0" marB="0" anchor="ctr">
                    <a:solidFill>
                      <a:srgbClr val="1118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Sensitive Docs · Security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0.9</a:t>
                      </a:r>
                    </a:p>
                  </a:txBody>
                  <a:tcPr marL="54864" marR="36576" marT="0" marB="0" anchor="ctr">
                    <a:solidFill>
                      <a:srgbClr val="E8720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Source Code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 marL="54864" marR="36576" marT="0" marB="0" anchor="ctr">
                    <a:solidFill>
                      <a:srgbClr val="E8720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Shared Proj Dir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0.7</a:t>
                      </a:r>
                    </a:p>
                  </a:txBody>
                  <a:tcPr marL="54864" marR="36576" marT="0" marB="0" anchor="ctr">
                    <a:solidFill>
                      <a:srgbClr val="E0A4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Eval Data · QA Plans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0.6</a:t>
                      </a:r>
                    </a:p>
                  </a:txBody>
                  <a:tcPr marL="54864" marR="36576" marT="0" marB="0" anchor="ctr">
                    <a:solidFill>
                      <a:srgbClr val="E0A4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Onboarding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 marL="54864" marR="36576" marT="0" marB="0" anchor="ctr">
                    <a:solidFill>
                      <a:srgbClr val="2E8B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Public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54864" marR="36576" marT="0" marB="0" anchor="ctr">
                    <a:solidFill>
                      <a:srgbClr val="2E8B5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" y="4892040"/>
            <a:ext cx="10671048" cy="1051560"/>
          </a:xfrm>
          <a:prstGeom prst="roundRect">
            <a:avLst>
              <a:gd name="adj" fmla="val 5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5029200"/>
            <a:ext cx="10213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1251B"/>
                </a:solidFill>
                <a:latin typeface="Arial"/>
              </a:rPr>
              <a:t>Name overrides (Rule 5) — </a:t>
            </a:r>
            <a:r>
              <a:rPr sz="1250" b="0" i="0">
                <a:solidFill>
                  <a:srgbClr val="4E444E"/>
                </a:solidFill>
                <a:latin typeface="Arial"/>
              </a:rPr>
              <a:t>some assets are sensitive in a way the extension hides: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394960"/>
            <a:ext cx="10213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84F"/>
                </a:solidFill>
                <a:latin typeface="Courier New"/>
              </a:rPr>
              <a:t>audit_log*  ·  *.audit</a:t>
            </a:r>
            <a:r>
              <a:rPr sz="1200" b="0" i="0">
                <a:solidFill>
                  <a:srgbClr val="4E444E"/>
                </a:solidFill>
                <a:latin typeface="Arial"/>
              </a:rPr>
              <a:t>  → Sens 5 (forensic record)        </a:t>
            </a:r>
            <a:r>
              <a:rPr sz="1200" b="1" i="0">
                <a:solidFill>
                  <a:srgbClr val="11184F"/>
                </a:solidFill>
                <a:latin typeface="Courier New"/>
              </a:rPr>
              <a:t>id_rsa*  ·  *credential*  ·  *secret*  ·  *password*</a:t>
            </a:r>
            <a:r>
              <a:rPr sz="1200" b="0" i="0">
                <a:solidFill>
                  <a:srgbClr val="4E444E"/>
                </a:solidFill>
                <a:latin typeface="Arial"/>
              </a:rPr>
              <a:t>  → Sens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Canonical lookup tables — reach, impact &amp; defaults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987552"/>
            <a:ext cx="10671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B6570"/>
                </a:solidFill>
                <a:latin typeface="Arial"/>
              </a:rPr>
              <a:t>Blast radius and the tool-impact multiplier both track scope — how much one call can touch or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3716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4F"/>
                </a:solidFill>
                <a:latin typeface="Arial"/>
              </a:rPr>
              <a:t>Blast — by tool (1–5)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" y="1719072"/>
          <a:ext cx="3200400" cy="2962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22960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54864" marR="36576" marT="0" marB="0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Blast</a:t>
                      </a:r>
                    </a:p>
                  </a:txBody>
                  <a:tcPr marL="54864" marR="36576" marT="0" marB="0" anchor="ctr">
                    <a:solidFill>
                      <a:srgbClr val="1118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Courier New"/>
                        </a:rPr>
                        <a:t>write_file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0" marB="0" anchor="ctr">
                    <a:solidFill>
                      <a:srgbClr val="9E1B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Courier New"/>
                        </a:rPr>
                        <a:t>edit_file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36576" marT="0" marB="0" anchor="ctr">
                    <a:solidFill>
                      <a:srgbClr val="E872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Courier New"/>
                        </a:rPr>
                        <a:t>move_file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36576" marT="0" marB="0" anchor="ctr">
                    <a:solidFill>
                      <a:srgbClr val="E872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Courier New"/>
                        </a:rPr>
                        <a:t>list_dir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36576" marT="0" marB="0" anchor="ctr">
                    <a:solidFill>
                      <a:srgbClr val="E0A4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search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36576" marT="0" marB="0" anchor="ctr">
                    <a:solidFill>
                      <a:srgbClr val="E0A4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Courier New"/>
                        </a:rPr>
                        <a:t>read_file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36576" marT="0" marB="0" anchor="ctr">
                    <a:solidFill>
                      <a:srgbClr val="2E8B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Courier New"/>
                        </a:rPr>
                        <a:t>create_dir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36576" marT="0" marB="0" anchor="ctr">
                    <a:solidFill>
                      <a:srgbClr val="2E8B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Courier New"/>
                        </a:rPr>
                        <a:t>get_file_info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36576" marT="0" marB="0" anchor="ctr">
                    <a:solidFill>
                      <a:srgbClr val="2E8B5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87952" y="137160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4F"/>
                </a:solidFill>
                <a:latin typeface="Arial"/>
              </a:rPr>
              <a:t>Tool Impact — multiplier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87952" y="1719072"/>
          <a:ext cx="397764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  <a:gridCol w="3291840"/>
              </a:tblGrid>
              <a:tr h="7132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Mult</a:t>
                      </a:r>
                    </a:p>
                  </a:txBody>
                  <a:tcPr marL="54864" marR="36576" marT="0" marB="0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Tools (by scope)</a:t>
                      </a:r>
                    </a:p>
                  </a:txBody>
                  <a:tcPr marL="54864" marR="36576" marT="0" marB="0" anchor="ctr">
                    <a:solidFill>
                      <a:srgbClr val="11184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×3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write · delete · execute_shell · chmod · edit · move · copy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×2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list_directory · directory_tree · search_files · read_multiple_files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×1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read_text_file · get_file_info · create_directory · list_allowed_directories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94192" y="13716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4F"/>
                </a:solidFill>
                <a:latin typeface="Arial"/>
              </a:rPr>
              <a:t>Defaults when missing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94192" y="1719072"/>
          <a:ext cx="301752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868680"/>
              </a:tblGrid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 marL="54864" marR="36576" marT="0" marB="0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Default</a:t>
                      </a:r>
                    </a:p>
                  </a:txBody>
                  <a:tcPr marL="54864" marR="36576" marT="0" marB="0" anchor="ctr">
                    <a:solidFill>
                      <a:srgbClr val="1118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Sens (unknown ext)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Sens (no ext / dir)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Blast (unknown tool)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Tool Impact (unknown)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×1</a:t>
                      </a:r>
                    </a:p>
                  </a:txBody>
                  <a:tcPr marL="54864" marR="36576" marT="0" marB="0" anchor="ctr">
                    <a:solidFill>
                      <a:srgbClr val="F5F3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Expo (no dir match)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30"/>
                          </a:solidFill>
                          <a:latin typeface="Arial"/>
                        </a:rPr>
                        <a:t>0.6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" y="4937760"/>
            <a:ext cx="10671048" cy="960120"/>
          </a:xfrm>
          <a:prstGeom prst="roundRect">
            <a:avLst>
              <a:gd name="adj" fmla="val 5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937760"/>
            <a:ext cx="1021384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26A52"/>
                </a:solidFill>
                <a:latin typeface="Courier New"/>
              </a:rPr>
              <a:t>MISUSE</a:t>
            </a:r>
            <a:r>
              <a:rPr sz="1500" b="0" i="0">
                <a:solidFill>
                  <a:srgbClr val="E8E4EC"/>
                </a:solidFill>
                <a:latin typeface="Courier New"/>
              </a:rPr>
              <a:t>  =  max( </a:t>
            </a:r>
            <a:r>
              <a:rPr sz="1500" b="1" i="0">
                <a:solidFill>
                  <a:srgbClr val="7FD1B9"/>
                </a:solidFill>
                <a:latin typeface="Courier New"/>
              </a:rPr>
              <a:t>Asset Impact</a:t>
            </a:r>
            <a:r>
              <a:rPr sz="1500" b="0" i="0">
                <a:solidFill>
                  <a:srgbClr val="E8E4EC"/>
                </a:solidFill>
                <a:latin typeface="Courier New"/>
              </a:rPr>
              <a:t> × </a:t>
            </a:r>
            <a:r>
              <a:rPr sz="1500" b="1" i="0">
                <a:solidFill>
                  <a:srgbClr val="9DB4FF"/>
                </a:solidFill>
                <a:latin typeface="Courier New"/>
              </a:rPr>
              <a:t>Likelihood</a:t>
            </a:r>
            <a:r>
              <a:rPr sz="1500" b="0" i="0">
                <a:solidFill>
                  <a:srgbClr val="E8E4EC"/>
                </a:solidFill>
                <a:latin typeface="Courier New"/>
              </a:rPr>
              <a:t> × </a:t>
            </a:r>
            <a:r>
              <a:rPr sz="1500" b="1" i="0">
                <a:solidFill>
                  <a:srgbClr val="F2B36A"/>
                </a:solidFill>
                <a:latin typeface="Courier New"/>
              </a:rPr>
              <a:t>Tool Impact</a:t>
            </a:r>
            <a:r>
              <a:rPr sz="1500" b="0" i="0">
                <a:solidFill>
                  <a:srgbClr val="E8E4EC"/>
                </a:solidFill>
                <a:latin typeface="Courier New"/>
              </a:rPr>
              <a:t> , 1.0 )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939F"/>
                </a:solidFill>
                <a:latin typeface="Courier New"/>
              </a:rPr>
              <a:t>Asset Impact = min(Sens × Blast, 25)   ·   Likelihood = BaseDev(0.9) × Anomaly(0.3) × Expo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Complete matrix — sqlite : cbg_sqlite  (35 cells)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024128"/>
            <a:ext cx="10671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6570"/>
                </a:solidFill>
                <a:latin typeface="Arial"/>
              </a:rPr>
              <a:t>Every (tool, asset) cell shows its raw score, coloured by band. Derived live by the LLM; no checked-in table read.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" y="1417320"/>
          <a:ext cx="10241280" cy="3511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572768"/>
                <a:gridCol w="1572768"/>
                <a:gridCol w="1572768"/>
                <a:gridCol w="1572768"/>
                <a:gridCol w="1572768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asset \ tool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list_tables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describe_table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read_query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write_query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insert_row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530"/>
                          </a:solidFill>
                          <a:latin typeface="Courier New"/>
                        </a:rPr>
                        <a:t>employees  ·  s4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530"/>
                          </a:solidFill>
                          <a:latin typeface="Courier New"/>
                        </a:rPr>
                        <a:t>projects  ·  s4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530"/>
                          </a:solidFill>
                          <a:latin typeface="Courier New"/>
                        </a:rPr>
                        <a:t>datasets  ·  s5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15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10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45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20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530"/>
                          </a:solidFill>
                          <a:latin typeface="Courier New"/>
                        </a:rPr>
                        <a:t>experiments  ·  s3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9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9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9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27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530"/>
                          </a:solidFill>
                          <a:latin typeface="Courier New"/>
                        </a:rPr>
                        <a:t>publications  ·  s2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18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530"/>
                          </a:solidFill>
                          <a:latin typeface="Courier New"/>
                        </a:rPr>
                        <a:t>grants  ·  s5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15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10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45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20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530"/>
                          </a:solidFill>
                          <a:latin typeface="Courier New"/>
                        </a:rPr>
                        <a:t>api_keys  ·  s5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10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10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60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30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" y="5074920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505663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76272" y="5074920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E0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505663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medium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1" y="5074920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E87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04487" y="505663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5074920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7" y="505663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468112"/>
            <a:ext cx="106710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1184F"/>
                </a:solidFill>
                <a:latin typeface="Arial"/>
              </a:rPr>
              <a:t>Reads the pattern: </a:t>
            </a:r>
            <a:r>
              <a:rPr sz="1250" b="0" i="0">
                <a:solidFill>
                  <a:srgbClr val="4E444E"/>
                </a:solidFill>
                <a:latin typeface="Arial"/>
              </a:rPr>
              <a:t>write_query is impact-3, so it lands high/critical on every table; the LLM pushes it to critical (deep red) on the crown jewels — api_keys, datasets, grants (sensitivity 5). A plain read_query stays medium, but rises to high (orange) on those same secret-bearing tables because one query can exfiltrate the whole 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Complete matrix — calendar : cbg  (66 cells)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024128"/>
            <a:ext cx="10671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6570"/>
                </a:solidFill>
                <a:latin typeface="Arial"/>
              </a:rPr>
              <a:t>11 tools × 6 calendars. The destructive column delete_all_events is critical across the board; a bulk send_email_invite is critical too.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" y="1463040"/>
          <a:ext cx="10671048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asset \ tool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list_calendars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list_events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list_week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get_event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find_free_slot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access_contacts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create_event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update_event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send_email_invite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delete_event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delete_all_events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530"/>
                          </a:solidFill>
                          <a:latin typeface="Courier New"/>
                        </a:rPr>
                        <a:t>personal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530"/>
                          </a:solidFill>
                          <a:latin typeface="Courier New"/>
                        </a:rPr>
                        <a:t>team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530"/>
                          </a:solidFill>
                          <a:latin typeface="Courier New"/>
                        </a:rPr>
                        <a:t>executive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530"/>
                          </a:solidFill>
                          <a:latin typeface="Courier New"/>
                        </a:rPr>
                        <a:t>recruiting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530"/>
                          </a:solidFill>
                          <a:latin typeface="Courier New"/>
                        </a:rPr>
                        <a:t>contacts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530"/>
                          </a:solidFill>
                          <a:latin typeface="Courier New"/>
                        </a:rPr>
                        <a:t>holidays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6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6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6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" y="5175504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515721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76272" y="5175504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E0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515721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medium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1" y="5175504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E87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04487" y="515721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5175504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7" y="515721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532120"/>
            <a:ext cx="10671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E1251B"/>
                </a:solidFill>
                <a:latin typeface="Arial"/>
              </a:rPr>
              <a:t>Note the flat-sensitivity limitation: </a:t>
            </a:r>
            <a:r>
              <a:rPr sz="1200" b="0" i="0">
                <a:solidFill>
                  <a:srgbClr val="4E444E"/>
                </a:solidFill>
                <a:latin typeface="Arial"/>
              </a:rPr>
              <a:t>every calendar is rated sensitivity 4, so the scan can't tell a benign calendar from a sensitive one by asset alone — even a read of holidays vs executive barely differs. Reach (blast radius) and tool impact do the real separating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Six LLM stages turn a tool list into a banded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987552"/>
            <a:ext cx="106710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E444E"/>
                </a:solidFill>
                <a:latin typeface="Arial"/>
              </a:rPr>
              <a:t>Every primitive comes from a prompt to the local model (Qwen2.5 / Ollama). The prompts are domain-agnostic: stage 0 infers the domain once, and every later stage is anchored to that profile — no per-kind branches.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600200"/>
            <a:ext cx="340156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801368"/>
            <a:ext cx="548640" cy="548640"/>
          </a:xfrm>
          <a:prstGeom prst="ellipse">
            <a:avLst/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01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" y="1819656"/>
            <a:ext cx="23500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Domain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68880"/>
            <a:ext cx="294436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4E444E"/>
                </a:solidFill>
                <a:latin typeface="Arial"/>
              </a:rPr>
              <a:t>Reads the whole registry once; infers mcp_kind, what an asset means, dangerous classes, irreversible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3692" y="1600200"/>
            <a:ext cx="340156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4859" y="1801368"/>
            <a:ext cx="548640" cy="548640"/>
          </a:xfrm>
          <a:prstGeom prst="ellipse">
            <a:avLst/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859" y="1801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9804" y="1819656"/>
            <a:ext cx="23500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Tool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292" y="2468880"/>
            <a:ext cx="294436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4E444E"/>
                </a:solidFill>
                <a:latin typeface="Arial"/>
              </a:rPr>
              <a:t>Damage ceiling of the tool itself (1/2/3) — worst outcome of any call, independent of caller.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600200"/>
            <a:ext cx="340156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0" y="1801368"/>
            <a:ext cx="548640" cy="548640"/>
          </a:xfrm>
          <a:prstGeom prst="ellipse">
            <a:avLst/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01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1819656"/>
            <a:ext cx="23500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Asset sensitivity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468880"/>
            <a:ext cx="294436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4E444E"/>
                </a:solidFill>
                <a:latin typeface="Arial"/>
              </a:rPr>
              <a:t>Criticality if the asset class is exposed, corrupted or destroyed (1–5).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3611880"/>
            <a:ext cx="340156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3813048"/>
            <a:ext cx="548640" cy="548640"/>
          </a:xfrm>
          <a:prstGeom prst="ellipse">
            <a:avLst/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81304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5064" y="3831336"/>
            <a:ext cx="23500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Blast radius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480560"/>
            <a:ext cx="294436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4E444E"/>
                </a:solidFill>
                <a:latin typeface="Arial"/>
              </a:rPr>
              <a:t>How far a (tool, asset) pair reaches (0–4) — with the breadth rule for bulk reads.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93692" y="3611880"/>
            <a:ext cx="340156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94859" y="3813048"/>
            <a:ext cx="548640" cy="548640"/>
          </a:xfrm>
          <a:prstGeom prst="ellipse">
            <a:avLst/>
          </a:prstGeom>
          <a:solidFill>
            <a:srgbClr val="304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4859" y="381304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9804" y="3831336"/>
            <a:ext cx="23500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Judge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2292" y="4480560"/>
            <a:ext cx="294436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4E444E"/>
                </a:solidFill>
                <a:latin typeface="Arial"/>
              </a:rPr>
              <a:t>An independent reviewer re-decides each value, then compares — catches under/over-scoring.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1" y="3611880"/>
            <a:ext cx="340156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0" y="3813048"/>
            <a:ext cx="548640" cy="548640"/>
          </a:xfrm>
          <a:prstGeom prst="ellipse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81304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4" y="3831336"/>
            <a:ext cx="23500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Risk band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4480560"/>
            <a:ext cx="294436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4E444E"/>
                </a:solidFill>
                <a:latin typeface="Arial"/>
              </a:rPr>
              <a:t>The LLM assigns low/med/high/critical per cell with security judgement, not a fixed threshold.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Prompts — Stage 0 infers the domain, Stage 1 rates the tool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525780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55448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1184F"/>
                </a:solidFill>
                <a:latin typeface="Arial"/>
              </a:rPr>
              <a:t>Stage 0 — Domain inference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90872" y="1572768"/>
            <a:ext cx="1097280" cy="347472"/>
          </a:xfrm>
          <a:prstGeom prst="roundRect">
            <a:avLst>
              <a:gd name="adj" fmla="val 6000"/>
            </a:avLst>
          </a:prstGeom>
          <a:solidFill>
            <a:srgbClr val="EF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90872" y="1572768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046AD"/>
                </a:solidFill>
                <a:latin typeface="Courier New"/>
              </a:rPr>
              <a:t>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2029967"/>
            <a:ext cx="4800600" cy="3566159"/>
          </a:xfrm>
          <a:prstGeom prst="roundRect">
            <a:avLst>
              <a:gd name="adj" fmla="val 4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139696"/>
            <a:ext cx="4434840" cy="3346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“You are a security analyst bootstrapping a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misuse-scoring system for an MCP server.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7FD1B9"/>
                </a:solidFill>
                <a:latin typeface="Courier New"/>
              </a:rPr>
              <a:t> From the ENTIRE tool registry + a sample of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7FD1B9"/>
                </a:solidFill>
                <a:latin typeface="Courier New"/>
              </a:rPr>
              <a:t> assets, infer with no outside hints:”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• mcp_kind          filesystem? SQL? pay?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• asset_meaning     what an asset IS here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• dangerous_classes secrets / PII / money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• irreversible_actions  deletes, transfers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• worked_example    one (tool,asset) reason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needs_human_review=true if too sparse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25780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1184F"/>
                </a:solidFill>
                <a:latin typeface="Arial"/>
              </a:rPr>
              <a:t>Stage 1 — Tool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1572768"/>
            <a:ext cx="1097280" cy="347472"/>
          </a:xfrm>
          <a:prstGeom prst="roundRect">
            <a:avLst>
              <a:gd name="adj" fmla="val 6000"/>
            </a:avLst>
          </a:prstGeom>
          <a:solidFill>
            <a:srgbClr val="EF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04120" y="1572768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046AD"/>
                </a:solidFill>
                <a:latin typeface="Courier New"/>
              </a:rPr>
              <a:t>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29967"/>
            <a:ext cx="4800600" cy="3566159"/>
          </a:xfrm>
          <a:prstGeom prst="roundRect">
            <a:avLst>
              <a:gd name="adj" fmla="val 4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39696"/>
            <a:ext cx="4434840" cy="3346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“Assign TOOL IMPACT (1/2/3) — the damage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ceiling of the tool itself, the worst outcome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of ANY call, independent of caller/params.”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7FD1B9"/>
                </a:solidFill>
                <a:latin typeface="Courier New"/>
              </a:rPr>
              <a:t>  1 = read-only; can leak, not change state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 2 = state-changing, generally recoverable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F9C8A"/>
                </a:solidFill>
                <a:latin typeface="Courier New"/>
              </a:rPr>
              <a:t>  3 = destructive: clobber/wipe, grant access,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F9C8A"/>
                </a:solidFill>
                <a:latin typeface="Courier New"/>
              </a:rPr>
              <a:t>      execute code, irreversible real effect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Assign the HIGHEST tier any capability reaches;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arbitrary code/exec is always 3; if ambiguous,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pick higher tier + lower confidence.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Prompts — the two axes: sensitivity, and reach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512064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554480"/>
            <a:ext cx="3657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1184F"/>
                </a:solidFill>
                <a:latin typeface="Arial"/>
              </a:rPr>
              <a:t>Stage 2 — Asset sensitivity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3712" y="1572768"/>
            <a:ext cx="1097280" cy="347472"/>
          </a:xfrm>
          <a:prstGeom prst="roundRect">
            <a:avLst>
              <a:gd name="adj" fmla="val 6000"/>
            </a:avLst>
          </a:prstGeom>
          <a:solidFill>
            <a:srgbClr val="EF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3712" y="1572768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046AD"/>
                </a:solidFill>
                <a:latin typeface="Courier New"/>
              </a:rPr>
              <a:t>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2029967"/>
            <a:ext cx="4663440" cy="3566159"/>
          </a:xfrm>
          <a:prstGeom prst="roundRect">
            <a:avLst>
              <a:gd name="adj" fmla="val 4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139696"/>
            <a:ext cx="4297679" cy="3346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“Assign ASSET SENSITIVITY (1–5) — criticality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if this class is exposed, corrupted, destroyed.”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F9C8A"/>
                </a:solidFill>
                <a:latin typeface="Courier New"/>
              </a:rPr>
              <a:t>  5 = catastrophic / legally-reportable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 4 = prod data, source, employee data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 3 = medium internal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7FD1B9"/>
                </a:solidFill>
                <a:latin typeface="Courier New"/>
              </a:rPr>
              <a:t>  2 = low     1 = public / ephemeral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Escalate classes matching the inferred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dangerous_classes. If the org supplied a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priority, treat it as the primary anchor.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539496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1184F"/>
                </a:solidFill>
                <a:latin typeface="Arial"/>
              </a:rPr>
              <a:t>Stage 3 — Blast radius  (breadth rule)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1572768"/>
            <a:ext cx="1097280" cy="347472"/>
          </a:xfrm>
          <a:prstGeom prst="roundRect">
            <a:avLst>
              <a:gd name="adj" fmla="val 6000"/>
            </a:avLst>
          </a:prstGeom>
          <a:solidFill>
            <a:srgbClr val="EF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04120" y="1572768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046AD"/>
                </a:solidFill>
                <a:latin typeface="Courier New"/>
              </a:rPr>
              <a:t>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29967"/>
            <a:ext cx="4937760" cy="3566159"/>
          </a:xfrm>
          <a:prstGeom prst="roundRect">
            <a:avLst>
              <a:gd name="adj" fmla="val 4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39696"/>
            <a:ext cx="4572000" cy="3346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7FD1B9"/>
                </a:solidFill>
                <a:latin typeface="Courier New"/>
              </a:rPr>
              <a:t> 0 = cannot touch    1 = single-item read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2 = scoped recoverable change of one item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3 = broad change / overwrite, OR a read that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    spans MANY items at once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F9C8A"/>
                </a:solidFill>
                <a:latin typeface="Courier New"/>
              </a:rPr>
              <a:t> 4 = clobber / destroy / fan-out across many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DB4FF"/>
                </a:solidFill>
                <a:latin typeface="Courier New"/>
              </a:rPr>
              <a:t> BREADTH RULE (do not under-score reads):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a tool that ENUMERATES or reads ACROSS a whole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scope — list a dir, walk a tree, glob, SELECT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a table — aggregates exposure over every item.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When the asset is a container and the tool bulk-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reads it, blast radius is broad (≥3).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Prompts — an independent judge, then the LLM band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52578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55448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1184F"/>
                </a:solidFill>
                <a:latin typeface="Arial"/>
              </a:rPr>
              <a:t>Judge — independent re-decision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90872" y="1572768"/>
            <a:ext cx="1097280" cy="347472"/>
          </a:xfrm>
          <a:prstGeom prst="roundRect">
            <a:avLst>
              <a:gd name="adj" fmla="val 6000"/>
            </a:avLst>
          </a:prstGeom>
          <a:solidFill>
            <a:srgbClr val="EF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90872" y="1572768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046AD"/>
                </a:solidFill>
                <a:latin typeface="Courier New"/>
              </a:rPr>
              <a:t>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2029967"/>
            <a:ext cx="4800600" cy="3246120"/>
          </a:xfrm>
          <a:prstGeom prst="roundRect">
            <a:avLst>
              <a:gd name="adj" fmla="val 4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139696"/>
            <a:ext cx="4434840" cy="3026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“You are an independent security reviewer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verifying another model's decision. Decide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INDEPENDENTLY what the value should be, THEN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compare.”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Be skeptical. The first model may have under-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scored a dangerous capability or over-scored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a benign one. If you disagree, give your own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value.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7FD1B9"/>
                </a:solidFill>
                <a:latin typeface="Courier New"/>
              </a:rPr>
              <a:t> → {agree, judged_value, reasoning, confidence}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2578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1184F"/>
                </a:solidFill>
                <a:latin typeface="Arial"/>
              </a:rPr>
              <a:t>Stage 5 — Risk band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1572768"/>
            <a:ext cx="1097280" cy="347472"/>
          </a:xfrm>
          <a:prstGeom prst="roundRect">
            <a:avLst>
              <a:gd name="adj" fmla="val 6000"/>
            </a:avLst>
          </a:prstGeom>
          <a:solidFill>
            <a:srgbClr val="EF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04120" y="1572768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046AD"/>
                </a:solidFill>
                <a:latin typeface="Courier New"/>
              </a:rPr>
              <a:t>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29967"/>
            <a:ext cx="4800600" cy="3246120"/>
          </a:xfrm>
          <a:prstGeom prst="roundRect">
            <a:avLst>
              <a:gd name="adj" fmla="val 4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39696"/>
            <a:ext cx="4434840" cy="3026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“Assign a RISK BAND per (asset, tool) pair —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low | medium | high | critical — with security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judgement, NOT a fixed numeric threshold.”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F9C8A"/>
                </a:solidFill>
                <a:latin typeface="Courier New"/>
              </a:rPr>
              <a:t> critical: irreversible destruction / mass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F9C8A"/>
                </a:solidFill>
                <a:latin typeface="Courier New"/>
              </a:rPr>
              <a:t>  exfiltration of a crown jewel. Rare.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high: bulk read / enumeration over a SENSITIVE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 scope — one call leaks the whole scope.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DB4FF"/>
                </a:solidFill>
                <a:latin typeface="Courier New"/>
              </a:rPr>
              <a:t> “given impact, blast &amp; score as evidence —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DB4FF"/>
                </a:solidFill>
                <a:latin typeface="Courier New"/>
              </a:rPr>
              <a:t>  the band is your judgement, not a formula.”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577840"/>
            <a:ext cx="10671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B6570"/>
                </a:solidFill>
                <a:latin typeface="Arial"/>
              </a:rPr>
              <a:t>This LLM band is the intended output — it can escalate (delete_all_events high→critical) or de-escalate a modest write. ~52% of stored bands are this override.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Input-parameter scoring — the value can swing the band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987552"/>
            <a:ext cx="106710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E444E"/>
                </a:solidFill>
                <a:latin typeface="Arial"/>
              </a:rPr>
              <a:t>Beyond which tool touches which asset, the value matters: inviting 3 people vs 200, a bounded SELECT … LIMIT 100 vs an unbounded one, a money amount. A per-tool rubric escalates — never lowers — the cell band.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" y="1600200"/>
          <a:ext cx="10671048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880360"/>
                <a:gridCol w="2057400"/>
                <a:gridCol w="1965960"/>
                <a:gridCol w="1664208"/>
              </a:tblGrid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server</a:t>
                      </a:r>
                    </a:p>
                  </a:txBody>
                  <a:tcPr anchor="ctr" marL="91440" marT="18288" marB="18288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anchor="ctr" marL="91440" marT="18288" marB="18288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anchor="ctr" marL="91440" marT="18288" marB="18288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swing</a:t>
                      </a:r>
                    </a:p>
                  </a:txBody>
                  <a:tcPr anchor="ctr" marL="91440" marT="18288" marB="18288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top trigger</a:t>
                      </a:r>
                    </a:p>
                  </a:txBody>
                  <a:tcPr anchor="ctr" marL="91440" marT="18288" marB="18288">
                    <a:solidFill>
                      <a:srgbClr val="1118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calendar_cbg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send_email_invite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recipients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1251B"/>
                          </a:solidFill>
                          <a:latin typeface="Arial"/>
                        </a:rPr>
                        <a:t>low → critical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items ≥ 50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calendar_cbg</a:t>
                      </a:r>
                    </a:p>
                  </a:txBody>
                  <a:tcPr anchor="ctr" marL="91440" marT="18288" marB="18288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create_event</a:t>
                      </a:r>
                    </a:p>
                  </a:txBody>
                  <a:tcPr anchor="ctr" marL="91440" marT="18288" marB="18288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attendees</a:t>
                      </a:r>
                    </a:p>
                  </a:txBody>
                  <a:tcPr anchor="ctr" marL="91440" marT="18288" marB="18288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1251B"/>
                          </a:solidFill>
                          <a:latin typeface="Arial"/>
                        </a:rPr>
                        <a:t>low → critical</a:t>
                      </a:r>
                    </a:p>
                  </a:txBody>
                  <a:tcPr anchor="ctr" marL="91440" marT="18288" marB="18288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items ≥ 20</a:t>
                      </a:r>
                    </a:p>
                  </a:txBody>
                  <a:tcPr anchor="ctr" marL="91440" marT="18288" marB="18288">
                    <a:solidFill>
                      <a:srgbClr val="F5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fs_*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read_multiple_files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paths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1251B"/>
                          </a:solidFill>
                          <a:latin typeface="Arial"/>
                        </a:rPr>
                        <a:t>low → critical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items ≥ 20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sqlite_*</a:t>
                      </a:r>
                    </a:p>
                  </a:txBody>
                  <a:tcPr anchor="ctr" marL="91440" marT="18288" marB="18288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read_query / write_query</a:t>
                      </a:r>
                    </a:p>
                  </a:txBody>
                  <a:tcPr anchor="ctr" marL="91440" marT="18288" marB="18288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sql</a:t>
                      </a:r>
                    </a:p>
                  </a:txBody>
                  <a:tcPr anchor="ctr" marL="91440" marT="18288" marB="18288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1251B"/>
                          </a:solidFill>
                          <a:latin typeface="Arial"/>
                        </a:rPr>
                        <a:t>low → critical</a:t>
                      </a:r>
                    </a:p>
                  </a:txBody>
                  <a:tcPr anchor="ctr" marL="91440" marT="18288" marB="18288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unbounded (no LIMIT)</a:t>
                      </a:r>
                    </a:p>
                  </a:txBody>
                  <a:tcPr anchor="ctr" marL="91440" marT="18288" marB="18288">
                    <a:solidFill>
                      <a:srgbClr val="F5F3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" y="4526280"/>
            <a:ext cx="3401568" cy="1234440"/>
          </a:xfrm>
          <a:prstGeom prst="roundRect">
            <a:avLst>
              <a:gd name="adj" fmla="val 6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4690872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184F"/>
                </a:solidFill>
                <a:latin typeface="Arial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9112" y="4690872"/>
            <a:ext cx="1965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B2530"/>
                </a:solidFill>
                <a:latin typeface="Arial"/>
              </a:rPr>
              <a:t>magnitude parameters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B6570"/>
                </a:solidFill>
                <a:latin typeface="Arial"/>
              </a:rPr>
              <a:t>across 9 servers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4526280"/>
            <a:ext cx="3401568" cy="1234440"/>
          </a:xfrm>
          <a:prstGeom prst="roundRect">
            <a:avLst>
              <a:gd name="adj" fmla="val 6000"/>
            </a:avLst>
          </a:prstGeom>
          <a:solidFill>
            <a:srgbClr val="FC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4690872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1251B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8423" y="4690872"/>
            <a:ext cx="1965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B2530"/>
                </a:solidFill>
                <a:latin typeface="Arial"/>
              </a:rPr>
              <a:t>found on github last scan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B6570"/>
                </a:solidFill>
                <a:latin typeface="Arial"/>
              </a:rPr>
              <a:t>gap the improved prompt targets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4526280"/>
            <a:ext cx="3401568" cy="1234440"/>
          </a:xfrm>
          <a:prstGeom prst="roundRect">
            <a:avLst>
              <a:gd name="adj" fmla="val 6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4690872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184F"/>
                </a:solidFill>
                <a:latin typeface="Aria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7736" y="4690872"/>
            <a:ext cx="1965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B2530"/>
                </a:solidFill>
                <a:latin typeface="Arial"/>
              </a:rPr>
              <a:t>a money amount on a payments tool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B6570"/>
                </a:solidFill>
                <a:latin typeface="Arial"/>
              </a:rPr>
              <a:t>would surface here identically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Call scoring — resolve an observed call, or admit you can't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987552"/>
            <a:ext cx="1067104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E444E"/>
                </a:solidFill>
                <a:latin typeface="Arial"/>
              </a:rPr>
              <a:t>call_scoring/ resolves a captured call's arguments to a scanned asset (filesystem by path-suffix, SQL by table, slack by channel, calendar by calendar, github by repo) and returns the cell's band — escalated by the parameter rubric. Crucially, it never fabricates.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783080"/>
            <a:ext cx="34015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7552" y="2039112"/>
            <a:ext cx="2944368" cy="566928"/>
          </a:xfrm>
          <a:prstGeom prst="roundRect">
            <a:avLst>
              <a:gd name="adj" fmla="val 6000"/>
            </a:avLst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039112"/>
            <a:ext cx="29443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ourier New"/>
              </a:rPr>
              <a:t>invalid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78892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B2530"/>
                </a:solidFill>
                <a:latin typeface="Arial"/>
              </a:rPr>
              <a:t>Call to a tool the server never advertised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611880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1251B"/>
                </a:solidFill>
                <a:latin typeface="Courier New"/>
              </a:rPr>
              <a:t>→ invalid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3692" y="1783080"/>
            <a:ext cx="34015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22292" y="2039112"/>
            <a:ext cx="2944368" cy="566928"/>
          </a:xfrm>
          <a:prstGeom prst="roundRect">
            <a:avLst>
              <a:gd name="adj" fmla="val 6000"/>
            </a:avLst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2292" y="2039112"/>
            <a:ext cx="29443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ourier New"/>
              </a:rPr>
              <a:t>unresolved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8012" y="278892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B2530"/>
                </a:solidFill>
                <a:latin typeface="Arial"/>
              </a:rPr>
              <a:t>Call to an asset the scan never enumerated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8012" y="3611880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26A52"/>
                </a:solidFill>
                <a:latin typeface="Courier New"/>
              </a:rPr>
              <a:t>→ unresolved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83080"/>
            <a:ext cx="34015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57031" y="2039112"/>
            <a:ext cx="2944368" cy="566928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2039112"/>
            <a:ext cx="29443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ourier New"/>
              </a:rPr>
              <a:t>banded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8892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B2530"/>
                </a:solidFill>
                <a:latin typeface="Arial"/>
              </a:rPr>
              <a:t>Only a resolved (tool, asset) cell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611880"/>
            <a:ext cx="2852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8B57"/>
                </a:solidFill>
                <a:latin typeface="Courier New"/>
              </a:rPr>
              <a:t>→ a real band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4343400"/>
            <a:ext cx="10671048" cy="658368"/>
          </a:xfrm>
          <a:prstGeom prst="roundRect">
            <a:avLst>
              <a:gd name="adj" fmla="val 6000"/>
            </a:avLst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343400"/>
            <a:ext cx="1021384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FFFFFF"/>
                </a:solidFill>
                <a:latin typeface="Arial"/>
              </a:rPr>
              <a:t>This is what keeps the scorer general: it reports what the scan says, or admits it cannot — but never invents a number.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Coverage — eleven servers · five kinds · 1,850+ cells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58952" y="1417320"/>
          <a:ext cx="77724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732520" y="1463040"/>
            <a:ext cx="2743200" cy="896112"/>
          </a:xfrm>
          <a:prstGeom prst="roundRect">
            <a:avLst>
              <a:gd name="adj" fmla="val 6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33688" y="1554480"/>
            <a:ext cx="1417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1184F"/>
                </a:solidFill>
                <a:latin typeface="Arial"/>
              </a:rPr>
              <a:t>1,850+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1554480"/>
            <a:ext cx="11155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cells scored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496312"/>
            <a:ext cx="2743200" cy="896112"/>
          </a:xfrm>
          <a:prstGeom prst="roundRect">
            <a:avLst>
              <a:gd name="adj" fmla="val 6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587752"/>
            <a:ext cx="1417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E1251B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2587752"/>
            <a:ext cx="11155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MCP servers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3529584"/>
            <a:ext cx="2743200" cy="896112"/>
          </a:xfrm>
          <a:prstGeom prst="roundRect">
            <a:avLst>
              <a:gd name="adj" fmla="val 6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3688" y="3621024"/>
            <a:ext cx="1417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26A52"/>
                </a:solidFill>
                <a:latin typeface="Arial"/>
              </a:rP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3621024"/>
            <a:ext cx="11155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tools in the real GitHub scan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562856"/>
            <a:ext cx="2743200" cy="896112"/>
          </a:xfrm>
          <a:prstGeom prst="roundRect">
            <a:avLst>
              <a:gd name="adj" fmla="val 6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3688" y="4654296"/>
            <a:ext cx="1417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9E1B1B"/>
                </a:solidFill>
                <a:latin typeface="Arial"/>
              </a:rPr>
              <a:t>~1–2%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4654296"/>
            <a:ext cx="11155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land in 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6692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6570"/>
                </a:solidFill>
                <a:latin typeface="Arial"/>
              </a:rPr>
              <a:t>The real 26-tool GitHub catalog (github_real) adds 156 cells on its own — filesystem servers still dominate the total.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Validation — four checks; the scanner never sees the answer key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" y="1600200"/>
            <a:ext cx="457200" cy="457200"/>
          </a:xfrm>
          <a:prstGeom prst="ellipse">
            <a:avLst/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600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1912" y="1627632"/>
            <a:ext cx="4251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vs LLM-reviewed ground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2176272"/>
            <a:ext cx="2286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1184F"/>
                </a:solidFill>
                <a:latin typeface="Arial"/>
              </a:rPr>
              <a:t>97%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4992" y="2176272"/>
            <a:ext cx="2423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B2530"/>
                </a:solidFill>
                <a:latin typeface="Arial"/>
              </a:rPr>
              <a:t>tool-impact agreement (59/61)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852928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6570"/>
                </a:solidFill>
                <a:latin typeface="Arial"/>
              </a:rPr>
              <a:t>asset-sensitivity 71% · full-band cell thin (one banded server)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627632"/>
            <a:ext cx="4251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vs an independent oracle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176272"/>
            <a:ext cx="2286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26A52"/>
                </a:solidFill>
                <a:latin typeface="Arial"/>
              </a:rPr>
              <a:t>35% / 69%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176272"/>
            <a:ext cx="2423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B2530"/>
                </a:solidFill>
                <a:latin typeface="Arial"/>
              </a:rPr>
              <a:t>exact / within-one vs consensus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852928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6570"/>
                </a:solidFill>
                <a:latin typeface="Arial"/>
              </a:rPr>
              <a:t>inter-rater ceiling is 50% / 78% — within the human spread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6576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3886200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886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13632"/>
            <a:ext cx="4251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as a graded severity scorer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462272"/>
            <a:ext cx="2286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8B57"/>
                </a:solidFill>
                <a:latin typeface="Arial"/>
              </a:rPr>
              <a:t>0.64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4462272"/>
            <a:ext cx="2423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B2530"/>
                </a:solidFill>
                <a:latin typeface="Arial"/>
              </a:rPr>
              <a:t>Spearman on unseen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" y="5138928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6570"/>
                </a:solidFill>
                <a:latin typeface="Arial"/>
              </a:rPr>
              <a:t>beats CVSS &amp; DREAD, ties NIST/OWASP; &gt; AgentTrust's 0.43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6576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3886200"/>
            <a:ext cx="457200" cy="457200"/>
          </a:xfrm>
          <a:prstGeom prst="ellipse">
            <a:avLst/>
          </a:prstGeom>
          <a:solidFill>
            <a:srgbClr val="E87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886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913632"/>
            <a:ext cx="4251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formula robustness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462272"/>
            <a:ext cx="2286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E8720C"/>
                </a:solidFill>
                <a:latin typeface="Arial"/>
              </a:rPr>
              <a:t>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462272"/>
            <a:ext cx="2423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B2530"/>
                </a:solidFill>
                <a:latin typeface="Arial"/>
              </a:rPr>
              <a:t>of cells stable under ±1 (weak spot)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5138928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6570"/>
                </a:solidFill>
                <a:latin typeface="Arial"/>
              </a:rPr>
              <a:t>85% flip band under a one-step primitive change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Arial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051560"/>
            <a:ext cx="10671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26A52"/>
                </a:solidFill>
                <a:latin typeface="Arial"/>
              </a:rPr>
              <a:t>Faithful, within the human spread — and honest about two calibration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874519"/>
            <a:ext cx="5257800" cy="3749039"/>
          </a:xfrm>
          <a:prstGeom prst="roundRect">
            <a:avLst>
              <a:gd name="adj" fmla="val 5000"/>
            </a:avLst>
          </a:prstGeom>
          <a:solidFill>
            <a:srgbClr val="23202C"/>
          </a:solidFill>
          <a:ln w="12700">
            <a:solidFill>
              <a:srgbClr val="3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057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8B57"/>
                </a:solidFill>
                <a:latin typeface="Arial"/>
              </a:rPr>
              <a:t>What holds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2542032"/>
            <a:ext cx="47548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400" b="0" i="0">
                <a:solidFill>
                  <a:srgbClr val="DAD5E0"/>
                </a:solidFill>
                <a:latin typeface="Arial"/>
              </a:rPr>
              <a:t>Reproduces reviewed tool-impact judgement at 97%.</a:t>
            </a:r>
          </a:p>
          <a:p>
            <a:pPr indent="-201168" marL="201168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400" b="0" i="0">
                <a:solidFill>
                  <a:srgbClr val="DAD5E0"/>
                </a:solidFill>
                <a:latin typeface="Arial"/>
              </a:rPr>
              <a:t>Sits within the human inter-rater spread on full banding (35% / 69% vs a 50% / 78% ceiling).</a:t>
            </a:r>
          </a:p>
          <a:p>
            <a:pPr indent="-201168" marL="201168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400" b="0" i="0">
                <a:solidFill>
                  <a:srgbClr val="DAD5E0"/>
                </a:solidFill>
                <a:latin typeface="Arial"/>
              </a:rPr>
              <a:t>Beats classical risk frameworks as a severity scorer; generalizes to unseen servers.</a:t>
            </a:r>
          </a:p>
          <a:p>
            <a:pPr indent="-201168" marL="201168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400" b="0" i="0">
                <a:solidFill>
                  <a:srgbClr val="DAD5E0"/>
                </a:solidFill>
                <a:latin typeface="Arial"/>
              </a:rPr>
              <a:t>The scorer is faithful and not overfit — it never fabricates a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74519"/>
            <a:ext cx="5257800" cy="3749039"/>
          </a:xfrm>
          <a:prstGeom prst="roundRect">
            <a:avLst>
              <a:gd name="adj" fmla="val 5000"/>
            </a:avLst>
          </a:prstGeom>
          <a:solidFill>
            <a:srgbClr val="2E2028"/>
          </a:solidFill>
          <a:ln w="12700">
            <a:solidFill>
              <a:srgbClr val="4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2057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6A52"/>
                </a:solidFill>
                <a:latin typeface="Arial"/>
              </a:rPr>
              <a:t>What to be honest 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542032"/>
            <a:ext cx="47548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EAD9DE"/>
                </a:solidFill>
                <a:latin typeface="Arial"/>
              </a:rPr>
              <a:t>Band labels are ~52% LLM judgement — not reproducible across rescans.</a:t>
            </a:r>
          </a:p>
          <a:p>
            <a:pPr indent="-201168" marL="201168"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EAD9DE"/>
                </a:solidFill>
                <a:latin typeface="Arial"/>
              </a:rPr>
              <a:t>The formula is fragile: 85% of cells flip band under a ±1 primitive change.</a:t>
            </a:r>
          </a:p>
          <a:p>
            <a:pPr indent="-201168" marL="201168"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EAD9DE"/>
                </a:solidFill>
                <a:latin typeface="Arial"/>
              </a:rPr>
              <a:t>Content- &amp; obfuscation-blind — scores capability, not intent (dynamic scorer closes this).</a:t>
            </a:r>
          </a:p>
          <a:p>
            <a:pPr indent="-201168" marL="201168"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EAD9DE"/>
                </a:solidFill>
                <a:latin typeface="Arial"/>
              </a:rPr>
              <a:t>Flat sensitivity on some kinds (every calendar rated 4).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5806440"/>
            <a:ext cx="10671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B7B1C0"/>
                </a:solidFill>
                <a:latin typeface="Arial"/>
              </a:rPr>
              <a:t>Neither gap is a correctness bug — both are calibration decisions worth owning in the writeup.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8F50E37F08F4A860DB7BF64F39772" ma:contentTypeVersion="13" ma:contentTypeDescription="Create a new document." ma:contentTypeScope="" ma:versionID="b267114c7a1d49bc39b5d83a72eb4960">
  <xsd:schema xmlns:xsd="http://www.w3.org/2001/XMLSchema" xmlns:xs="http://www.w3.org/2001/XMLSchema" xmlns:p="http://schemas.microsoft.com/office/2006/metadata/properties" xmlns:ns1="http://schemas.microsoft.com/sharepoint/v3" xmlns:ns3="fbc213cb-2322-46ee-a57c-56e573321373" xmlns:ns4="b888f069-4316-4301-b40e-a42e2759f60d" targetNamespace="http://schemas.microsoft.com/office/2006/metadata/properties" ma:root="true" ma:fieldsID="382c22f52b2536c4184d251590234659" ns1:_="" ns3:_="" ns4:_="">
    <xsd:import namespace="http://schemas.microsoft.com/sharepoint/v3"/>
    <xsd:import namespace="fbc213cb-2322-46ee-a57c-56e573321373"/>
    <xsd:import namespace="b888f069-4316-4301-b40e-a42e2759f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c213cb-2322-46ee-a57c-56e573321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8f069-4316-4301-b40e-a42e2759f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BEE02-4C62-4254-8EEC-2ABE8FBBF4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bc213cb-2322-46ee-a57c-56e573321373"/>
    <ds:schemaRef ds:uri="b888f069-4316-4301-b40e-a42e2759f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6CFE95-771C-4802-B140-C778003BEB93}">
  <ds:schemaRefs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b888f069-4316-4301-b40e-a42e2759f60d"/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bc213cb-2322-46ee-a57c-56e573321373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Lenovo-16x9_Standard_July2022(1)</Template>
  <TotalTime>7646</TotalTime>
  <Words>1183</Words>
  <Application>Microsoft Office PowerPoint</Application>
  <PresentationFormat>Custom</PresentationFormat>
  <Paragraphs>231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Lenovo Master</vt:lpstr>
      <vt:lpstr>Presentation  title here </vt:lpstr>
      <vt:lpstr>Template layouts</vt:lpstr>
      <vt:lpstr>Template 101</vt:lpstr>
      <vt:lpstr>How to make this your default template</vt:lpstr>
      <vt:lpstr>Installing theme files</vt:lpstr>
      <vt:lpstr>Update footer with correct information classification</vt:lpstr>
      <vt:lpstr>Color scheme</vt:lpstr>
      <vt:lpstr>Colors for light slides</vt:lpstr>
      <vt:lpstr>Colors for dark slides</vt:lpstr>
      <vt:lpstr>Section divider</vt:lpstr>
      <vt:lpstr>Titles are Arial, bold, 32 pt, sentence case</vt:lpstr>
      <vt:lpstr>Two column layout</vt:lpstr>
      <vt:lpstr>PowerPoint Presentation</vt:lpstr>
      <vt:lpstr>Content w/ product</vt:lpstr>
      <vt:lpstr>Content w/ image layout</vt:lpstr>
      <vt:lpstr>PowerPoint Presentation</vt:lpstr>
      <vt:lpstr>PowerPoint Presentation</vt:lpstr>
      <vt:lpstr>Charts overview</vt:lpstr>
      <vt:lpstr>Bar chart</vt:lpstr>
      <vt:lpstr>Line chart</vt:lpstr>
      <vt:lpstr>Pie chart</vt:lpstr>
      <vt:lpstr>Tables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here </dc:title>
  <dc:creator>user</dc:creator>
  <cp:lastModifiedBy>user</cp:lastModifiedBy>
  <cp:revision>1</cp:revision>
  <dcterms:created xsi:type="dcterms:W3CDTF">2025-02-26T11:25:58Z</dcterms:created>
  <dcterms:modified xsi:type="dcterms:W3CDTF">2025-03-03T18:52:53Z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0x010100D7E8F50E37F08F4A860DB7BF64F39772</vt:lpwstr>
  </property>
</Properties>
</file>