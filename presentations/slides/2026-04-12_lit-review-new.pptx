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77" r:id="rId5"/>
    <p:sldId id="391" r:id="rId6"/>
    <p:sldId id="392" r:id="rId7"/>
    <p:sldId id="381" r:id="rId8"/>
    <p:sldId id="393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42" autoAdjust="0"/>
    <p:restoredTop sz="95238" autoAdjust="0"/>
  </p:normalViewPr>
  <p:slideViewPr>
    <p:cSldViewPr snapToGrid="0" snapToObjects="1">
      <p:cViewPr varScale="1">
        <p:scale>
          <a:sx n="113" d="100"/>
          <a:sy n="113" d="100"/>
        </p:scale>
        <p:origin x="264" y="114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4/12/2026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7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2026</a:t>
            </a:r>
          </a:p>
          <a:p>
            <a:r>
              <a:rPr lang="en-US" sz="1000" dirty="0">
                <a:latin typeface="Arial" pitchFamily="34" charset="0"/>
                <a:cs typeface="Arial" pitchFamily="34" charset="0"/>
              </a:rPr>
              <a:t>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  <p:sldLayoutId id="2147483757" r:id="rId37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b="1" dirty="0">
                <a:solidFill>
                  <a:srgbClr val="FFFFFF"/>
                </a:solidFill>
              </a:rPr>
              <a:t>Scenarios </a:t>
            </a:r>
            <a:r>
              <a:rPr sz="3400" b="1" dirty="0">
                <a:solidFill>
                  <a:srgbClr val="FFFFFF"/>
                </a:solidFill>
              </a:rPr>
              <a:t>the MCP Filesystem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AAAAAA"/>
                </a:solidFill>
              </a:rPr>
              <a:t>A systematic study of input / output behaviour and the CVE found along the way</a:t>
            </a:r>
          </a:p>
        </p:txBody>
      </p:sp>
    </p:spTree>
    <p:extLst>
      <p:ext uri="{BB962C8B-B14F-4D97-AF65-F5344CB8AC3E}">
        <p14:creationId xmlns:p14="http://schemas.microsoft.com/office/powerpoint/2010/main" val="412454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b="1" dirty="0">
                <a:solidFill>
                  <a:srgbClr val="FFFFFF"/>
                </a:solidFill>
              </a:rPr>
              <a:t>MCP under Test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1373" y="2006600"/>
            <a:ext cx="64008" cy="347472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2541" y="2006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</a:rPr>
              <a:t>read_file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541" y="2463800"/>
            <a:ext cx="47548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E2231A"/>
                </a:solidFill>
              </a:rPr>
              <a:t>Input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path: string  — absolute path to a file</a:t>
            </a: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</a:p>
          <a:p>
            <a:r>
              <a:rPr sz="1400" b="1" i="0" dirty="0">
                <a:solidFill>
                  <a:srgbClr val="E2231A"/>
                </a:solidFill>
              </a:rPr>
              <a:t>Output (success)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text content of the file</a:t>
            </a: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</a:p>
          <a:p>
            <a:r>
              <a:rPr sz="1400" b="1" i="0" dirty="0">
                <a:solidFill>
                  <a:srgbClr val="E2231A"/>
                </a:solidFill>
              </a:rPr>
              <a:t>Output (error)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ENOENT, Access denied, </a:t>
            </a:r>
            <a:r>
              <a:rPr sz="1400" b="0" i="0" dirty="0" err="1">
                <a:solidFill>
                  <a:srgbClr val="AAAAAA"/>
                </a:solidFill>
              </a:rPr>
              <a:t>TypeError</a:t>
            </a:r>
            <a:r>
              <a:rPr sz="1400" b="0" i="0" dirty="0">
                <a:solidFill>
                  <a:srgbClr val="AAAAAA"/>
                </a:solidFill>
              </a:rPr>
              <a:t> …</a:t>
            </a: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  <a:endParaRPr lang="en-US" sz="600" b="0" i="0" dirty="0">
              <a:solidFill>
                <a:srgbClr val="FFFFFF"/>
              </a:solidFill>
            </a:endParaRPr>
          </a:p>
          <a:p>
            <a:r>
              <a:rPr lang="en-US" sz="1400" b="1" i="0" dirty="0">
                <a:solidFill>
                  <a:srgbClr val="FFFFFF"/>
                </a:solidFill>
              </a:rPr>
              <a:t>T</a:t>
            </a:r>
            <a:r>
              <a:rPr lang="en-US" sz="1400" b="1" dirty="0">
                <a:solidFill>
                  <a:srgbClr val="FFFFFF"/>
                </a:solidFill>
              </a:rPr>
              <a:t>ypes of attacks </a:t>
            </a:r>
            <a:endParaRPr lang="en-US" sz="1400" b="1" i="0" dirty="0">
              <a:solidFill>
                <a:srgbClr val="FFFFFF"/>
              </a:solidFill>
            </a:endParaRPr>
          </a:p>
          <a:p>
            <a:r>
              <a:rPr lang="en-US" sz="1400" b="0" i="0" dirty="0">
                <a:solidFill>
                  <a:srgbClr val="AAAAAA"/>
                </a:solidFill>
              </a:rPr>
              <a:t>  path content, type, encoding, length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7773" y="2006600"/>
            <a:ext cx="64008" cy="3474720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8941" y="2006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FFFFFF"/>
                </a:solidFill>
              </a:rPr>
              <a:t>list_directory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8941" y="2463800"/>
            <a:ext cx="4754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E2231A"/>
                </a:solidFill>
              </a:rPr>
              <a:t>Input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path: string  — absolute path to a </a:t>
            </a:r>
            <a:r>
              <a:rPr sz="1400" b="0" i="0" dirty="0" err="1">
                <a:solidFill>
                  <a:srgbClr val="AAAAAA"/>
                </a:solidFill>
              </a:rPr>
              <a:t>dir</a:t>
            </a:r>
            <a:endParaRPr sz="1400" b="0" i="0" dirty="0">
              <a:solidFill>
                <a:srgbClr val="AAAAAA"/>
              </a:solidFill>
            </a:endParaRP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</a:p>
          <a:p>
            <a:r>
              <a:rPr sz="1400" b="1" i="0" dirty="0">
                <a:solidFill>
                  <a:srgbClr val="E2231A"/>
                </a:solidFill>
              </a:rPr>
              <a:t>Output (success)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[FILE] name
  [DIR] name  (one per line)</a:t>
            </a: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</a:p>
          <a:p>
            <a:r>
              <a:rPr sz="1400" b="1" i="0" dirty="0">
                <a:solidFill>
                  <a:srgbClr val="E2231A"/>
                </a:solidFill>
              </a:rPr>
              <a:t>Output (error)</a:t>
            </a:r>
          </a:p>
          <a:p>
            <a:r>
              <a:rPr sz="1400" b="0" i="0" dirty="0">
                <a:solidFill>
                  <a:srgbClr val="AAAAAA"/>
                </a:solidFill>
              </a:rPr>
              <a:t>  ENOENT, Access denied …</a:t>
            </a:r>
          </a:p>
          <a:p>
            <a:r>
              <a:rPr sz="600" b="0" i="0" dirty="0">
                <a:solidFill>
                  <a:srgbClr val="FFFFFF"/>
                </a:solidFill>
              </a:rPr>
              <a:t> </a:t>
            </a:r>
            <a:endParaRPr lang="en-US" sz="600" b="0" i="0" dirty="0">
              <a:solidFill>
                <a:srgbClr val="FFFFFF"/>
              </a:solidFill>
            </a:endParaRPr>
          </a:p>
          <a:p>
            <a:r>
              <a:rPr lang="en-US" sz="1400" b="1" i="0" dirty="0">
                <a:solidFill>
                  <a:srgbClr val="FFFFFF"/>
                </a:solidFill>
              </a:rPr>
              <a:t>Types of attacks</a:t>
            </a:r>
          </a:p>
          <a:p>
            <a:r>
              <a:rPr lang="en-US" sz="1400" b="0" i="0" dirty="0">
                <a:solidFill>
                  <a:srgbClr val="AAAAAA"/>
                </a:solidFill>
              </a:rPr>
              <a:t>  </a:t>
            </a:r>
            <a:r>
              <a:rPr lang="en-US" sz="1400" b="0" i="0" dirty="0" err="1">
                <a:solidFill>
                  <a:srgbClr val="AAAAAA"/>
                </a:solidFill>
              </a:rPr>
              <a:t>dir</a:t>
            </a:r>
            <a:r>
              <a:rPr lang="en-US" sz="1400" b="0" i="0" dirty="0">
                <a:solidFill>
                  <a:srgbClr val="AAAAAA"/>
                </a:solidFill>
              </a:rPr>
              <a:t> paths, empty </a:t>
            </a:r>
            <a:r>
              <a:rPr lang="en-US" sz="1400" b="0" i="0" dirty="0" err="1">
                <a:solidFill>
                  <a:srgbClr val="AAAAAA"/>
                </a:solidFill>
              </a:rPr>
              <a:t>dirs</a:t>
            </a:r>
            <a:r>
              <a:rPr lang="en-US" sz="1400" b="0" i="0" dirty="0">
                <a:solidFill>
                  <a:srgbClr val="AAAAAA"/>
                </a:solidFill>
              </a:rPr>
              <a:t>, </a:t>
            </a:r>
            <a:r>
              <a:rPr lang="en-US" sz="1400" b="0" i="0" dirty="0" err="1">
                <a:solidFill>
                  <a:srgbClr val="AAAAAA"/>
                </a:solidFill>
              </a:rPr>
              <a:t>symlinks</a:t>
            </a:r>
            <a:endParaRPr lang="en-US" sz="1400" b="0" i="0" dirty="0">
              <a:solidFill>
                <a:srgbClr val="AAAAA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373" y="57099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AAAAAA"/>
                </a:solidFill>
              </a:rPr>
              <a:t>Both tools share the same path-validation layer — so every finding applies to both.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30D19E-0B95-4FBF-99F6-9622BE2172D2}"/>
              </a:ext>
            </a:extLst>
          </p:cNvPr>
          <p:cNvSpPr txBox="1"/>
          <p:nvPr/>
        </p:nvSpPr>
        <p:spPr>
          <a:xfrm>
            <a:off x="656781" y="1215011"/>
            <a:ext cx="10607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0" i="1" dirty="0">
                <a:solidFill>
                  <a:srgbClr val="AAAAAA"/>
                </a:solidFill>
              </a:rPr>
              <a:t>W</a:t>
            </a:r>
            <a:r>
              <a:rPr lang="en-US" sz="1500" i="1" dirty="0">
                <a:solidFill>
                  <a:srgbClr val="AAAAAA"/>
                </a:solidFill>
              </a:rPr>
              <a:t>e are testing on file system </a:t>
            </a:r>
            <a:r>
              <a:rPr lang="en-US" sz="1500" i="1" dirty="0" err="1">
                <a:solidFill>
                  <a:srgbClr val="AAAAAA"/>
                </a:solidFill>
              </a:rPr>
              <a:t>mcp</a:t>
            </a:r>
            <a:r>
              <a:rPr lang="en-US" sz="1500" i="1" dirty="0">
                <a:solidFill>
                  <a:srgbClr val="AAAAAA"/>
                </a:solidFill>
              </a:rPr>
              <a:t> server </a:t>
            </a:r>
            <a:endParaRPr sz="1500" b="0" i="1" dirty="0">
              <a:solidFill>
                <a:srgbClr val="AAAAAA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F611FA-33C4-4AC4-A19A-EBE47A5E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35" y="38644"/>
            <a:ext cx="2060320" cy="2060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dirty="0">
                <a:solidFill>
                  <a:srgbClr val="FFFFFF"/>
                </a:solidFill>
              </a:rPr>
              <a:t>MCP JSON</a:t>
            </a:r>
            <a:r>
              <a:rPr lang="en-US" sz="2600" b="1" dirty="0">
                <a:solidFill>
                  <a:srgbClr val="FFFFFF"/>
                </a:solidFill>
              </a:rPr>
              <a:t>-Based</a:t>
            </a:r>
            <a:r>
              <a:rPr sz="2600" b="1" dirty="0">
                <a:solidFill>
                  <a:srgbClr val="FFFFFF"/>
                </a:solidFill>
              </a:rPr>
              <a:t>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AAAAAA"/>
                </a:solidFill>
              </a:rPr>
              <a:t>Every interaction is a JSON-RPC 2.0 message. Here is what a tool call looks like: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REQUEST  (agent → server)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965960"/>
            <a:ext cx="50292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4809744" cy="2112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{</a:t>
            </a:r>
          </a:p>
          <a:p>
            <a:r>
              <a:rPr sz="1300" b="0" i="0">
                <a:solidFill>
                  <a:srgbClr val="FFE080"/>
                </a:solidFill>
              </a:rPr>
              <a:t>  "jsonrpc": "2.0",</a:t>
            </a:r>
          </a:p>
          <a:p>
            <a:r>
              <a:rPr sz="1300" b="0" i="0">
                <a:solidFill>
                  <a:srgbClr val="FFE080"/>
                </a:solidFill>
              </a:rPr>
              <a:t>  "method": "tools/call",</a:t>
            </a:r>
          </a:p>
          <a:p>
            <a:r>
              <a:rPr sz="1300" b="0" i="0">
                <a:solidFill>
                  <a:srgbClr val="FFFFFF"/>
                </a:solidFill>
              </a:rPr>
              <a:t>  "params": {</a:t>
            </a:r>
          </a:p>
          <a:p>
            <a:r>
              <a:rPr sz="1300" b="0" i="0">
                <a:solidFill>
                  <a:srgbClr val="80C8FF"/>
                </a:solidFill>
              </a:rPr>
              <a:t>    "name": "read_file",</a:t>
            </a:r>
          </a:p>
          <a:p>
            <a:r>
              <a:rPr sz="1300" b="0" i="0">
                <a:solidFill>
                  <a:srgbClr val="FFFFFF"/>
                </a:solidFill>
              </a:rPr>
              <a:t>    "arguments": {</a:t>
            </a:r>
          </a:p>
          <a:p>
            <a:r>
              <a:rPr sz="1300" b="0" i="0">
                <a:solidFill>
                  <a:srgbClr val="98FF98"/>
                </a:solidFill>
              </a:rPr>
              <a:t>      "path": "/tmp/mcp_sandbox/readme.txt"</a:t>
            </a:r>
          </a:p>
          <a:p>
            <a:r>
              <a:rPr sz="1300" b="0" i="0">
                <a:solidFill>
                  <a:srgbClr val="FFFFFF"/>
                </a:solidFill>
              </a:rPr>
              <a:t>    }</a:t>
            </a:r>
          </a:p>
          <a:p>
            <a:r>
              <a:rPr sz="1300" b="0" i="0">
                <a:solidFill>
                  <a:srgbClr val="FFFFFF"/>
                </a:solidFill>
              </a:rPr>
              <a:t>  },</a:t>
            </a:r>
          </a:p>
          <a:p>
            <a:r>
              <a:rPr sz="1300" b="0" i="0">
                <a:solidFill>
                  <a:srgbClr val="FFFFFF"/>
                </a:solidFill>
              </a:rPr>
              <a:t>  "id": 1</a:t>
            </a:r>
          </a:p>
          <a:p>
            <a:r>
              <a:rPr sz="13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RESPONSE  (server → agent)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965960"/>
            <a:ext cx="50292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2075688"/>
            <a:ext cx="4809744" cy="2112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{</a:t>
            </a:r>
          </a:p>
          <a:p>
            <a:r>
              <a:rPr sz="1300" b="0" i="0">
                <a:solidFill>
                  <a:srgbClr val="FFE080"/>
                </a:solidFill>
              </a:rPr>
              <a:t>  "jsonrpc": "2.0",</a:t>
            </a:r>
          </a:p>
          <a:p>
            <a:r>
              <a:rPr sz="1300" b="0" i="0">
                <a:solidFill>
                  <a:srgbClr val="FFFFFF"/>
                </a:solidFill>
              </a:rPr>
              <a:t>  "result": {</a:t>
            </a:r>
          </a:p>
          <a:p>
            <a:r>
              <a:rPr sz="1300" b="0" i="0">
                <a:solidFill>
                  <a:srgbClr val="FFFFFF"/>
                </a:solidFill>
              </a:rPr>
              <a:t>    "content": [</a:t>
            </a:r>
          </a:p>
          <a:p>
            <a:r>
              <a:rPr sz="1300" b="0" i="0">
                <a:solidFill>
                  <a:srgbClr val="FFFFFF"/>
                </a:solidFill>
              </a:rPr>
              <a:t>      {</a:t>
            </a:r>
          </a:p>
          <a:p>
            <a:r>
              <a:rPr sz="1300" b="0" i="0">
                <a:solidFill>
                  <a:srgbClr val="80C8FF"/>
                </a:solidFill>
              </a:rPr>
              <a:t>        "type": "text",</a:t>
            </a:r>
          </a:p>
          <a:p>
            <a:r>
              <a:rPr sz="1300" b="0" i="0">
                <a:solidFill>
                  <a:srgbClr val="98FF98"/>
                </a:solidFill>
              </a:rPr>
              <a:t>        "text": "Version 1.0 ..."</a:t>
            </a:r>
          </a:p>
          <a:p>
            <a:r>
              <a:rPr sz="1300" b="0" i="0">
                <a:solidFill>
                  <a:srgbClr val="FFFFFF"/>
                </a:solidFill>
              </a:rPr>
              <a:t>      }</a:t>
            </a:r>
          </a:p>
          <a:p>
            <a:r>
              <a:rPr sz="1300" b="0" i="0">
                <a:solidFill>
                  <a:srgbClr val="FFFFFF"/>
                </a:solidFill>
              </a:rPr>
              <a:t>    ],</a:t>
            </a:r>
          </a:p>
          <a:p>
            <a:r>
              <a:rPr sz="1300" b="0" i="0">
                <a:solidFill>
                  <a:srgbClr val="FFE080"/>
                </a:solidFill>
              </a:rPr>
              <a:t>    "isError": false</a:t>
            </a:r>
          </a:p>
          <a:p>
            <a:r>
              <a:rPr sz="1300" b="0" i="0">
                <a:solidFill>
                  <a:srgbClr val="FFFFFF"/>
                </a:solidFill>
              </a:rPr>
              <a:t>  }</a:t>
            </a:r>
          </a:p>
          <a:p>
            <a:r>
              <a:rPr sz="13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AAAAAA"/>
                </a:solidFill>
              </a:rPr>
              <a:t>An error response is identical in shape — isError: true, text contains the error message. Same envelope, different payload.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Experimental Design: Systematic Input Space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9728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</a:rPr>
              <a:t>PHASE I — CHARACTERISATION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4173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Establish nominal server behaviour and response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9728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231A"/>
                </a:solidFill>
              </a:rPr>
              <a:t>PHASE II — BOUNDARY PROBING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173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Exploit observations from Phase I to stress-test the access-control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9904" y="1051560"/>
            <a:ext cx="36576" cy="55321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" y="1828800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" y="1828800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7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Baseline Characterisation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28600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List the normal results for read and list requests for each valid type of path</a:t>
            </a:r>
            <a:endParaRPr sz="1100" b="0" i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13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2816352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" y="2816352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8803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28803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</a:rPr>
              <a:t>Error Response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27355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AAAAAA"/>
                </a:solidFill>
              </a:rPr>
              <a:t>Map error message structure for missing, denied, and unreachable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3752" y="288036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8 inputs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803904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" y="3803904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8679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3867912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</a:rPr>
              <a:t>Path Resolution </a:t>
            </a:r>
            <a:r>
              <a:rPr lang="en-US" sz="1400" b="1" i="0" dirty="0">
                <a:solidFill>
                  <a:srgbClr val="FFFFFF"/>
                </a:solidFill>
              </a:rPr>
              <a:t>Behavior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31620" y="421978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AAAAAA"/>
                </a:solidFill>
              </a:rPr>
              <a:t>Determine whether canonical form is derived before or after ACL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86791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8 inputs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4791456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" y="4791456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48554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8554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FFFFF"/>
                </a:solidFill>
              </a:rPr>
              <a:t>Malformed Input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524865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AAAAAA"/>
                </a:solidFill>
              </a:rPr>
              <a:t>Assess server resilience to syntactically invalid path strings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85546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14 inputs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828800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1828800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1892807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79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Near-Boundary Input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22860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AA"/>
                </a:solidFill>
              </a:rPr>
              <a:t>Submit near-valid paths to identify unhandled edge cases at the policy 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1892807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14 inputs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2816352"/>
            <a:ext cx="5074920" cy="896112"/>
          </a:xfrm>
          <a:prstGeom prst="rect">
            <a:avLst/>
          </a:prstGeom>
          <a:solidFill>
            <a:srgbClr val="2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92240" y="2816352"/>
            <a:ext cx="64008" cy="89611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28803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28803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Semantic Boundary Violation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79" y="327355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AA"/>
                </a:solidFill>
              </a:rPr>
              <a:t>Test whether a string-prefix ACL check can be circumvented without traversal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2880360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231A"/>
                </a:solidFill>
              </a:rPr>
              <a:t>16 inputs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3803904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92240" y="3803904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38679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79" y="3867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Type Coercion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79" y="42611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AAAAAA"/>
                </a:solidFill>
              </a:rPr>
              <a:t>Supply non-string JSON values as the path argument to probe schema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3867912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9 inputs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4791456"/>
            <a:ext cx="5074920" cy="896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4791456"/>
            <a:ext cx="64008" cy="89611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48554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S8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79" y="4855464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List different versions of the exploit</a:t>
            </a:r>
            <a:endParaRPr sz="1400" b="1" i="0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269479" y="5248656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Change the known bypass in different ways to see if the patch stops all of them</a:t>
            </a:r>
            <a:endParaRPr sz="1100" b="0" i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607040" y="4855464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</a:rPr>
              <a:t>8 inputs</a:t>
            </a:r>
          </a:p>
        </p:txBody>
      </p:sp>
    </p:spTree>
    <p:extLst>
      <p:ext uri="{BB962C8B-B14F-4D97-AF65-F5344CB8AC3E}">
        <p14:creationId xmlns:p14="http://schemas.microsoft.com/office/powerpoint/2010/main" val="272931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S1 — Baseline Characterisation: Nominal Server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97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13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09728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FFFFFF"/>
                </a:solidFill>
              </a:rPr>
              <a:t>All inputs are expected to succeed. Objective: establish the nominal response envelope so that any subsequent deviation constitutes an observable anomaly.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600200"/>
            <a:ext cx="10671048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8952" y="1673352"/>
            <a:ext cx="5074920" cy="36576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465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</a:rPr>
              <a:t>read_file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791" y="174650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10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51126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AAAAAA"/>
                </a:solidFill>
              </a:rPr>
              <a:t>/sandbox/readme.txt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412" y="241571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/sandbox/config.txt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672397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/sandbox/secret.txt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52321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content returned — filename semantics not inspected by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412" y="325289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/sandbox/empty.txt  [0 bytes]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412" y="354367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/sandbox/.hidden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697" y="3800000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content returned — POSIX hidden files treated identically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0693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/sandbox/large.txt  [500 lines ~50 KB]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4324859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/sandbox/subdir/nested.txt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594974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content returned — single-level subdirectory traversal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401" y="4750587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/sandbox/subdir/deep/deep.txt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537" y="4992185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content returned — two-level nesting also valid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412" y="5140961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/sandbox/symlink.txt  [</a:t>
            </a:r>
            <a:r>
              <a:rPr sz="1200" b="0" i="1" dirty="0" err="1">
                <a:solidFill>
                  <a:srgbClr val="AAAAAA"/>
                </a:solidFill>
              </a:rPr>
              <a:t>symlink</a:t>
            </a:r>
            <a:r>
              <a:rPr sz="1200" b="0" i="1" dirty="0">
                <a:solidFill>
                  <a:srgbClr val="AAAAAA"/>
                </a:solidFill>
              </a:rPr>
              <a:t> → readme.txt]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" y="5406806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target content — server follows </a:t>
            </a:r>
            <a:r>
              <a:rPr sz="1100" b="0" i="0" dirty="0" err="1">
                <a:solidFill>
                  <a:srgbClr val="555555"/>
                </a:solidFill>
              </a:rPr>
              <a:t>symlinks</a:t>
            </a:r>
            <a:r>
              <a:rPr sz="1100" b="0" i="0" dirty="0">
                <a:solidFill>
                  <a:srgbClr val="555555"/>
                </a:solidFill>
              </a:rPr>
              <a:t> transparently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640177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 dirty="0">
                <a:solidFill>
                  <a:srgbClr val="AAAAAA"/>
                </a:solidFill>
              </a:rPr>
              <a:t>/sandbox/file with spaces.txt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7" y="5893391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555555"/>
                </a:solidFill>
              </a:rPr>
              <a:t>Response: content returned — whitespace in filenames not mishandled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673352"/>
            <a:ext cx="5074920" cy="36576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74650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</a:rPr>
              <a:t>list_directory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746504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</a:rPr>
              <a:t>3 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167128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AAAAAA"/>
                </a:solidFill>
              </a:rPr>
              <a:t>/sandbox/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1" y="2459736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Response: [FILE] readme.txt  [FILE] config.txt  [DIR] subdir  …
All entries present, consistent [FILE]/[DIR] prefix notation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000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AAAAAA"/>
                </a:solidFill>
              </a:rPr>
              <a:t>/sandbox/subdir/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1" y="4092608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Response: [DIR] deep  [FILE] nested.txt
Subdirectory listing structurally identical to root listing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00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AAAAAA"/>
                </a:solidFill>
              </a:rPr>
              <a:t>/sandbox/empty_dir/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1" y="5592608"/>
            <a:ext cx="4818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Response: empty body, isError: false
Empty directory returns no entries, not an error condition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S2–S4 — Error Analysis, Path Resolution &amp; Boundary Enforcement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097280"/>
            <a:ext cx="10671048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Test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143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231A"/>
                </a:solidFill>
              </a:rPr>
              <a:t>read_file  — input /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143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231A"/>
                </a:solidFill>
              </a:rPr>
              <a:t>list_directory  — input /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1143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555555"/>
                </a:solidFill>
              </a:rPr>
              <a:t>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1481328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S2  Error Response
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05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AA"/>
                </a:solidFill>
              </a:rPr>
              <a:t>Map error structure for missing, denied, and out-of-scope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361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/sandbox/nonexistent.txt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922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ENOENT: no such file — full resolved path included in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04825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/sandbox/subdir/missing.txt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27685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ENOENT — nested missing path, same error envelope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5361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/sandbox/absent_dir/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9222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ENOENT — identical error structure to read_file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04825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/outside/path/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0428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Access denied — resolved path leaked in error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15361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256032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Observation: error messages consistently expose the canonical resolved path — a reliable side-channel for inferring server-side path resolution logic.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2889504"/>
            <a:ext cx="10671048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2962656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S3  Path Resolution
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355701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AA"/>
                </a:solidFill>
              </a:rPr>
              <a:t>Determine whether ACL evaluation operates on canonical or raw 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96265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/sandbox/./././readme.txt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21868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Content returned — redundant current-dir refs collapsed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4747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//sandbox//readme.txt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703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Content returned — duplicate separators normalised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6265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/sandbox/subdir/deep/../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1868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Lists subdir/ — parent-dir component resolved correctly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4747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///sandbox///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7033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Root listing returned — triple slashes collapsed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69880" y="296265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3986784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Observation: normalisation precedes I/O. Key question raised: does ACL evaluation use the normalised path or the raw input string?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315968"/>
            <a:ext cx="10671048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4389120"/>
            <a:ext cx="1965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S4  Malformed Input
Handling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4983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AAAAAA"/>
                </a:solidFill>
              </a:rPr>
              <a:t>Assess server response to syntactically invalid path strings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3891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AAAAA"/>
                </a:solidFill>
              </a:rPr>
              <a:t>"aaaaaaa"  "12345"  "???"  "\\"  "   "  "\n"  "\t"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49834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All 14 inputs: Access denied — path outside allowed directories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5212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Resolved form exposed in each error (e.g. /mnt/"aaaaaaa")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3891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333333"/>
                </a:solidFill>
              </a:rPr>
              <a:t>(read_file only — S4 targets file-read path)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70916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333333"/>
                </a:solidFill>
              </a:rPr>
              <a:t>list_directory excluded: malformed string inputs are
a file-access concern, not a directory enumeration concern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9880" y="43891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48640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Observation: access-control boundary is consistently enforced. Error output confirms the server resolves the input before rejecting — boundary check operates on the canonical path, not the raw string.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S5 — Near-Boundary Input Testing: First Inter-Version Divergence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14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09728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Inputs that are syntactically plausible but semantically ambiguous — targeting edge cases at the boundary of the access-control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554480"/>
            <a:ext cx="10671048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09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55555"/>
                </a:solidFill>
              </a:rPr>
              <a:t>Input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093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231A"/>
                </a:solidFill>
              </a:rPr>
              <a:t>read_file  (12 test cases)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0934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231A"/>
                </a:solidFill>
              </a:rPr>
              <a:t>list_directory  (2 test cases)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1938528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116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2231A"/>
                </a:solidFill>
              </a:rPr>
              <a:t>Windows path separator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011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/sandbox\readme.txt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40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v2025.3.28: content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414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231A"/>
                </a:solidFill>
              </a:rPr>
              <a:t>v2025.7.29: Access denied  [patch effective]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974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2231A"/>
                </a:solidFill>
              </a:rPr>
              <a:t>Null-byte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97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/sandbox/readme.txt\x00.png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9260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v2025.3.28: content returned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1272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231A"/>
                </a:solidFill>
              </a:rPr>
              <a:t>v2025.7.29: Access denied  [patch effective]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3832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Parent-directory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3832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../../sandbox/readme.txt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6118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Both versions: Access denied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8130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Canonical form resolves outside the allowed root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0690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Unicode fraction slash U+2215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0690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/sandbox∕readme.txt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2976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Both versions: Access denied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988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Non-ASCII separator not decoded — path unrecognised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7548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URL-encoded separator %2F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754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/sandbox%2Freadme.txt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9834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Both versions: Access denied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1846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Percent-encoding not decoded — treated as literal filename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440680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Pathological redundancy (300 chars)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440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/sandbox/a/../a/../a/… (truncated)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5669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Both versions: content 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8704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Responses differ in body text — unexpected divergence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011680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2231A"/>
                </a:solidFill>
              </a:rPr>
              <a:t>Windows separator on directory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25856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/sandbox\subdir\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48716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v2025.3.28: directory listed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68833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231A"/>
                </a:solidFill>
              </a:rPr>
              <a:t>v2025.7.29: Access denied  [patch effective]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246120"/>
            <a:ext cx="4297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</a:rPr>
              <a:t>Duplicate leading separators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49300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AAAAAA"/>
                </a:solidFill>
              </a:rPr>
              <a:t>//sandbox//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72160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Both versions: root listing returned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9227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Duplicate separators normalised — consistent with S3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6153912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80960" y="62362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231A"/>
                </a:solidFill>
              </a:rPr>
              <a:t>Hypothesis revised: the boundary logic itself may be flawed.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Phase 6 — The Discovery: Prefix Bypass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 dirty="0">
                <a:solidFill>
                  <a:srgbClr val="FFFFFF"/>
                </a:solidFill>
              </a:rPr>
              <a:t>I stopped using traversal dots. Instead I asked: what if a path simply STARTS with the sandbox name?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My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0574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AAAAAA"/>
                </a:solidFill>
              </a:rPr>
              <a:t>The server checks: does path start with /tmp/mcp_sandbox?
If so — allowed. /tmp/mcp_sandbox_escape also starts with
that prefix. Would it accept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691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What happened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2057400"/>
            <a:ext cx="5029200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2167128"/>
            <a:ext cx="4809744" cy="101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98FF98"/>
                </a:solidFill>
              </a:rPr>
              <a:t>path: /tmp/mcp_sandbox_escape/secret.txt</a:t>
            </a:r>
          </a:p>
          <a:p>
            <a:endParaRPr sz="1300" b="0" i="0">
              <a:solidFill>
                <a:srgbClr val="98FF98"/>
              </a:solidFill>
            </a:endParaRPr>
          </a:p>
          <a:p>
            <a:r>
              <a:rPr sz="1300" b="0" i="0">
                <a:solidFill>
                  <a:srgbClr val="98FF98"/>
                </a:solidFill>
              </a:rPr>
              <a:t>OLD → returned content</a:t>
            </a:r>
          </a:p>
          <a:p>
            <a:r>
              <a:rPr sz="1300" b="0" i="0">
                <a:solidFill>
                  <a:srgbClr val="FF6060"/>
                </a:solidFill>
              </a:rPr>
              <a:t>NEW → Access denied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832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2231A"/>
                </a:solidFill>
              </a:rPr>
              <a:t>It worked on the old version. Something succeeded when it should have failed.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840480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397763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Confirmed with 6 variants — all leaked on old version: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/tmp/mcp_sandbox_escape/file1.txt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343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leaked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908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/tmp/mcp_sandbox_escape/file2.txt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690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leaked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383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/tmp/mcp_sandboxevil/secret.txt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0383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leaked  (no separator needed)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8581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list /tmp/mcp_sandbox_escape/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38581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directory listing leaked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The CVE: What Prefix Bypass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AAAAA"/>
                </a:solidFill>
              </a:rPr>
              <a:t>The old server validated the path with a naive string-prefix check: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645920"/>
            <a:ext cx="10607040" cy="960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387584" cy="740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// Vulnerable check (conceptual)</a:t>
            </a:r>
          </a:p>
          <a:p>
            <a:r>
              <a:rPr sz="1300" b="0" i="0">
                <a:solidFill>
                  <a:srgbClr val="FF8080"/>
                </a:solidFill>
              </a:rPr>
              <a:t>if (!resolvedPath.startsWith(allowedRoot)) throw AccessDenied</a:t>
            </a:r>
          </a:p>
          <a:p>
            <a:endParaRPr sz="1300" b="0" i="0">
              <a:solidFill>
                <a:srgbClr val="FF8080"/>
              </a:solidFill>
            </a:endParaRPr>
          </a:p>
          <a:p>
            <a:r>
              <a:rPr sz="1300" b="0" i="0">
                <a:solidFill>
                  <a:srgbClr val="FFE080"/>
                </a:solidFill>
              </a:rPr>
              <a:t>// /tmp/mcp_sandbox_escape  starts with  /tmp/mcp_sandbox  → passes!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743200"/>
            <a:ext cx="10607040" cy="868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10387584" cy="649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// Patched check (v2025.7.29)</a:t>
            </a:r>
          </a:p>
          <a:p>
            <a:r>
              <a:rPr sz="1300" b="0" i="0">
                <a:solidFill>
                  <a:srgbClr val="98FF98"/>
                </a:solidFill>
              </a:rPr>
              <a:t>if (!resolvedPath.startsWith(allowedRoot + path.sep)) throw …</a:t>
            </a:r>
          </a:p>
          <a:p>
            <a:endParaRPr sz="1300" b="0" i="0">
              <a:solidFill>
                <a:srgbClr val="98FF98"/>
              </a:solidFill>
            </a:endParaRPr>
          </a:p>
          <a:p>
            <a:r>
              <a:rPr sz="1300" b="0" i="0">
                <a:solidFill>
                  <a:srgbClr val="FFE080"/>
                </a:solidFill>
              </a:rPr>
              <a:t>// Forces a separator after the sandbox name → sibling dirs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7947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231A"/>
                </a:solidFill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79476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agent can read any file in any directory whose name shares a prefix with the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976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231A"/>
                </a:solidFill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29768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any MCP filesystem server using startsWith() without a trailing separator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800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231A"/>
                </a:solidFill>
              </a:rPr>
              <a:t>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8006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</a:rPr>
              <a:t>append path.sep (or '/') to the allowed root before the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Phase 7 — Type Confusion: A Side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</a:rPr>
              <a:t>After the prefix bypass I wondered: what if 'path' is not a string at all? 9 probes with wrong JSON 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9202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Old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1920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2231A"/>
                </a:solidFill>
              </a:rPr>
              <a:t>New behaviour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331720"/>
            <a:ext cx="10671048" cy="27432"/>
          </a:xfrm>
          <a:prstGeom prst="rect">
            <a:avLst/>
          </a:prstGeom>
          <a:solidFill>
            <a:srgbClr val="E2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path: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AA"/>
                </a:solidFill>
              </a:rPr>
              <a:t>unhandled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423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structured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path: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AA"/>
                </a:solidFill>
              </a:rPr>
              <a:t>ENOENT on literal 'null'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schema validation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path: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AA"/>
                </a:solidFill>
              </a:rPr>
              <a:t>reads 'true' as path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blocked before I/O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path: 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6576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AA"/>
                </a:solidFill>
              </a:rPr>
              <a:t>TypeError in 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structured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path: 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690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AAAAAA"/>
                </a:solidFill>
              </a:rPr>
              <a:t>TypeError in 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</a:rPr>
              <a:t>structured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572000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7091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AAAAAA"/>
                </a:solidFill>
              </a:rPr>
              <a:t>Not exploitable — but a caller can fingerprint the server version just by sending path: 42 and reading the error shape.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Phase 8 — Follow-Up: Confirming the CVE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FFFFFF"/>
                </a:solidFill>
              </a:rPr>
              <a:t>I now know the prefix bypass works. Phase 8 tests whether the patch is a real fix or just one blacklisted spelling.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bypass + trailing slash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828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/tmp/mcp_sandbox_escape/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leaked  →  NEW blocked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58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bypass + double slash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585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/tmp/mcp_sandbox_escape//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2585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leaked  →  NEW blocked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8833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different suffix _extra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688335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/tmp/mcp_sandbox_extra/file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8833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leaked  →  NEW blocked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1181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dot in escape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18103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/tmp/mcp_sandbox_escape/./file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18103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leaked  →  NEW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5478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list escape 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47871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list_directory on escape 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47871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listed  →  NEW blocked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FFF"/>
                </a:solidFill>
              </a:rPr>
              <a:t>list via double slash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977639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AAAAAA"/>
                </a:solidFill>
              </a:rPr>
              <a:t>list_directory + //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2231A"/>
                </a:solidFill>
              </a:rPr>
              <a:t>OLD listed  →  NEW blocked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4498847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636007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</a:rPr>
              <a:t>Every variant blocked by the patched version. The fix is real path resolution — not a one-liner blacklist.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FFFFFF"/>
                </a:solidFill>
              </a:rPr>
              <a:t>Bonus: Version Comparison Validates the Find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43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AAAAAA"/>
                </a:solidFill>
              </a:rPr>
              <a:t>Running the same 90 probes against v2025.3.28 and v2025.7.29 in parallel confirmed the CVE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2231A"/>
                </a:solidFill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total probes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7792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2231A"/>
                </a:solidFill>
              </a:rP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7792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identical
(phases 1–4)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6632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2231A"/>
                </a:solidFill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6632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diverged
(phases 5–8)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2231A"/>
                </a:solidFill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PATCH
EFFECTIVE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312" y="19202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2231A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2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type confusion
divergence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703320"/>
            <a:ext cx="10671048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38404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FFFFF"/>
                </a:solidFill>
              </a:rPr>
              <a:t>Phases 1–4 identical → patch did not regress benign behaviour.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2976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FFFFFF"/>
                </a:solidFill>
              </a:rPr>
              <a:t>15 PATCH EFFECTIVE rows = every prefix-bypass variant blocked by v2025.7.29 and leaked by v2025.3.28.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7548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231A"/>
                </a:solidFill>
              </a:rPr>
              <a:t>The probing methodology was sensitive enough to catch a real CVE and confirm the fix — without reading the source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6CFE95-771C-4802-B140-C778003BEB93}">
  <ds:schemaRefs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fbc213cb-2322-46ee-a57c-56e573321373"/>
    <ds:schemaRef ds:uri="http://purl.org/dc/dcmitype/"/>
    <ds:schemaRef ds:uri="b888f069-4316-4301-b40e-a42e2759f60d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7956</TotalTime>
  <Words>2031</Words>
  <Application>Microsoft Office PowerPoint</Application>
  <PresentationFormat>Custom</PresentationFormat>
  <Paragraphs>292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Lenovo Master</vt:lpstr>
      <vt:lpstr>Scenarios the MCP Filesystem Server</vt:lpstr>
      <vt:lpstr>MCP under Test</vt:lpstr>
      <vt:lpstr>MCP JSON-Based Protocol</vt:lpstr>
      <vt:lpstr>Experimental Design: Systematic Input Space Exploration</vt:lpstr>
      <vt:lpstr>S1 — Baseline Characterisation: Nominal Server Behaviour</vt:lpstr>
      <vt:lpstr>S2–S4 — Error Analysis, Path Resolution &amp; Boundary Enforcement</vt:lpstr>
      <vt:lpstr>S5 — Near-Boundary Input Testing: First Inter-Version Divergence</vt:lpstr>
      <vt:lpstr>Phase 6 — The Discovery: Prefix Bypass</vt:lpstr>
      <vt:lpstr>The CVE: What Prefix Bypass Means</vt:lpstr>
      <vt:lpstr>Phase 7 — Type Confusion: A Side Finding</vt:lpstr>
      <vt:lpstr>Phase 8 — Follow-Up: Confirming the CVE Family</vt:lpstr>
      <vt:lpstr>Bonus: Version Comparison Validates the Find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</dc:title>
  <dc:creator>user</dc:creator>
  <cp:lastModifiedBy>user</cp:lastModifiedBy>
  <cp:revision>12</cp:revision>
  <dcterms:created xsi:type="dcterms:W3CDTF">2025-02-26T11:25:58Z</dcterms:created>
  <dcterms:modified xsi:type="dcterms:W3CDTF">2026-04-12T14:45:11Z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