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98E261-060D-FB9B-0754-86FF9D546F09}" name="Ben Tyner" initials="BT" userId="S::btyner@lenovo.com::5deed283-7f15-4919-ba61-4c63216f9412" providerId="AD"/>
  <p188:author id="{BD1103C9-4F04-6CC4-C027-E622EE12ED50}" name="Song Luo6" initials="" userId="S::sluo6@Lenovo.com::d3b8cb8a-c714-4252-9893-a071fd8d80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9492" autoAdjust="0"/>
  </p:normalViewPr>
  <p:slideViewPr>
    <p:cSldViewPr snapToGrid="0">
      <p:cViewPr varScale="1">
        <p:scale>
          <a:sx n="101" d="100"/>
          <a:sy n="101" d="100"/>
        </p:scale>
        <p:origin x="97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4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49F7C-2645-AD44-B1D7-E233216F9F2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488E23-F122-EE4F-AE33-B6EE3C4E2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9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8880"/>
            <a:ext cx="1067382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32274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9805527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7660"/>
            <a:ext cx="9914678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595903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6217094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67577279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8809" y="35"/>
            <a:ext cx="4573191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1001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8809" y="0"/>
            <a:ext cx="457319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8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8" y="4328650"/>
            <a:ext cx="6265272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38323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72"/>
            <a:ext cx="12192000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8809" y="36"/>
            <a:ext cx="4573191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337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8809" y="0"/>
            <a:ext cx="4573191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772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529" y="1549492"/>
            <a:ext cx="6265272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529" y="4328650"/>
            <a:ext cx="6265272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1655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24784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2026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113034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684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01677165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2" y="1308880"/>
            <a:ext cx="1067077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0297770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749388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4696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749389"/>
            <a:ext cx="1067382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610" y="931563"/>
            <a:ext cx="1067382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52531920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307593"/>
            <a:ext cx="507032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40962" y="1307593"/>
            <a:ext cx="506709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653963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0" y="1307594"/>
            <a:ext cx="507032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40962" y="1307594"/>
            <a:ext cx="506709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435983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8398" y="1307594"/>
            <a:ext cx="3344059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08007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8399" y="1307594"/>
            <a:ext cx="3343142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7903" y="1307594"/>
            <a:ext cx="341653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01077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3"/>
            <a:ext cx="572500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54350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5725006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611" y="1307593"/>
            <a:ext cx="5725006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8199" y="0"/>
            <a:ext cx="53338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237746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" y="0"/>
            <a:ext cx="406284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2849" y="0"/>
            <a:ext cx="812915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783" y="849536"/>
            <a:ext cx="3514066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784" y="2943639"/>
            <a:ext cx="3514065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72569" y="6400800"/>
            <a:ext cx="439026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51329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2849" y="0"/>
            <a:ext cx="812915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783" y="849536"/>
            <a:ext cx="3514066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784" y="2943639"/>
            <a:ext cx="3514065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384644437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1" y="1757775"/>
            <a:ext cx="10670779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557996871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9025" y="1812556"/>
            <a:ext cx="9910169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9024" y="5045446"/>
            <a:ext cx="9910169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9024" y="788988"/>
            <a:ext cx="990858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5846044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9025" y="1812556"/>
            <a:ext cx="9914678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9024" y="5045446"/>
            <a:ext cx="9914679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9024" y="788988"/>
            <a:ext cx="990858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19813525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9025" y="1812556"/>
            <a:ext cx="9910167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9024" y="5045446"/>
            <a:ext cx="9910168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9024" y="788988"/>
            <a:ext cx="990858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8024042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8198" y="1307593"/>
            <a:ext cx="4573192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8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08936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5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8200" y="1307592"/>
            <a:ext cx="457319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8199" y="442528"/>
            <a:ext cx="4573192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6251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0" y="442528"/>
            <a:ext cx="1067382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778638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611" y="442528"/>
            <a:ext cx="10670780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612" y="1524000"/>
            <a:ext cx="10670779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68260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528185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090655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69084044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9348" y="3561908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2771" y="767096"/>
            <a:ext cx="2800816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7059777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36"/>
            <a:ext cx="12192000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529" y="1524000"/>
            <a:ext cx="9914678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612" y="5046115"/>
            <a:ext cx="9914678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52631" y="2542790"/>
            <a:ext cx="3058160" cy="1020580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529" y="762000"/>
            <a:ext cx="3942091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529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1149763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losing Slide_Pa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7DC3B2-BF59-7EFF-7D1D-9A8C3F9CA1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2667002" y="-2667001"/>
            <a:ext cx="6857999" cy="12192001"/>
          </a:xfrm>
          <a:prstGeom prst="rect">
            <a:avLst/>
          </a:prstGeom>
        </p:spPr>
      </p:pic>
      <p:sp>
        <p:nvSpPr>
          <p:cNvPr id="107" name="Rectangle 28">
            <a:extLst>
              <a:ext uri="{FF2B5EF4-FFF2-40B4-BE49-F238E27FC236}">
                <a16:creationId xmlns:a16="http://schemas.microsoft.com/office/drawing/2014/main" id="{162181A8-B4A3-6ABE-33D7-3CF58D53B62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59241" y="837416"/>
            <a:ext cx="634346" cy="1898696"/>
          </a:xfrm>
          <a:prstGeom prst="rect">
            <a:avLst/>
          </a:prstGeom>
          <a:solidFill>
            <a:srgbClr val="E1140A"/>
          </a:solidFill>
          <a:ln>
            <a:noFill/>
          </a:ln>
        </p:spPr>
        <p:txBody>
          <a:bodyPr vert="horz" wrap="square" lIns="91426" tIns="45713" rIns="91426" bIns="45713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874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CD9248-0A2C-4050-B347-2980229F11A8}"/>
              </a:ext>
            </a:extLst>
          </p:cNvPr>
          <p:cNvGrpSpPr/>
          <p:nvPr userDrawn="1"/>
        </p:nvGrpSpPr>
        <p:grpSpPr>
          <a:xfrm>
            <a:off x="1155043" y="3561909"/>
            <a:ext cx="7853422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99FEE917-CD84-4C97-B4F9-73DFE2A473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78C9364A-BFFF-4F94-9D90-8A71731D63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E572E624-9DE1-4F42-A7F5-36B7B8A2F6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DD8A238C-0295-48D1-8872-FE51165DDE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6849E95A-0C53-4220-85E0-6DFCEA7D1C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056EAF60-5381-416A-895C-D1FAED9FDF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60" name="Oval 11">
              <a:extLst>
                <a:ext uri="{FF2B5EF4-FFF2-40B4-BE49-F238E27FC236}">
                  <a16:creationId xmlns:a16="http://schemas.microsoft.com/office/drawing/2014/main" id="{0154DA0C-208D-4580-AFAD-81B221FB1E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89D8385-18A9-B3F2-CD4F-85659B0D324E}"/>
              </a:ext>
            </a:extLst>
          </p:cNvPr>
          <p:cNvGrpSpPr/>
          <p:nvPr userDrawn="1"/>
        </p:nvGrpSpPr>
        <p:grpSpPr>
          <a:xfrm>
            <a:off x="11704170" y="1007069"/>
            <a:ext cx="321578" cy="1552800"/>
            <a:chOff x="7313961" y="501936"/>
            <a:chExt cx="323594" cy="1566108"/>
          </a:xfrm>
        </p:grpSpPr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E3BA179E-E03A-BDA6-B43E-BC52081B18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83556" y="1311808"/>
              <a:ext cx="249567" cy="247350"/>
            </a:xfrm>
            <a:custGeom>
              <a:avLst/>
              <a:gdLst>
                <a:gd name="T0" fmla="*/ 0 w 574"/>
                <a:gd name="T1" fmla="*/ 229 h 569"/>
                <a:gd name="T2" fmla="*/ 90 w 574"/>
                <a:gd name="T3" fmla="*/ 413 h 569"/>
                <a:gd name="T4" fmla="*/ 90 w 574"/>
                <a:gd name="T5" fmla="*/ 413 h 569"/>
                <a:gd name="T6" fmla="*/ 90 w 574"/>
                <a:gd name="T7" fmla="*/ 413 h 569"/>
                <a:gd name="T8" fmla="*/ 9 w 574"/>
                <a:gd name="T9" fmla="*/ 413 h 569"/>
                <a:gd name="T10" fmla="*/ 9 w 574"/>
                <a:gd name="T11" fmla="*/ 569 h 569"/>
                <a:gd name="T12" fmla="*/ 574 w 574"/>
                <a:gd name="T13" fmla="*/ 569 h 569"/>
                <a:gd name="T14" fmla="*/ 574 w 574"/>
                <a:gd name="T15" fmla="*/ 413 h 569"/>
                <a:gd name="T16" fmla="*/ 253 w 574"/>
                <a:gd name="T17" fmla="*/ 413 h 569"/>
                <a:gd name="T18" fmla="*/ 133 w 574"/>
                <a:gd name="T19" fmla="*/ 286 h 569"/>
                <a:gd name="T20" fmla="*/ 253 w 574"/>
                <a:gd name="T21" fmla="*/ 155 h 569"/>
                <a:gd name="T22" fmla="*/ 574 w 574"/>
                <a:gd name="T23" fmla="*/ 155 h 569"/>
                <a:gd name="T24" fmla="*/ 574 w 574"/>
                <a:gd name="T25" fmla="*/ 0 h 569"/>
                <a:gd name="T26" fmla="*/ 224 w 574"/>
                <a:gd name="T27" fmla="*/ 0 h 569"/>
                <a:gd name="T28" fmla="*/ 0 w 574"/>
                <a:gd name="T29" fmla="*/ 22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74" h="569">
                  <a:moveTo>
                    <a:pt x="0" y="229"/>
                  </a:moveTo>
                  <a:cubicBezTo>
                    <a:pt x="0" y="294"/>
                    <a:pt x="30" y="368"/>
                    <a:pt x="90" y="413"/>
                  </a:cubicBezTo>
                  <a:cubicBezTo>
                    <a:pt x="90" y="413"/>
                    <a:pt x="90" y="413"/>
                    <a:pt x="90" y="413"/>
                  </a:cubicBezTo>
                  <a:cubicBezTo>
                    <a:pt x="90" y="413"/>
                    <a:pt x="90" y="413"/>
                    <a:pt x="90" y="413"/>
                  </a:cubicBezTo>
                  <a:cubicBezTo>
                    <a:pt x="9" y="413"/>
                    <a:pt x="9" y="413"/>
                    <a:pt x="9" y="413"/>
                  </a:cubicBezTo>
                  <a:cubicBezTo>
                    <a:pt x="9" y="569"/>
                    <a:pt x="9" y="569"/>
                    <a:pt x="9" y="569"/>
                  </a:cubicBezTo>
                  <a:cubicBezTo>
                    <a:pt x="574" y="569"/>
                    <a:pt x="574" y="569"/>
                    <a:pt x="574" y="569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195" y="413"/>
                    <a:pt x="133" y="369"/>
                    <a:pt x="133" y="286"/>
                  </a:cubicBezTo>
                  <a:cubicBezTo>
                    <a:pt x="133" y="221"/>
                    <a:pt x="178" y="155"/>
                    <a:pt x="253" y="155"/>
                  </a:cubicBezTo>
                  <a:cubicBezTo>
                    <a:pt x="574" y="155"/>
                    <a:pt x="574" y="155"/>
                    <a:pt x="574" y="155"/>
                  </a:cubicBezTo>
                  <a:cubicBezTo>
                    <a:pt x="574" y="0"/>
                    <a:pt x="574" y="0"/>
                    <a:pt x="574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94" y="0"/>
                    <a:pt x="0" y="93"/>
                    <a:pt x="0" y="2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65F0261C-1D6E-C448-5607-0EE1E298A3C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87546" y="755049"/>
              <a:ext cx="245577" cy="276163"/>
            </a:xfrm>
            <a:custGeom>
              <a:avLst/>
              <a:gdLst>
                <a:gd name="T0" fmla="*/ 0 w 554"/>
                <a:gd name="T1" fmla="*/ 174 h 623"/>
                <a:gd name="T2" fmla="*/ 377 w 554"/>
                <a:gd name="T3" fmla="*/ 311 h 623"/>
                <a:gd name="T4" fmla="*/ 0 w 554"/>
                <a:gd name="T5" fmla="*/ 450 h 623"/>
                <a:gd name="T6" fmla="*/ 0 w 554"/>
                <a:gd name="T7" fmla="*/ 623 h 623"/>
                <a:gd name="T8" fmla="*/ 554 w 554"/>
                <a:gd name="T9" fmla="*/ 395 h 623"/>
                <a:gd name="T10" fmla="*/ 554 w 554"/>
                <a:gd name="T11" fmla="*/ 228 h 623"/>
                <a:gd name="T12" fmla="*/ 0 w 554"/>
                <a:gd name="T13" fmla="*/ 0 h 623"/>
                <a:gd name="T14" fmla="*/ 0 w 554"/>
                <a:gd name="T15" fmla="*/ 174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4" h="623">
                  <a:moveTo>
                    <a:pt x="0" y="174"/>
                  </a:moveTo>
                  <a:lnTo>
                    <a:pt x="377" y="311"/>
                  </a:lnTo>
                  <a:lnTo>
                    <a:pt x="0" y="450"/>
                  </a:lnTo>
                  <a:lnTo>
                    <a:pt x="0" y="623"/>
                  </a:lnTo>
                  <a:lnTo>
                    <a:pt x="554" y="395"/>
                  </a:lnTo>
                  <a:lnTo>
                    <a:pt x="554" y="228"/>
                  </a:lnTo>
                  <a:lnTo>
                    <a:pt x="0" y="0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Freeform 31">
              <a:extLst>
                <a:ext uri="{FF2B5EF4-FFF2-40B4-BE49-F238E27FC236}">
                  <a16:creationId xmlns:a16="http://schemas.microsoft.com/office/drawing/2014/main" id="{47199BBB-42F8-171B-BC7A-793C905E4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1583096"/>
              <a:ext cx="253999" cy="256659"/>
            </a:xfrm>
            <a:custGeom>
              <a:avLst/>
              <a:gdLst>
                <a:gd name="T0" fmla="*/ 401 w 584"/>
                <a:gd name="T1" fmla="*/ 110 h 590"/>
                <a:gd name="T2" fmla="*/ 460 w 584"/>
                <a:gd name="T3" fmla="*/ 272 h 590"/>
                <a:gd name="T4" fmla="*/ 415 w 584"/>
                <a:gd name="T5" fmla="*/ 397 h 590"/>
                <a:gd name="T6" fmla="*/ 250 w 584"/>
                <a:gd name="T7" fmla="*/ 0 h 590"/>
                <a:gd name="T8" fmla="*/ 92 w 584"/>
                <a:gd name="T9" fmla="*/ 68 h 590"/>
                <a:gd name="T10" fmla="*/ 0 w 584"/>
                <a:gd name="T11" fmla="*/ 291 h 590"/>
                <a:gd name="T12" fmla="*/ 292 w 584"/>
                <a:gd name="T13" fmla="*/ 590 h 590"/>
                <a:gd name="T14" fmla="*/ 584 w 584"/>
                <a:gd name="T15" fmla="*/ 274 h 590"/>
                <a:gd name="T16" fmla="*/ 476 w 584"/>
                <a:gd name="T17" fmla="*/ 12 h 590"/>
                <a:gd name="T18" fmla="*/ 401 w 584"/>
                <a:gd name="T19" fmla="*/ 110 h 590"/>
                <a:gd name="T20" fmla="*/ 179 w 584"/>
                <a:gd name="T21" fmla="*/ 408 h 590"/>
                <a:gd name="T22" fmla="*/ 123 w 584"/>
                <a:gd name="T23" fmla="*/ 288 h 590"/>
                <a:gd name="T24" fmla="*/ 202 w 584"/>
                <a:gd name="T25" fmla="*/ 168 h 590"/>
                <a:gd name="T26" fmla="*/ 315 w 584"/>
                <a:gd name="T27" fmla="*/ 439 h 590"/>
                <a:gd name="T28" fmla="*/ 179 w 584"/>
                <a:gd name="T29" fmla="*/ 408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4" h="590">
                  <a:moveTo>
                    <a:pt x="401" y="110"/>
                  </a:moveTo>
                  <a:cubicBezTo>
                    <a:pt x="449" y="175"/>
                    <a:pt x="460" y="212"/>
                    <a:pt x="460" y="272"/>
                  </a:cubicBezTo>
                  <a:cubicBezTo>
                    <a:pt x="460" y="325"/>
                    <a:pt x="444" y="367"/>
                    <a:pt x="415" y="397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189" y="9"/>
                    <a:pt x="134" y="32"/>
                    <a:pt x="92" y="68"/>
                  </a:cubicBezTo>
                  <a:cubicBezTo>
                    <a:pt x="32" y="120"/>
                    <a:pt x="0" y="197"/>
                    <a:pt x="0" y="291"/>
                  </a:cubicBezTo>
                  <a:cubicBezTo>
                    <a:pt x="0" y="462"/>
                    <a:pt x="126" y="590"/>
                    <a:pt x="292" y="590"/>
                  </a:cubicBezTo>
                  <a:cubicBezTo>
                    <a:pt x="462" y="590"/>
                    <a:pt x="584" y="462"/>
                    <a:pt x="584" y="274"/>
                  </a:cubicBezTo>
                  <a:cubicBezTo>
                    <a:pt x="584" y="169"/>
                    <a:pt x="534" y="62"/>
                    <a:pt x="476" y="12"/>
                  </a:cubicBezTo>
                  <a:lnTo>
                    <a:pt x="401" y="110"/>
                  </a:lnTo>
                  <a:close/>
                  <a:moveTo>
                    <a:pt x="179" y="408"/>
                  </a:moveTo>
                  <a:cubicBezTo>
                    <a:pt x="144" y="381"/>
                    <a:pt x="123" y="339"/>
                    <a:pt x="123" y="288"/>
                  </a:cubicBezTo>
                  <a:cubicBezTo>
                    <a:pt x="123" y="232"/>
                    <a:pt x="155" y="190"/>
                    <a:pt x="202" y="168"/>
                  </a:cubicBezTo>
                  <a:cubicBezTo>
                    <a:pt x="315" y="439"/>
                    <a:pt x="315" y="439"/>
                    <a:pt x="315" y="439"/>
                  </a:cubicBezTo>
                  <a:cubicBezTo>
                    <a:pt x="257" y="447"/>
                    <a:pt x="212" y="432"/>
                    <a:pt x="179" y="4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Freeform 32">
              <a:extLst>
                <a:ext uri="{FF2B5EF4-FFF2-40B4-BE49-F238E27FC236}">
                  <a16:creationId xmlns:a16="http://schemas.microsoft.com/office/drawing/2014/main" id="{C843087F-6946-6AC0-B471-20C357A0CB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3961" y="1846404"/>
              <a:ext cx="319161" cy="221640"/>
            </a:xfrm>
            <a:custGeom>
              <a:avLst/>
              <a:gdLst>
                <a:gd name="T0" fmla="*/ 580 w 720"/>
                <a:gd name="T1" fmla="*/ 0 h 500"/>
                <a:gd name="T2" fmla="*/ 580 w 720"/>
                <a:gd name="T3" fmla="*/ 346 h 500"/>
                <a:gd name="T4" fmla="*/ 0 w 720"/>
                <a:gd name="T5" fmla="*/ 346 h 500"/>
                <a:gd name="T6" fmla="*/ 0 w 720"/>
                <a:gd name="T7" fmla="*/ 500 h 500"/>
                <a:gd name="T8" fmla="*/ 720 w 720"/>
                <a:gd name="T9" fmla="*/ 500 h 500"/>
                <a:gd name="T10" fmla="*/ 720 w 720"/>
                <a:gd name="T11" fmla="*/ 0 h 500"/>
                <a:gd name="T12" fmla="*/ 580 w 720"/>
                <a:gd name="T13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0" h="500">
                  <a:moveTo>
                    <a:pt x="580" y="0"/>
                  </a:moveTo>
                  <a:lnTo>
                    <a:pt x="580" y="346"/>
                  </a:lnTo>
                  <a:lnTo>
                    <a:pt x="0" y="346"/>
                  </a:lnTo>
                  <a:lnTo>
                    <a:pt x="0" y="500"/>
                  </a:lnTo>
                  <a:lnTo>
                    <a:pt x="720" y="500"/>
                  </a:lnTo>
                  <a:lnTo>
                    <a:pt x="720" y="0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Freeform 33">
              <a:extLst>
                <a:ext uri="{FF2B5EF4-FFF2-40B4-BE49-F238E27FC236}">
                  <a16:creationId xmlns:a16="http://schemas.microsoft.com/office/drawing/2014/main" id="{0735E3DE-07F6-5ACE-9B6C-8486746A6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501936"/>
              <a:ext cx="253999" cy="263752"/>
            </a:xfrm>
            <a:custGeom>
              <a:avLst/>
              <a:gdLst>
                <a:gd name="T0" fmla="*/ 584 w 584"/>
                <a:gd name="T1" fmla="*/ 304 h 607"/>
                <a:gd name="T2" fmla="*/ 292 w 584"/>
                <a:gd name="T3" fmla="*/ 607 h 607"/>
                <a:gd name="T4" fmla="*/ 0 w 584"/>
                <a:gd name="T5" fmla="*/ 302 h 607"/>
                <a:gd name="T6" fmla="*/ 292 w 584"/>
                <a:gd name="T7" fmla="*/ 0 h 607"/>
                <a:gd name="T8" fmla="*/ 584 w 584"/>
                <a:gd name="T9" fmla="*/ 304 h 607"/>
                <a:gd name="T10" fmla="*/ 133 w 584"/>
                <a:gd name="T11" fmla="*/ 304 h 607"/>
                <a:gd name="T12" fmla="*/ 292 w 584"/>
                <a:gd name="T13" fmla="*/ 454 h 607"/>
                <a:gd name="T14" fmla="*/ 451 w 584"/>
                <a:gd name="T15" fmla="*/ 302 h 607"/>
                <a:gd name="T16" fmla="*/ 292 w 584"/>
                <a:gd name="T17" fmla="*/ 153 h 607"/>
                <a:gd name="T18" fmla="*/ 133 w 584"/>
                <a:gd name="T19" fmla="*/ 304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4" h="607">
                  <a:moveTo>
                    <a:pt x="584" y="304"/>
                  </a:moveTo>
                  <a:cubicBezTo>
                    <a:pt x="584" y="474"/>
                    <a:pt x="457" y="607"/>
                    <a:pt x="292" y="607"/>
                  </a:cubicBezTo>
                  <a:cubicBezTo>
                    <a:pt x="128" y="607"/>
                    <a:pt x="0" y="473"/>
                    <a:pt x="0" y="302"/>
                  </a:cubicBezTo>
                  <a:cubicBezTo>
                    <a:pt x="0" y="133"/>
                    <a:pt x="126" y="0"/>
                    <a:pt x="292" y="0"/>
                  </a:cubicBezTo>
                  <a:cubicBezTo>
                    <a:pt x="455" y="0"/>
                    <a:pt x="584" y="133"/>
                    <a:pt x="584" y="304"/>
                  </a:cubicBezTo>
                  <a:moveTo>
                    <a:pt x="133" y="304"/>
                  </a:moveTo>
                  <a:cubicBezTo>
                    <a:pt x="133" y="391"/>
                    <a:pt x="198" y="454"/>
                    <a:pt x="292" y="454"/>
                  </a:cubicBezTo>
                  <a:cubicBezTo>
                    <a:pt x="381" y="454"/>
                    <a:pt x="451" y="387"/>
                    <a:pt x="451" y="302"/>
                  </a:cubicBezTo>
                  <a:cubicBezTo>
                    <a:pt x="451" y="216"/>
                    <a:pt x="383" y="153"/>
                    <a:pt x="292" y="153"/>
                  </a:cubicBezTo>
                  <a:cubicBezTo>
                    <a:pt x="203" y="153"/>
                    <a:pt x="133" y="219"/>
                    <a:pt x="133" y="3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Freeform 34">
              <a:extLst>
                <a:ext uri="{FF2B5EF4-FFF2-40B4-BE49-F238E27FC236}">
                  <a16:creationId xmlns:a16="http://schemas.microsoft.com/office/drawing/2014/main" id="{E908C976-1C06-60D5-6B16-65E7558C46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1021017"/>
              <a:ext cx="253999" cy="263752"/>
            </a:xfrm>
            <a:custGeom>
              <a:avLst/>
              <a:gdLst>
                <a:gd name="T0" fmla="*/ 584 w 584"/>
                <a:gd name="T1" fmla="*/ 305 h 607"/>
                <a:gd name="T2" fmla="*/ 292 w 584"/>
                <a:gd name="T3" fmla="*/ 607 h 607"/>
                <a:gd name="T4" fmla="*/ 0 w 584"/>
                <a:gd name="T5" fmla="*/ 303 h 607"/>
                <a:gd name="T6" fmla="*/ 292 w 584"/>
                <a:gd name="T7" fmla="*/ 0 h 607"/>
                <a:gd name="T8" fmla="*/ 584 w 584"/>
                <a:gd name="T9" fmla="*/ 305 h 607"/>
                <a:gd name="T10" fmla="*/ 133 w 584"/>
                <a:gd name="T11" fmla="*/ 305 h 607"/>
                <a:gd name="T12" fmla="*/ 292 w 584"/>
                <a:gd name="T13" fmla="*/ 454 h 607"/>
                <a:gd name="T14" fmla="*/ 451 w 584"/>
                <a:gd name="T15" fmla="*/ 303 h 607"/>
                <a:gd name="T16" fmla="*/ 292 w 584"/>
                <a:gd name="T17" fmla="*/ 153 h 607"/>
                <a:gd name="T18" fmla="*/ 133 w 584"/>
                <a:gd name="T19" fmla="*/ 305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4" h="607">
                  <a:moveTo>
                    <a:pt x="584" y="305"/>
                  </a:moveTo>
                  <a:cubicBezTo>
                    <a:pt x="584" y="474"/>
                    <a:pt x="457" y="607"/>
                    <a:pt x="292" y="607"/>
                  </a:cubicBezTo>
                  <a:cubicBezTo>
                    <a:pt x="128" y="607"/>
                    <a:pt x="0" y="474"/>
                    <a:pt x="0" y="303"/>
                  </a:cubicBezTo>
                  <a:cubicBezTo>
                    <a:pt x="0" y="133"/>
                    <a:pt x="126" y="0"/>
                    <a:pt x="292" y="0"/>
                  </a:cubicBezTo>
                  <a:cubicBezTo>
                    <a:pt x="455" y="0"/>
                    <a:pt x="584" y="134"/>
                    <a:pt x="584" y="305"/>
                  </a:cubicBezTo>
                  <a:moveTo>
                    <a:pt x="133" y="305"/>
                  </a:moveTo>
                  <a:cubicBezTo>
                    <a:pt x="133" y="391"/>
                    <a:pt x="198" y="454"/>
                    <a:pt x="292" y="454"/>
                  </a:cubicBezTo>
                  <a:cubicBezTo>
                    <a:pt x="381" y="454"/>
                    <a:pt x="451" y="388"/>
                    <a:pt x="451" y="303"/>
                  </a:cubicBezTo>
                  <a:cubicBezTo>
                    <a:pt x="451" y="216"/>
                    <a:pt x="383" y="153"/>
                    <a:pt x="292" y="153"/>
                  </a:cubicBezTo>
                  <a:cubicBezTo>
                    <a:pt x="203" y="153"/>
                    <a:pt x="133" y="220"/>
                    <a:pt x="133" y="3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53E22CE-6CE9-A7DF-E1E4-32283C5D79F2}"/>
              </a:ext>
            </a:extLst>
          </p:cNvPr>
          <p:cNvGrpSpPr/>
          <p:nvPr userDrawn="1"/>
        </p:nvGrpSpPr>
        <p:grpSpPr>
          <a:xfrm>
            <a:off x="9392772" y="1007070"/>
            <a:ext cx="1966475" cy="1042086"/>
            <a:chOff x="4988072" y="501936"/>
            <a:chExt cx="1978802" cy="1051017"/>
          </a:xfrm>
          <a:solidFill>
            <a:sysClr val="window" lastClr="FFFFFF"/>
          </a:solidFill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46832762-1FDB-79DE-0116-590EFE1BF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F88E21DB-AACA-7BB4-F6D2-1F4C5401CE4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52B3821B-BD3F-5903-AC9F-3A823316CE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7615787A-DBE6-8A88-69F5-5A743A3602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64925F2E-2156-2133-05C7-39B4E06355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B7C49DB2-058E-4C3A-3CD8-D3775C452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237CF234-6919-09AE-586F-E8BFF9CB21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A12BEBB4-72BA-02AE-B04E-FC837D76C7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Freeform 13">
              <a:extLst>
                <a:ext uri="{FF2B5EF4-FFF2-40B4-BE49-F238E27FC236}">
                  <a16:creationId xmlns:a16="http://schemas.microsoft.com/office/drawing/2014/main" id="{3E1F52B7-F750-92A7-3526-2180033C1F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15E86207-681D-E5D3-DB63-9B332801F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Freeform 15">
              <a:extLst>
                <a:ext uri="{FF2B5EF4-FFF2-40B4-BE49-F238E27FC236}">
                  <a16:creationId xmlns:a16="http://schemas.microsoft.com/office/drawing/2014/main" id="{2624DD06-4563-34ED-B02F-203711C214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Freeform 16">
              <a:extLst>
                <a:ext uri="{FF2B5EF4-FFF2-40B4-BE49-F238E27FC236}">
                  <a16:creationId xmlns:a16="http://schemas.microsoft.com/office/drawing/2014/main" id="{6539804E-49D9-F9AE-8083-4F05BD6A0C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Freeform 17">
              <a:extLst>
                <a:ext uri="{FF2B5EF4-FFF2-40B4-BE49-F238E27FC236}">
                  <a16:creationId xmlns:a16="http://schemas.microsoft.com/office/drawing/2014/main" id="{90B50D40-99CE-1473-15B4-5299FEAC0C1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Rectangle 18">
              <a:extLst>
                <a:ext uri="{FF2B5EF4-FFF2-40B4-BE49-F238E27FC236}">
                  <a16:creationId xmlns:a16="http://schemas.microsoft.com/office/drawing/2014/main" id="{BF8AE83E-83AC-9994-A3D5-5CB40E41A45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F2967061-6675-42C3-4CA5-569ADCB8ED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01FB6753-B1D5-6F70-B47F-094F054C44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Freeform 21">
              <a:extLst>
                <a:ext uri="{FF2B5EF4-FFF2-40B4-BE49-F238E27FC236}">
                  <a16:creationId xmlns:a16="http://schemas.microsoft.com/office/drawing/2014/main" id="{6F959949-86D4-DB5C-2349-B151051875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80D4118D-EC2F-95B2-B283-DD48787D88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Freeform 23">
              <a:extLst>
                <a:ext uri="{FF2B5EF4-FFF2-40B4-BE49-F238E27FC236}">
                  <a16:creationId xmlns:a16="http://schemas.microsoft.com/office/drawing/2014/main" id="{BAB0657A-C6D3-999C-2939-5E9A691259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BA5CB107-22E8-2533-3520-1D74DF98D3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Freeform 25">
              <a:extLst>
                <a:ext uri="{FF2B5EF4-FFF2-40B4-BE49-F238E27FC236}">
                  <a16:creationId xmlns:a16="http://schemas.microsoft.com/office/drawing/2014/main" id="{8BBD5819-AF33-CE21-FFB0-86AA50C86B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Rectangle 26">
              <a:extLst>
                <a:ext uri="{FF2B5EF4-FFF2-40B4-BE49-F238E27FC236}">
                  <a16:creationId xmlns:a16="http://schemas.microsoft.com/office/drawing/2014/main" id="{F8CB981B-6D5D-5C6C-01F0-D4E50481962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Rectangle 27">
              <a:extLst>
                <a:ext uri="{FF2B5EF4-FFF2-40B4-BE49-F238E27FC236}">
                  <a16:creationId xmlns:a16="http://schemas.microsoft.com/office/drawing/2014/main" id="{4ACCDF81-2136-4911-AFA1-0B67ED5BCD9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1874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084202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>
          <a:xfrm>
            <a:off x="548783" y="6473952"/>
            <a:ext cx="3201234" cy="153888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39598"/>
                </a:solidFill>
                <a:cs typeface="Arial" pitchFamily="34" charset="0"/>
              </a:rPr>
              <a:t>2017 Lenovo Internal. All rights reserved.</a:t>
            </a:r>
          </a:p>
        </p:txBody>
      </p:sp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783" y="274320"/>
            <a:ext cx="11076268" cy="521208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marL="0" algn="l" defTabSz="1218742" rtl="0" eaLnBrk="1" latinLnBrk="0" hangingPunct="1">
              <a:lnSpc>
                <a:spcPct val="100000"/>
              </a:lnSpc>
              <a:spcBef>
                <a:spcPct val="0"/>
              </a:spcBef>
              <a:buNone/>
              <a:tabLst>
                <a:tab pos="1218742" algn="l"/>
              </a:tabLst>
              <a:defRPr lang="en-US" sz="360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783" y="1179577"/>
            <a:ext cx="11076268" cy="5211699"/>
          </a:xfrm>
          <a:prstGeom prst="rect">
            <a:avLst/>
          </a:prstGeom>
        </p:spPr>
        <p:txBody>
          <a:bodyPr lIns="0" tIns="0" rIns="0" bIns="0"/>
          <a:lstStyle>
            <a:lvl1pPr marL="171415" indent="-171415">
              <a:lnSpc>
                <a:spcPct val="90000"/>
              </a:lnSpc>
              <a:spcBef>
                <a:spcPts val="499"/>
              </a:spcBef>
              <a:buClrTx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370" indent="-228514">
              <a:lnSpc>
                <a:spcPct val="90000"/>
              </a:lnSpc>
              <a:spcBef>
                <a:spcPts val="499"/>
              </a:spcBef>
              <a:buClrTx/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770" indent="-150228">
              <a:lnSpc>
                <a:spcPct val="90000"/>
              </a:lnSpc>
              <a:spcBef>
                <a:spcPts val="499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802" indent="-156574">
              <a:lnSpc>
                <a:spcPct val="90000"/>
              </a:lnSpc>
              <a:spcBef>
                <a:spcPts val="499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140" indent="-150228">
              <a:lnSpc>
                <a:spcPct val="90000"/>
              </a:lnSpc>
              <a:spcBef>
                <a:spcPts val="499"/>
              </a:spcBef>
              <a:buClrTx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336FA78-0CE7-7D62-37F5-4FB8EEBC8E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669530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6177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4979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95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latin typeface="Arial" pitchFamily="34" charset="0"/>
                <a:cs typeface="Arial" pitchFamily="34" charset="0"/>
              </a:rPr>
              <a:t>202</a:t>
            </a:r>
            <a:r>
              <a:rPr lang="he-IL" sz="1000" dirty="0">
                <a:latin typeface="Arial" pitchFamily="34" charset="0"/>
                <a:cs typeface="Arial" pitchFamily="34" charset="0"/>
              </a:rPr>
              <a:t>6</a:t>
            </a:r>
            <a:r>
              <a:rPr lang="en-US" sz="1000" dirty="0">
                <a:latin typeface="Arial" pitchFamily="34" charset="0"/>
                <a:cs typeface="Arial" pitchFamily="34" charset="0"/>
              </a:rPr>
              <a:t>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2569" y="6400800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42157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801" r:id="rId38"/>
    <p:sldLayoutId id="2147483844" r:id="rId39"/>
    <p:sldLayoutId id="2147483845" r:id="rId40"/>
    <p:sldLayoutId id="2147483846" r:id="rId41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MCP Misuse Risk Scoring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1">
                <a:solidFill>
                  <a:srgbClr val="E1251B"/>
                </a:solidFill>
                <a:latin typeface="Arial"/>
              </a:rPr>
              <a:t>Two modes — static design-time scoring + live asset scanning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32323"/>
                </a:solidFill>
                <a:latin typeface="Arial"/>
              </a:rPr>
              <a:t>Two scoring modes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325880"/>
            <a:ext cx="5394960" cy="4023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8952" y="1325880"/>
            <a:ext cx="5394960" cy="914400"/>
          </a:xfrm>
          <a:prstGeom prst="roundRect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Static  ·  design-time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FFFFFF"/>
                </a:solidFill>
                <a:latin typeface="Arial"/>
              </a:rPr>
              <a:t>"what could go wrong on paper"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468880"/>
            <a:ext cx="493776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232323"/>
                </a:solidFill>
                <a:latin typeface="Arial"/>
              </a:rPr>
              <a:t>•  Scores every (tool × asset) from declared tools &amp; assets — before any request runs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32323"/>
                </a:solidFill>
                <a:latin typeface="Arial"/>
              </a:rPr>
              <a:t>•  Likelihood pinned to 1.0 → a worst-case ceiling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32323"/>
                </a:solidFill>
                <a:latin typeface="Arial"/>
              </a:rPr>
              <a:t>•  Lets a gateway pre-rank dangerous operations per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7783" y="1325880"/>
            <a:ext cx="5394960" cy="4023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7783" y="1325880"/>
            <a:ext cx="5394960" cy="914400"/>
          </a:xfrm>
          <a:prstGeom prst="round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wrap="square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Live  ·  runtime</a:t>
            </a:r>
          </a:p>
          <a:p>
            <a:pPr>
              <a:spcAft>
                <a:spcPts val="0"/>
              </a:spcAft>
            </a:pPr>
            <a:r>
              <a:rPr sz="1300" i="1">
                <a:solidFill>
                  <a:srgbClr val="FFFFFF"/>
                </a:solidFill>
                <a:latin typeface="Arial"/>
              </a:rPr>
              <a:t>"what’s actually exposed right now"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6383" y="2468880"/>
            <a:ext cx="493776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232323"/>
                </a:solidFill>
                <a:latin typeface="Arial"/>
              </a:rPr>
              <a:t>•  Connects to live MCP servers, enumerates the assets they really expose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32323"/>
                </a:solidFill>
                <a:latin typeface="Arial"/>
              </a:rPr>
              <a:t>•  Local LLM ranks each asset by sensitivity (FIPS / MITRE / OWASP)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232323"/>
                </a:solidFill>
                <a:latin typeface="Arial"/>
              </a:rPr>
              <a:t>•  Reflects the current, concrete 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532120"/>
            <a:ext cx="106710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i="1">
                <a:solidFill>
                  <a:srgbClr val="4E444E"/>
                </a:solidFill>
                <a:latin typeface="Arial"/>
              </a:rPr>
              <a:t>Gateway uses static baselines; the dynamic score adjusts them per actual request.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32323"/>
                </a:solidFill>
                <a:latin typeface="Arial"/>
              </a:rPr>
              <a:t>Static scoring —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0031" y="1371600"/>
            <a:ext cx="1627632" cy="731520"/>
          </a:xfrm>
          <a:prstGeom prst="roundRect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0
domain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46807" y="1655063"/>
            <a:ext cx="182880" cy="16459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38831" y="1371600"/>
            <a:ext cx="1627632" cy="731520"/>
          </a:xfrm>
          <a:prstGeom prst="roundRect">
            <a:avLst/>
          </a:prstGeom>
          <a:solidFill>
            <a:srgbClr val="8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1
tool impact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75607" y="1655063"/>
            <a:ext cx="182880" cy="16459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67631" y="1371600"/>
            <a:ext cx="1627632" cy="731520"/>
          </a:xfrm>
          <a:prstGeom prst="round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2
asset sens.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04407" y="1655063"/>
            <a:ext cx="182880" cy="16459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6431" y="1371600"/>
            <a:ext cx="1627632" cy="7315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3
blast radius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33207" y="1655063"/>
            <a:ext cx="182880" cy="16459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25231" y="1371600"/>
            <a:ext cx="1627632" cy="731520"/>
          </a:xfrm>
          <a:prstGeom prst="roundRect">
            <a:avLst/>
          </a:prstGeom>
          <a:solidFill>
            <a:srgbClr val="4E4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4
baselines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62007" y="1655063"/>
            <a:ext cx="182880" cy="16459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54031" y="1371600"/>
            <a:ext cx="1627632" cy="731520"/>
          </a:xfrm>
          <a:prstGeom prst="roundRect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5
judge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2514600"/>
            <a:ext cx="10671048" cy="82296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CE07C"/>
                </a:solidFill>
                <a:latin typeface="Courier New"/>
              </a:rPr>
              <a:t>score  =  asset_sensitivity (1–5)  ×  blast_radius (0–4)  ×  likelihood (1.0)  ×  tool_impact (1–3)   →  bands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3611880"/>
            <a:ext cx="3419856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1184F"/>
                </a:solidFill>
                <a:latin typeface="Arial"/>
              </a:rPr>
              <a:t>LLM per stage</a:t>
            </a:r>
          </a:p>
          <a:p>
            <a:r>
              <a:rPr sz="1300">
                <a:solidFill>
                  <a:srgbClr val="232323"/>
                </a:solidFill>
                <a:latin typeface="Arial"/>
              </a:rPr>
              <a:t>Qwen2.5:32b via Ollama, each stage anchored to the inferred domain profile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3611880"/>
            <a:ext cx="3419856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384048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E1251B"/>
                </a:solidFill>
                <a:latin typeface="Arial"/>
              </a:rPr>
              <a:t>Stage 5 = real judge</a:t>
            </a:r>
          </a:p>
          <a:p>
            <a:r>
              <a:rPr sz="1300">
                <a:solidFill>
                  <a:srgbClr val="232323"/>
                </a:solidFill>
                <a:latin typeface="Arial"/>
              </a:rPr>
              <a:t>re-derives every value independently; overrides the proposer on disagreement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611880"/>
            <a:ext cx="3419856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384048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32323"/>
                </a:solidFill>
                <a:latin typeface="Arial"/>
              </a:rPr>
              <a:t>Reproducible / offline-safe</a:t>
            </a:r>
          </a:p>
          <a:p>
            <a:r>
              <a:rPr sz="1300">
                <a:solidFill>
                  <a:srgbClr val="232323"/>
                </a:solidFill>
                <a:latin typeface="Arial"/>
              </a:rPr>
              <a:t>temp 0 + fixed seed → byte-identical runs; offline fallback flagged model_reviewed=false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32323"/>
                </a:solidFill>
                <a:latin typeface="Arial"/>
              </a:rPr>
              <a:t>Static scoring — band policy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325880"/>
            <a:ext cx="56692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232323"/>
                </a:solidFill>
                <a:latin typeface="Arial"/>
              </a:rPr>
              <a:t>Bands assigned like a reviewer would — keep 'critical' rare and actionable: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E1251B"/>
                </a:solidFill>
                <a:latin typeface="Arial"/>
              </a:rPr>
              <a:t>•  </a:t>
            </a:r>
            <a:r>
              <a:rPr sz="1350">
                <a:solidFill>
                  <a:srgbClr val="232323"/>
                </a:solidFill>
                <a:latin typeface="Arial"/>
              </a:rPr>
              <a:t>critical — irreversible destruction of a crown-jewel (PII / secrets / financial) at dept-wide reach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871C23"/>
                </a:solidFill>
                <a:latin typeface="Arial"/>
              </a:rPr>
              <a:t>•  </a:t>
            </a:r>
            <a:r>
              <a:rPr sz="1350">
                <a:solidFill>
                  <a:srgbClr val="232323"/>
                </a:solidFill>
                <a:latin typeface="Arial"/>
              </a:rPr>
              <a:t>high — irreversible op on restricted data, or a broad read of sensitive data (exfiltration)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1184F"/>
                </a:solidFill>
                <a:latin typeface="Arial"/>
              </a:rPr>
              <a:t>•  </a:t>
            </a:r>
            <a:r>
              <a:rPr sz="1350">
                <a:solidFill>
                  <a:srgbClr val="232323"/>
                </a:solidFill>
                <a:latin typeface="Arial"/>
              </a:rPr>
              <a:t>confidentiality floor — a read of a secret / PII record is never just 'low'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371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E444E"/>
                </a:solidFill>
                <a:latin typeface="Arial"/>
              </a:rPr>
              <a:t>Band distribution (take2, 789 cells)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783080"/>
            <a:ext cx="3100152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58152" y="1783080"/>
            <a:ext cx="672182" cy="566928"/>
          </a:xfrm>
          <a:prstGeom prst="rect">
            <a:avLst/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30334" y="1783080"/>
            <a:ext cx="724334" cy="566928"/>
          </a:xfrm>
          <a:prstGeom prst="rect">
            <a:avLst/>
          </a:prstGeom>
          <a:solidFill>
            <a:srgbClr val="8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54669" y="1783080"/>
            <a:ext cx="75330" cy="566928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0" y="251460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9168" y="24963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32323"/>
                </a:solidFill>
                <a:latin typeface="Arial"/>
              </a:rPr>
              <a:t>low 68%</a:t>
            </a:r>
          </a:p>
        </p:txBody>
      </p:sp>
      <p:sp>
        <p:nvSpPr>
          <p:cNvPr id="11" name="Oval 10"/>
          <p:cNvSpPr/>
          <p:nvPr/>
        </p:nvSpPr>
        <p:spPr>
          <a:xfrm>
            <a:off x="8001000" y="2514600"/>
            <a:ext cx="146304" cy="146304"/>
          </a:xfrm>
          <a:prstGeom prst="ellipse">
            <a:avLst/>
          </a:prstGeom>
          <a:solidFill>
            <a:srgbClr val="B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24963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32323"/>
                </a:solidFill>
                <a:latin typeface="Arial"/>
              </a:rPr>
              <a:t>medium 15%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0" y="2514600"/>
            <a:ext cx="146304" cy="146304"/>
          </a:xfrm>
          <a:prstGeom prst="ellipse">
            <a:avLst/>
          </a:prstGeom>
          <a:solidFill>
            <a:srgbClr val="8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45168" y="24963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32323"/>
                </a:solidFill>
                <a:latin typeface="Arial"/>
              </a:rPr>
              <a:t>high 16%</a:t>
            </a:r>
          </a:p>
        </p:txBody>
      </p:sp>
      <p:sp>
        <p:nvSpPr>
          <p:cNvPr id="15" name="Oval 14"/>
          <p:cNvSpPr/>
          <p:nvPr/>
        </p:nvSpPr>
        <p:spPr>
          <a:xfrm>
            <a:off x="10287000" y="2514600"/>
            <a:ext cx="146304" cy="146304"/>
          </a:xfrm>
          <a:prstGeom prst="ellipse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88168" y="24963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232323"/>
                </a:solidFill>
                <a:latin typeface="Arial"/>
              </a:rPr>
              <a:t>critical 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200400"/>
            <a:ext cx="1143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E1251B"/>
                </a:solidFill>
                <a:latin typeface="Arial"/>
              </a:rPr>
              <a:t>7</a:t>
            </a:r>
          </a:p>
          <a:p>
            <a:r>
              <a:rPr sz="1050">
                <a:solidFill>
                  <a:srgbClr val="4E444E"/>
                </a:solidFill>
                <a:latin typeface="Arial"/>
              </a:rPr>
              <a:t>demo servers
(fs · sqlite · slack)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200400"/>
            <a:ext cx="1143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E1251B"/>
                </a:solidFill>
                <a:latin typeface="Arial"/>
              </a:rPr>
              <a:t>789</a:t>
            </a:r>
          </a:p>
          <a:p>
            <a:r>
              <a:rPr sz="1050">
                <a:solidFill>
                  <a:srgbClr val="4E444E"/>
                </a:solidFill>
                <a:latin typeface="Arial"/>
              </a:rPr>
              <a:t>(tool × asset) cells
scored take2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3200400"/>
            <a:ext cx="1143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E1251B"/>
                </a:solidFill>
                <a:latin typeface="Arial"/>
              </a:rPr>
              <a:t>13</a:t>
            </a:r>
          </a:p>
          <a:p>
            <a:r>
              <a:rPr sz="1050">
                <a:solidFill>
                  <a:srgbClr val="4E444E"/>
                </a:solidFill>
                <a:latin typeface="Arial"/>
              </a:rPr>
              <a:t>critical cells
fleet-wide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9296" y="3200400"/>
            <a:ext cx="1143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000" b="1">
                <a:solidFill>
                  <a:srgbClr val="E1251B"/>
                </a:solidFill>
                <a:latin typeface="Arial"/>
              </a:rPr>
              <a:t>219</a:t>
            </a:r>
          </a:p>
          <a:p>
            <a:r>
              <a:rPr sz="1050">
                <a:solidFill>
                  <a:srgbClr val="4E444E"/>
                </a:solidFill>
                <a:latin typeface="Arial"/>
              </a:rPr>
              <a:t>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" y="4800600"/>
            <a:ext cx="10671048" cy="14630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83480"/>
            <a:ext cx="102412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232323"/>
                </a:solidFill>
                <a:latin typeface="Arial"/>
              </a:rPr>
              <a:t>The 13 critical cells are exactly what a human would hard-gate: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71C23"/>
                </a:solidFill>
                <a:latin typeface="Courier New"/>
              </a:rPr>
              <a:t>api_keys · write_query   ·   private_key.pem · write/edit   ·   patient medical_history &amp; invoices · write/edit/move</a:t>
            </a:r>
          </a:p>
          <a:p>
            <a:r>
              <a:rPr sz="1250" i="1">
                <a:solidFill>
                  <a:srgbClr val="4E444E"/>
                </a:solidFill>
                <a:latin typeface="Arial"/>
              </a:rPr>
              <a:t>take1 groups files by extension (fast, but path-blind → PHI under-scored);  take2 scores each file by full path → medical / legal records surface correctly.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32323"/>
                </a:solidFill>
                <a:latin typeface="Arial"/>
              </a:rPr>
              <a:t>Live scanning —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52347" y="1371600"/>
            <a:ext cx="2194560" cy="777240"/>
          </a:xfrm>
          <a:prstGeom prst="roundRect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config_reader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20059" y="1650492"/>
            <a:ext cx="356616" cy="219456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49827" y="1371600"/>
            <a:ext cx="2194560" cy="777240"/>
          </a:xfrm>
          <a:prstGeom prst="roundRect">
            <a:avLst/>
          </a:prstGeom>
          <a:solidFill>
            <a:srgbClr val="87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enumerate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17539" y="1650492"/>
            <a:ext cx="356616" cy="219456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47307" y="1371600"/>
            <a:ext cx="2194560" cy="777240"/>
          </a:xfrm>
          <a:prstGeom prst="round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rank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15019" y="1650492"/>
            <a:ext cx="356616" cy="219456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44787" y="1371600"/>
            <a:ext cx="2194560" cy="77724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468880"/>
            <a:ext cx="5394960" cy="3657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468880"/>
            <a:ext cx="5394960" cy="566928"/>
          </a:xfrm>
          <a:prstGeom prst="roundRect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Discovery — deterministic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46120"/>
            <a:ext cx="493776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Live introspection via scanner.introspect (servers opt in)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Filesystem: directory_tree, list_directory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SQLite: list_tables + describe_table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Cached / README sources as fallback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Safe by design: only LIST / SEARCH / 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7783" y="2468880"/>
            <a:ext cx="5394960" cy="36576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7783" y="2468880"/>
            <a:ext cx="5394960" cy="566928"/>
          </a:xfrm>
          <a:prstGeom prst="round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Understanding — agentic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6383" y="3246120"/>
            <a:ext cx="493776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rank_with_llm.py (Qwen2.5) scores each asset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Anchored to FIPS 199 / MITRE ATT&amp;CK / OWASP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Output: reports/asset_ranking_rubric.md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Per-server GPU fan-out via Slurm launchers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232323"/>
                </a:solidFill>
                <a:latin typeface="Arial"/>
              </a:rPr>
              <a:t>•  Works on unknown server kinds — zero per-kind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32323"/>
                </a:solidFill>
                <a:latin typeface="Arial"/>
              </a:rPr>
              <a:t>Live scanning —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8952" y="1234440"/>
            <a:ext cx="10671048" cy="86868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250">
                <a:solidFill>
                  <a:srgbClr val="7CE07C"/>
                </a:solidFill>
                <a:latin typeface="Courier New"/>
              </a:rPr>
              <a:t>$ python scripts/discover_assets.py        # → reports/discovered_assets.json</a:t>
            </a:r>
          </a:p>
          <a:p>
            <a:r>
              <a:rPr sz="1250">
                <a:solidFill>
                  <a:srgbClr val="7CE07C"/>
                </a:solidFill>
                <a:latin typeface="Courier New"/>
              </a:rPr>
              <a:t>$ python -m mcp_security.local_llm.rank_with_llm   # → asset_ranking_rubric.md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286000"/>
            <a:ext cx="10671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E444E"/>
                </a:solidFill>
                <a:latin typeface="Arial"/>
              </a:rPr>
              <a:t>Rubric-scored asset ranking — sqlite-mcp  (FIPS 199 · MITRE ATT&amp;CK · OWASP)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" y="2651760"/>
          <a:ext cx="10671048" cy="31089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1371600"/>
                <a:gridCol w="822960"/>
                <a:gridCol w="6099048"/>
              </a:tblGrid>
              <a:tr h="5181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Asset class</a:t>
                      </a:r>
                    </a:p>
                  </a:txBody>
                  <a:tcPr anchor="ctr" marL="91440" marR="73152" marT="36576" marB="36576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Risk Level</a:t>
                      </a:r>
                    </a:p>
                  </a:txBody>
                  <a:tcPr anchor="ctr" marL="91440" marR="73152" marT="36576" marB="36576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Sens.</a:t>
                      </a:r>
                    </a:p>
                  </a:txBody>
                  <a:tcPr anchor="ctr" marL="91440" marR="73152" marT="36576" marB="36576"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Reasoning</a:t>
                      </a:r>
                    </a:p>
                  </a:txBody>
                  <a:tcPr anchor="ctr" marL="91440" marR="73152" marT="36576" marB="36576">
                    <a:solidFill>
                      <a:srgbClr val="23232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2323"/>
                          </a:solidFill>
                          <a:latin typeface="Arial"/>
                        </a:rPr>
                        <a:t>api_keys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1251B"/>
                          </a:solidFill>
                          <a:latin typeface="Arial"/>
                        </a:rPr>
                        <a:t>Critical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T1552 Unsecured Credentials; FIPS H/H/H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2323"/>
                          </a:solidFill>
                          <a:latin typeface="Arial"/>
                        </a:rPr>
                        <a:t>employees</a:t>
                      </a:r>
                    </a:p>
                  </a:txBody>
                  <a:tcPr anchor="ctr" marL="91440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871C23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anchor="ctr" marL="91440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T1213 + OWASP PII non-compliance; FIPS H/M/L</a:t>
                      </a:r>
                    </a:p>
                  </a:txBody>
                  <a:tcPr anchor="ctr" marL="91440" marR="73152" marT="36576" marB="36576"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2323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87A00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T1005 Data from Local System; contains email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2323"/>
                          </a:solidFill>
                          <a:latin typeface="Arial"/>
                        </a:rPr>
                        <a:t>orders</a:t>
                      </a:r>
                    </a:p>
                  </a:txBody>
                  <a:tcPr anchor="ctr" marL="91440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7D32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anchor="ctr" marL="91440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FIPS M/M/L; generic transaction data</a:t>
                      </a:r>
                    </a:p>
                  </a:txBody>
                  <a:tcPr anchor="ctr" marL="91440" marR="73152" marT="36576" marB="36576"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2323"/>
                          </a:solidFill>
                          <a:latin typeface="Arial"/>
                        </a:rPr>
                        <a:t>insights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E444E"/>
                          </a:solidFill>
                          <a:latin typeface="Arial"/>
                        </a:rPr>
                        <a:t>Minimal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2323"/>
                          </a:solidFill>
                          <a:latin typeface="Arial"/>
                        </a:rPr>
                        <a:t>FIPS L/L/L; business insights, no PII</a:t>
                      </a:r>
                    </a:p>
                  </a:txBody>
                  <a:tcPr anchor="ctr" marL="91440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46033</TotalTime>
  <Words>2143</Words>
  <Application>Microsoft Office PowerPoint</Application>
  <PresentationFormat>Widescreen</PresentationFormat>
  <Paragraphs>352</Paragraphs>
  <Slides>23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黑体</vt:lpstr>
      <vt:lpstr>Aptos</vt:lpstr>
      <vt:lpstr>Arial</vt:lpstr>
      <vt:lpstr>Arial Black</vt:lpstr>
      <vt:lpstr>Calibri</vt:lpstr>
      <vt:lpstr>Cascadia Code</vt:lpstr>
      <vt:lpstr>Consolas</vt:lpstr>
      <vt:lpstr>Swagger</vt:lpstr>
      <vt:lpstr>Lenovo Master</vt:lpstr>
      <vt:lpstr>Weekly status meeting on  MCP Security Score project</vt:lpstr>
      <vt:lpstr>PowerPoint Presentation</vt:lpstr>
      <vt:lpstr>Project Scope</vt:lpstr>
      <vt:lpstr>How MCP changes the Threat Model</vt:lpstr>
      <vt:lpstr>Illustrative MCP Use Case: Same MCP Server, Different Intent</vt:lpstr>
      <vt:lpstr>PowerPoint Presentation</vt:lpstr>
      <vt:lpstr> MCP Risks Taxonomies –  Main highlights from Literature review report </vt:lpstr>
      <vt:lpstr>MCIP: Protecting MCP Safety via Model Contextual Integrity Protocol</vt:lpstr>
      <vt:lpstr>MCIP: Protecting MCP Safety via Model Contextual Integrity Protocol</vt:lpstr>
      <vt:lpstr>MCP-DPT: A Defense-Placement Taxonomy and Coverage Analysis for Model Context Protocol Security </vt:lpstr>
      <vt:lpstr>MCP security taxonomies – Summary </vt:lpstr>
      <vt:lpstr>PowerPoint Presentation</vt:lpstr>
      <vt:lpstr> Research scope – Progress </vt:lpstr>
      <vt:lpstr>Different MCPs, same underlying risks </vt:lpstr>
      <vt:lpstr>MCP Tool Operation Classes &amp; Potential Risks </vt:lpstr>
      <vt:lpstr>Who we want to do it?</vt:lpstr>
      <vt:lpstr>Research Roadmap</vt:lpstr>
      <vt:lpstr>PowerPoint Presentation</vt:lpstr>
      <vt:lpstr>PowerPoint Presentation</vt:lpstr>
      <vt:lpstr>Ranking Tools, Files and Asset</vt:lpstr>
      <vt:lpstr>Misuse assessment with respect to tools</vt:lpstr>
      <vt:lpstr>Vision: From manual matrix to automated risk classifier for any MCP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LCIC Awareness Meeting</dc:title>
  <dc:creator>Song Luo6</dc:creator>
  <cp:lastModifiedBy>תומר עובדיה</cp:lastModifiedBy>
  <cp:revision>289</cp:revision>
  <dcterms:created xsi:type="dcterms:W3CDTF">2025-02-14T14:31:28Z</dcterms:created>
  <dcterms:modified xsi:type="dcterms:W3CDTF">2026-06-08T09:19:07Z</dcterms:modified>
</cp:coreProperties>
</file>